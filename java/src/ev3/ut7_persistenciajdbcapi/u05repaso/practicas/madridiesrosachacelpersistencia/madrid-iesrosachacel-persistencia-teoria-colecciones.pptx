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3" r:id="rId14"/>
    <p:sldId id="274" r:id="rId15"/>
    <p:sldId id="275" r:id="rId16"/>
    <p:sldId id="276" r:id="rId17"/>
    <p:sldId id="277" r:id="rId18"/>
    <p:sldId id="278" r:id="rId19"/>
    <p:sldId id="281" r:id="rId20"/>
    <p:sldId id="279" r:id="rId21"/>
    <p:sldId id="282" r:id="rId22"/>
    <p:sldId id="284" r:id="rId23"/>
    <p:sldId id="285" r:id="rId24"/>
    <p:sldId id="283" r:id="rId25"/>
    <p:sldId id="286" r:id="rId26"/>
    <p:sldId id="270" r:id="rId27"/>
    <p:sldId id="271" r:id="rId28"/>
    <p:sldId id="292" r:id="rId29"/>
    <p:sldId id="272" r:id="rId30"/>
    <p:sldId id="293" r:id="rId31"/>
    <p:sldId id="294" r:id="rId32"/>
    <p:sldId id="287" r:id="rId33"/>
    <p:sldId id="291" r:id="rId34"/>
    <p:sldId id="288" r:id="rId35"/>
    <p:sldId id="289" r:id="rId36"/>
    <p:sldId id="290" r:id="rId37"/>
    <p:sldId id="28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A851865-6A2E-4E15-965B-7BD9BEB2728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8"/>
            <p14:sldId id="269"/>
            <p14:sldId id="273"/>
            <p14:sldId id="274"/>
            <p14:sldId id="275"/>
            <p14:sldId id="276"/>
            <p14:sldId id="277"/>
            <p14:sldId id="278"/>
            <p14:sldId id="281"/>
            <p14:sldId id="279"/>
            <p14:sldId id="282"/>
            <p14:sldId id="284"/>
            <p14:sldId id="285"/>
            <p14:sldId id="283"/>
            <p14:sldId id="286"/>
            <p14:sldId id="270"/>
            <p14:sldId id="271"/>
            <p14:sldId id="292"/>
            <p14:sldId id="272"/>
            <p14:sldId id="293"/>
            <p14:sldId id="294"/>
            <p14:sldId id="287"/>
            <p14:sldId id="291"/>
            <p14:sldId id="288"/>
            <p14:sldId id="289"/>
            <p14:sldId id="290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C63E5-E612-4798-83B5-FEE8583B8D85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7B384-FB42-438C-97CA-E8E77262874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0923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3177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52753"/>
            <a:ext cx="9905998" cy="62718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762000"/>
            <a:ext cx="9905999" cy="5678122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2105" y="6440122"/>
            <a:ext cx="2743200" cy="365125"/>
          </a:xfrm>
        </p:spPr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83149" y="6440122"/>
            <a:ext cx="6239309" cy="365125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4598" y="6482007"/>
            <a:ext cx="771089" cy="365125"/>
          </a:xfrm>
        </p:spPr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908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754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446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1135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219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491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1889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1703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28263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9557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4356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3496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7423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50999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792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70264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0D341-7D63-4718-93BC-7EE0D41121A0}" type="datetimeFigureOut">
              <a:rPr lang="es-ES" smtClean="0"/>
              <a:t>27/02/2023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4644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java-arraylis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java-linkedlis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java-priorityqueue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quitecturajava.com/entiendo-los-metodos-de-java-equals-y-hashcode/" TargetMode="External"/><Relationship Id="rId2" Type="http://schemas.openxmlformats.org/officeDocument/2006/relationships/hyperlink" Target="https://www.arquitecturajava.com/java-override-hashcode-y-curiosidades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javatpoint.com/java-hashset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java-treeset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java-linkedhashset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java-map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java-hashmap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java-treemap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java-linkedhashmap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oracle.com/en/java/javase/11/docs/api/java.base/java/util/PriorityQueue.html" TargetMode="External"/><Relationship Id="rId3" Type="http://schemas.openxmlformats.org/officeDocument/2006/relationships/hyperlink" Target="https://docs.oracle.com/javase/8/docs/api/java/util/List.html" TargetMode="External"/><Relationship Id="rId7" Type="http://schemas.openxmlformats.org/officeDocument/2006/relationships/hyperlink" Target="https://docs.oracle.com/javase/7/docs/api/java/util/LinkedList.html" TargetMode="External"/><Relationship Id="rId2" Type="http://schemas.openxmlformats.org/officeDocument/2006/relationships/hyperlink" Target="https://docs.oracle.com/javase/8/docs/api/java/util/Collection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racle.com/javase/8/docs/api/java/util/ArrayList.html" TargetMode="External"/><Relationship Id="rId5" Type="http://schemas.openxmlformats.org/officeDocument/2006/relationships/hyperlink" Target="https://docs.oracle.com/javase/7/docs/api/java/util/Queue.html" TargetMode="External"/><Relationship Id="rId10" Type="http://schemas.openxmlformats.org/officeDocument/2006/relationships/hyperlink" Target="https://docs.oracle.com/en/java/javase/11/docs/api/java.base/java/util/TreeSet.html" TargetMode="External"/><Relationship Id="rId4" Type="http://schemas.openxmlformats.org/officeDocument/2006/relationships/hyperlink" Target="https://docs.oracle.com/javase/9/docs/api/java/util/Set.html" TargetMode="External"/><Relationship Id="rId9" Type="http://schemas.openxmlformats.org/officeDocument/2006/relationships/hyperlink" Target="https://docs.oracle.com/en/java/javase/11/docs/api/java.base/java/util/HashSe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F8FD9-B607-0741-7085-1F122FA01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9867341" cy="2387600"/>
          </a:xfrm>
        </p:spPr>
        <p:txBody>
          <a:bodyPr/>
          <a:lstStyle/>
          <a:p>
            <a:r>
              <a:rPr lang="es-ES" dirty="0"/>
              <a:t>Estructuras dinámicas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A8AE28-4B06-3AF7-6438-0933E99DBB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IES Rosa </a:t>
            </a:r>
            <a:r>
              <a:rPr lang="es-ES" dirty="0" err="1"/>
              <a:t>chacel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4276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FA1AF-F3C4-351A-2B19-C3478571E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Definición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FDA0B7-890F-E773-7071-2A356EA69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Una estructura dinámica es una colección de datos que puede variar su tamaño en tiempo de ejecución.</a:t>
            </a:r>
          </a:p>
          <a:p>
            <a:r>
              <a:rPr lang="es-ES" sz="3600" dirty="0"/>
              <a:t>Para entender la idea, un array es estático: una vez definido su tamaño no lo puedo modificar en tiempo de ejecución. Una estructura dinámica permite modificar dinámicamente el número de objetos que puede almacenar.</a:t>
            </a:r>
          </a:p>
        </p:txBody>
      </p:sp>
    </p:spTree>
    <p:extLst>
      <p:ext uri="{BB962C8B-B14F-4D97-AF65-F5344CB8AC3E}">
        <p14:creationId xmlns:p14="http://schemas.microsoft.com/office/powerpoint/2010/main" val="2827682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6E42A-60B7-94A9-B470-6C048C58D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Estructuras dinámicas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0F9EF5-5B39-5649-D320-39E4A2D53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6000" dirty="0"/>
              <a:t>Listas</a:t>
            </a:r>
          </a:p>
          <a:p>
            <a:r>
              <a:rPr lang="es-ES" sz="6000" dirty="0"/>
              <a:t>Colas</a:t>
            </a:r>
          </a:p>
          <a:p>
            <a:r>
              <a:rPr lang="es-ES" sz="6000" dirty="0"/>
              <a:t>Pilas</a:t>
            </a:r>
          </a:p>
          <a:p>
            <a:r>
              <a:rPr lang="es-ES" sz="6000" dirty="0"/>
              <a:t>Arboles</a:t>
            </a:r>
          </a:p>
        </p:txBody>
      </p:sp>
    </p:spTree>
    <p:extLst>
      <p:ext uri="{BB962C8B-B14F-4D97-AF65-F5344CB8AC3E}">
        <p14:creationId xmlns:p14="http://schemas.microsoft.com/office/powerpoint/2010/main" val="1689904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A52C8-9B81-B24D-6CA0-2FFC06654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Listas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C273AB-C49E-6597-A2E5-2026067B3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394569"/>
            <a:ext cx="9905999" cy="6331907"/>
          </a:xfrm>
        </p:spPr>
        <p:txBody>
          <a:bodyPr>
            <a:normAutofit/>
          </a:bodyPr>
          <a:lstStyle/>
          <a:p>
            <a:r>
              <a:rPr lang="es-ES" sz="3200" dirty="0"/>
              <a:t>Una Lista es una estructura dinámica que permite almacenar un objeto y tener un modo para poder acceder al siguiente elemento de la lista (este modo depende de la implementación concreta de la lista).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En la listas, el orden de los objetos en la estructura es importante</a:t>
            </a:r>
          </a:p>
          <a:p>
            <a:pPr lvl="1"/>
            <a:r>
              <a:rPr lang="es-ES" dirty="0"/>
              <a:t>Se pueden insertar nuevos objetos donde quiera</a:t>
            </a:r>
          </a:p>
          <a:p>
            <a:pPr lvl="1"/>
            <a:r>
              <a:rPr lang="es-ES" dirty="0"/>
              <a:t>Al recorrer la lista, lo haré desde el inicio hacia el final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B2406CE-8030-4C5C-A341-15A00B450528}"/>
              </a:ext>
            </a:extLst>
          </p:cNvPr>
          <p:cNvSpPr/>
          <p:nvPr/>
        </p:nvSpPr>
        <p:spPr>
          <a:xfrm>
            <a:off x="1546964" y="4252586"/>
            <a:ext cx="1390389" cy="72651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obj1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82075E3-5C05-1D87-6694-9AD81E16D5CD}"/>
              </a:ext>
            </a:extLst>
          </p:cNvPr>
          <p:cNvSpPr/>
          <p:nvPr/>
        </p:nvSpPr>
        <p:spPr>
          <a:xfrm>
            <a:off x="3603320" y="4252586"/>
            <a:ext cx="1390389" cy="72651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obj2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00FEF18-3327-FEE4-F706-7943A657D4A6}"/>
              </a:ext>
            </a:extLst>
          </p:cNvPr>
          <p:cNvSpPr/>
          <p:nvPr/>
        </p:nvSpPr>
        <p:spPr>
          <a:xfrm>
            <a:off x="5807904" y="4252586"/>
            <a:ext cx="1390389" cy="72651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obj3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869FA24-26A9-0D33-4987-374FFAF8BEE6}"/>
              </a:ext>
            </a:extLst>
          </p:cNvPr>
          <p:cNvSpPr/>
          <p:nvPr/>
        </p:nvSpPr>
        <p:spPr>
          <a:xfrm>
            <a:off x="8012488" y="4427950"/>
            <a:ext cx="799578" cy="38204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null</a:t>
            </a:r>
            <a:endParaRPr lang="es-ES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06AF25B-BF18-E918-658B-556FAFEABC8F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937353" y="4615841"/>
            <a:ext cx="6659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6049DCF-C286-5A6E-3033-F2DF6B1BC66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993709" y="4611666"/>
            <a:ext cx="814195" cy="41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9CF59536-AE10-9C7C-C9AF-8FE6FCD73893}"/>
              </a:ext>
            </a:extLst>
          </p:cNvPr>
          <p:cNvCxnSpPr>
            <a:cxnSpLocks/>
          </p:cNvCxnSpPr>
          <p:nvPr/>
        </p:nvCxnSpPr>
        <p:spPr>
          <a:xfrm>
            <a:off x="7198293" y="4601228"/>
            <a:ext cx="81419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40BD4BC-9E09-B758-442F-A68052D9D2FA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242158" y="3764071"/>
            <a:ext cx="1" cy="4885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2FB4765-AF9D-65F7-4B9B-6B62E4A83F5F}"/>
              </a:ext>
            </a:extLst>
          </p:cNvPr>
          <p:cNvSpPr/>
          <p:nvPr/>
        </p:nvSpPr>
        <p:spPr>
          <a:xfrm>
            <a:off x="1797485" y="3519814"/>
            <a:ext cx="895611" cy="269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inicio</a:t>
            </a:r>
          </a:p>
        </p:txBody>
      </p:sp>
    </p:spTree>
    <p:extLst>
      <p:ext uri="{BB962C8B-B14F-4D97-AF65-F5344CB8AC3E}">
        <p14:creationId xmlns:p14="http://schemas.microsoft.com/office/powerpoint/2010/main" val="1420687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460F6-B9C3-8A49-337E-0C377DEC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COLAS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5A5F8F-870A-0F57-4127-7A409DD61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 parecido a una lista, pero al insertar un nuevo objeto siempre se pondrá al final de la estructura y al extraer un objeto siempre extraeré el primer objeto de la cola.</a:t>
            </a:r>
          </a:p>
          <a:p>
            <a:r>
              <a:rPr lang="es-ES" dirty="0"/>
              <a:t>FIFO: </a:t>
            </a:r>
            <a:r>
              <a:rPr lang="es-ES" dirty="0" err="1"/>
              <a:t>First</a:t>
            </a:r>
            <a:r>
              <a:rPr lang="es-ES" dirty="0"/>
              <a:t> In </a:t>
            </a:r>
            <a:r>
              <a:rPr lang="es-ES" dirty="0" err="1"/>
              <a:t>First</a:t>
            </a:r>
            <a:r>
              <a:rPr lang="es-ES" dirty="0"/>
              <a:t> </a:t>
            </a:r>
            <a:r>
              <a:rPr lang="es-ES" dirty="0" err="1"/>
              <a:t>Out</a:t>
            </a:r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025354C-49C1-1D80-A8D7-94677844A2FE}"/>
              </a:ext>
            </a:extLst>
          </p:cNvPr>
          <p:cNvSpPr/>
          <p:nvPr/>
        </p:nvSpPr>
        <p:spPr>
          <a:xfrm>
            <a:off x="1546964" y="4252586"/>
            <a:ext cx="1390389" cy="72651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obj1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877A9AD-FDA5-9D37-91C7-B1BFC22B7BB2}"/>
              </a:ext>
            </a:extLst>
          </p:cNvPr>
          <p:cNvSpPr/>
          <p:nvPr/>
        </p:nvSpPr>
        <p:spPr>
          <a:xfrm>
            <a:off x="3603320" y="4252586"/>
            <a:ext cx="1390389" cy="72651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obj2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BE83E64-BDBA-718A-167B-C71933B96553}"/>
              </a:ext>
            </a:extLst>
          </p:cNvPr>
          <p:cNvSpPr/>
          <p:nvPr/>
        </p:nvSpPr>
        <p:spPr>
          <a:xfrm>
            <a:off x="5807904" y="4252586"/>
            <a:ext cx="1390389" cy="72651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obj3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AA171EC-65EF-EEF3-9D60-9EB201C104C9}"/>
              </a:ext>
            </a:extLst>
          </p:cNvPr>
          <p:cNvSpPr/>
          <p:nvPr/>
        </p:nvSpPr>
        <p:spPr>
          <a:xfrm>
            <a:off x="8012488" y="4427950"/>
            <a:ext cx="799578" cy="38204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null</a:t>
            </a:r>
            <a:endParaRPr lang="es-ES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5364436-757A-C5F7-A710-F2DC59753F2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937353" y="4615841"/>
            <a:ext cx="6659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991950A8-6374-A542-61D1-AF23AF0CF64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993709" y="4611666"/>
            <a:ext cx="814195" cy="41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EBD3448-30D2-66D8-D0D3-0625C1AD5937}"/>
              </a:ext>
            </a:extLst>
          </p:cNvPr>
          <p:cNvCxnSpPr>
            <a:cxnSpLocks/>
          </p:cNvCxnSpPr>
          <p:nvPr/>
        </p:nvCxnSpPr>
        <p:spPr>
          <a:xfrm>
            <a:off x="7198293" y="4601228"/>
            <a:ext cx="81419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43E03028-2DCD-616A-4D2D-C41064C40BDB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2242158" y="3764071"/>
            <a:ext cx="1" cy="4885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B2250FA-C30B-83A9-192B-F529E2F19D37}"/>
              </a:ext>
            </a:extLst>
          </p:cNvPr>
          <p:cNvSpPr/>
          <p:nvPr/>
        </p:nvSpPr>
        <p:spPr>
          <a:xfrm>
            <a:off x="1797485" y="3519814"/>
            <a:ext cx="895611" cy="269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cabeza</a:t>
            </a:r>
          </a:p>
        </p:txBody>
      </p:sp>
    </p:spTree>
    <p:extLst>
      <p:ext uri="{BB962C8B-B14F-4D97-AF65-F5344CB8AC3E}">
        <p14:creationId xmlns:p14="http://schemas.microsoft.com/office/powerpoint/2010/main" val="1566802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EA3ED-38B5-362D-A979-4495A12FF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Pila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86E55E-E2BB-FE02-F800-02EEC9780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Una Pila es parecida a una lista, pero al insertar un nuevo objeto se pondrá al principio de la lista y al extraer un objeto se extraerá el primero de la lista</a:t>
            </a:r>
          </a:p>
          <a:p>
            <a:r>
              <a:rPr lang="es-ES" dirty="0"/>
              <a:t>LIFO: </a:t>
            </a:r>
            <a:r>
              <a:rPr lang="es-ES" dirty="0" err="1"/>
              <a:t>Last</a:t>
            </a:r>
            <a:r>
              <a:rPr lang="es-ES" dirty="0"/>
              <a:t> In </a:t>
            </a:r>
            <a:r>
              <a:rPr lang="es-ES" dirty="0" err="1"/>
              <a:t>First</a:t>
            </a:r>
            <a:r>
              <a:rPr lang="es-ES" dirty="0"/>
              <a:t> </a:t>
            </a:r>
            <a:r>
              <a:rPr lang="es-ES" dirty="0" err="1"/>
              <a:t>Out</a:t>
            </a:r>
            <a:endParaRPr lang="es-ES" dirty="0"/>
          </a:p>
          <a:p>
            <a:endParaRPr lang="es-E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A50081C-8C0C-ED8E-AE9A-81591DE5218B}"/>
              </a:ext>
            </a:extLst>
          </p:cNvPr>
          <p:cNvSpPr/>
          <p:nvPr/>
        </p:nvSpPr>
        <p:spPr>
          <a:xfrm>
            <a:off x="4000532" y="2868024"/>
            <a:ext cx="1390389" cy="72651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obj1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02404EC-5B3C-E709-DFA4-E88C0B9FB297}"/>
              </a:ext>
            </a:extLst>
          </p:cNvPr>
          <p:cNvSpPr/>
          <p:nvPr/>
        </p:nvSpPr>
        <p:spPr>
          <a:xfrm>
            <a:off x="4000532" y="4008328"/>
            <a:ext cx="1390389" cy="72651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obj2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3CA9C0F-40F2-48C1-8C0F-3BC33A3622B7}"/>
              </a:ext>
            </a:extLst>
          </p:cNvPr>
          <p:cNvSpPr/>
          <p:nvPr/>
        </p:nvSpPr>
        <p:spPr>
          <a:xfrm>
            <a:off x="4000532" y="5073911"/>
            <a:ext cx="1390389" cy="72651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obj3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BF782F1-D9B6-2446-522F-28D14C5750AF}"/>
              </a:ext>
            </a:extLst>
          </p:cNvPr>
          <p:cNvSpPr/>
          <p:nvPr/>
        </p:nvSpPr>
        <p:spPr>
          <a:xfrm>
            <a:off x="4295938" y="6230311"/>
            <a:ext cx="799578" cy="38204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null</a:t>
            </a:r>
            <a:endParaRPr lang="es-ES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7975942-6C61-092B-DB52-7768E74AC3A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4695727" y="3594534"/>
            <a:ext cx="0" cy="4137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2C56B07-1DBF-A283-5A7A-7637C4346A8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695727" y="5800421"/>
            <a:ext cx="0" cy="4298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90D00E2E-DB2F-CA09-DAAB-AF68BAA3939F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695727" y="4734838"/>
            <a:ext cx="0" cy="3390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51D47D1-3087-6131-5A05-B18B9B12D286}"/>
              </a:ext>
            </a:extLst>
          </p:cNvPr>
          <p:cNvCxnSpPr>
            <a:cxnSpLocks/>
            <a:stCxn id="12" idx="3"/>
            <a:endCxn id="4" idx="1"/>
          </p:cNvCxnSpPr>
          <p:nvPr/>
        </p:nvCxnSpPr>
        <p:spPr>
          <a:xfrm>
            <a:off x="2774515" y="3231279"/>
            <a:ext cx="122601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57BEF73-BCE3-0E96-8053-BB4F9F8B66AB}"/>
              </a:ext>
            </a:extLst>
          </p:cNvPr>
          <p:cNvSpPr/>
          <p:nvPr/>
        </p:nvSpPr>
        <p:spPr>
          <a:xfrm>
            <a:off x="1835063" y="2933786"/>
            <a:ext cx="939452" cy="5949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Cima de la pila</a:t>
            </a:r>
          </a:p>
        </p:txBody>
      </p:sp>
    </p:spTree>
    <p:extLst>
      <p:ext uri="{BB962C8B-B14F-4D97-AF65-F5344CB8AC3E}">
        <p14:creationId xmlns:p14="http://schemas.microsoft.com/office/powerpoint/2010/main" val="1962116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3AD58-95BF-2BA7-BAF0-1C0624BD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árbol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2BCF76-6AC5-07AC-3134-3DBE3BF41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611" y="862381"/>
            <a:ext cx="9905999" cy="5678122"/>
          </a:xfrm>
        </p:spPr>
        <p:txBody>
          <a:bodyPr/>
          <a:lstStyle/>
          <a:p>
            <a:r>
              <a:rPr lang="es-ES" dirty="0"/>
              <a:t>Es una estructura de datos no lineal, que puede ser muy eficiente para búsqueda de información</a:t>
            </a:r>
          </a:p>
          <a:p>
            <a:r>
              <a:rPr lang="es-ES" dirty="0"/>
              <a:t>Cada nodo tiene un “progenitor” y puede tener varios hijos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7939354-B90C-9B70-BA55-F91E078FB160}"/>
              </a:ext>
            </a:extLst>
          </p:cNvPr>
          <p:cNvSpPr/>
          <p:nvPr/>
        </p:nvSpPr>
        <p:spPr>
          <a:xfrm>
            <a:off x="5798506" y="3023764"/>
            <a:ext cx="594987" cy="5386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D781FE3-040D-55D4-3928-360E29A7B013}"/>
              </a:ext>
            </a:extLst>
          </p:cNvPr>
          <p:cNvSpPr/>
          <p:nvPr/>
        </p:nvSpPr>
        <p:spPr>
          <a:xfrm>
            <a:off x="2886206" y="4993710"/>
            <a:ext cx="594987" cy="5386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8CC03CE-273E-6512-6279-2603670D1D8D}"/>
              </a:ext>
            </a:extLst>
          </p:cNvPr>
          <p:cNvSpPr/>
          <p:nvPr/>
        </p:nvSpPr>
        <p:spPr>
          <a:xfrm>
            <a:off x="7623902" y="3950690"/>
            <a:ext cx="594987" cy="5386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07E9F67-5852-9520-16E2-1EFEBA5ADC15}"/>
              </a:ext>
            </a:extLst>
          </p:cNvPr>
          <p:cNvSpPr/>
          <p:nvPr/>
        </p:nvSpPr>
        <p:spPr>
          <a:xfrm>
            <a:off x="3950917" y="4027762"/>
            <a:ext cx="594987" cy="5386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506CA2F-624B-213C-80B1-28D789BC3708}"/>
              </a:ext>
            </a:extLst>
          </p:cNvPr>
          <p:cNvSpPr/>
          <p:nvPr/>
        </p:nvSpPr>
        <p:spPr>
          <a:xfrm>
            <a:off x="9042224" y="5091830"/>
            <a:ext cx="594987" cy="5386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47CC6FF-48AF-C580-E28A-82E03DFEDC7A}"/>
              </a:ext>
            </a:extLst>
          </p:cNvPr>
          <p:cNvSpPr/>
          <p:nvPr/>
        </p:nvSpPr>
        <p:spPr>
          <a:xfrm>
            <a:off x="4495276" y="5091831"/>
            <a:ext cx="594987" cy="5386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C2B5786-999B-6AB6-D0E0-6A1BF0C4DB46}"/>
              </a:ext>
            </a:extLst>
          </p:cNvPr>
          <p:cNvSpPr/>
          <p:nvPr/>
        </p:nvSpPr>
        <p:spPr>
          <a:xfrm>
            <a:off x="6151321" y="5043814"/>
            <a:ext cx="594987" cy="5386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86472F0-37F5-F7BE-2C90-BBEA6F69DBE6}"/>
              </a:ext>
            </a:extLst>
          </p:cNvPr>
          <p:cNvSpPr/>
          <p:nvPr/>
        </p:nvSpPr>
        <p:spPr>
          <a:xfrm>
            <a:off x="7683673" y="5091831"/>
            <a:ext cx="594987" cy="5386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B19C825-835F-9131-1EAC-F297EB6C12C6}"/>
              </a:ext>
            </a:extLst>
          </p:cNvPr>
          <p:cNvSpPr/>
          <p:nvPr/>
        </p:nvSpPr>
        <p:spPr>
          <a:xfrm>
            <a:off x="2886206" y="6064513"/>
            <a:ext cx="594987" cy="5386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3272401C-929F-42BE-1F80-8B070A30C0F3}"/>
              </a:ext>
            </a:extLst>
          </p:cNvPr>
          <p:cNvCxnSpPr>
            <a:stCxn id="7" idx="4"/>
            <a:endCxn id="9" idx="0"/>
          </p:cNvCxnSpPr>
          <p:nvPr/>
        </p:nvCxnSpPr>
        <p:spPr>
          <a:xfrm>
            <a:off x="4248411" y="4566381"/>
            <a:ext cx="544359" cy="525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B9A31BA-CAD7-D421-8FE6-D25D0F6EAE22}"/>
              </a:ext>
            </a:extLst>
          </p:cNvPr>
          <p:cNvCxnSpPr>
            <a:stCxn id="7" idx="4"/>
            <a:endCxn id="5" idx="0"/>
          </p:cNvCxnSpPr>
          <p:nvPr/>
        </p:nvCxnSpPr>
        <p:spPr>
          <a:xfrm flipH="1">
            <a:off x="3183700" y="4566381"/>
            <a:ext cx="1064711" cy="427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4BA7AEC1-E020-2827-ADB3-A4D7A830FC37}"/>
              </a:ext>
            </a:extLst>
          </p:cNvPr>
          <p:cNvCxnSpPr>
            <a:stCxn id="5" idx="4"/>
            <a:endCxn id="12" idx="0"/>
          </p:cNvCxnSpPr>
          <p:nvPr/>
        </p:nvCxnSpPr>
        <p:spPr>
          <a:xfrm>
            <a:off x="3183700" y="5532329"/>
            <a:ext cx="0" cy="532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3C9F2F64-DCB1-3936-8608-8169039A71E8}"/>
              </a:ext>
            </a:extLst>
          </p:cNvPr>
          <p:cNvCxnSpPr>
            <a:stCxn id="4" idx="4"/>
            <a:endCxn id="7" idx="0"/>
          </p:cNvCxnSpPr>
          <p:nvPr/>
        </p:nvCxnSpPr>
        <p:spPr>
          <a:xfrm flipH="1">
            <a:off x="4248411" y="3562383"/>
            <a:ext cx="1847589" cy="465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BC2D92F3-E625-1AC3-7BE0-55F789810F46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6096000" y="3562383"/>
            <a:ext cx="1825396" cy="388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94CB0A43-E3C2-4C19-FA77-68BC2B1442DA}"/>
              </a:ext>
            </a:extLst>
          </p:cNvPr>
          <p:cNvCxnSpPr>
            <a:stCxn id="6" idx="4"/>
            <a:endCxn id="10" idx="0"/>
          </p:cNvCxnSpPr>
          <p:nvPr/>
        </p:nvCxnSpPr>
        <p:spPr>
          <a:xfrm flipH="1">
            <a:off x="6448815" y="4489309"/>
            <a:ext cx="1472581" cy="554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340CA13D-712E-7A8C-08B9-08FA5DB1FD80}"/>
              </a:ext>
            </a:extLst>
          </p:cNvPr>
          <p:cNvCxnSpPr>
            <a:stCxn id="6" idx="4"/>
            <a:endCxn id="11" idx="0"/>
          </p:cNvCxnSpPr>
          <p:nvPr/>
        </p:nvCxnSpPr>
        <p:spPr>
          <a:xfrm>
            <a:off x="7921396" y="4489309"/>
            <a:ext cx="59771" cy="602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C026F82A-269D-827A-21FC-35B7D9619FF5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7921396" y="4489309"/>
            <a:ext cx="1418322" cy="602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584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D30B8-D179-F680-EC96-090187B55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árbol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92A9A6-7162-3B2C-E6A0-D323C7954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sz="3600" dirty="0"/>
              <a:t>Nodo hoja: es un nodo sin descendientes</a:t>
            </a:r>
          </a:p>
          <a:p>
            <a:r>
              <a:rPr lang="es-ES" sz="3600" dirty="0"/>
              <a:t>Nodo interior: un nodo que no es hoja</a:t>
            </a:r>
          </a:p>
          <a:p>
            <a:r>
              <a:rPr lang="es-ES" sz="3600" dirty="0"/>
              <a:t>Nodo raíz: un nodo que no tiene progenitor</a:t>
            </a:r>
          </a:p>
          <a:p>
            <a:r>
              <a:rPr lang="es-ES" sz="3600" dirty="0"/>
              <a:t>Nivel de árbol: cuantas “generaciones” tiene un árbol </a:t>
            </a:r>
          </a:p>
          <a:p>
            <a:r>
              <a:rPr lang="es-ES" sz="3600" dirty="0"/>
              <a:t>Grado de un nodo: cuántos hijos tiene un nodo</a:t>
            </a:r>
          </a:p>
          <a:p>
            <a:r>
              <a:rPr lang="es-ES" sz="3600" dirty="0"/>
              <a:t>Grado de un árbol: el </a:t>
            </a:r>
            <a:r>
              <a:rPr lang="es-ES" sz="3600" dirty="0" err="1"/>
              <a:t>el</a:t>
            </a:r>
            <a:r>
              <a:rPr lang="es-ES" sz="3600" dirty="0"/>
              <a:t> máximo de los nodos de un árbol</a:t>
            </a:r>
          </a:p>
        </p:txBody>
      </p:sp>
    </p:spTree>
    <p:extLst>
      <p:ext uri="{BB962C8B-B14F-4D97-AF65-F5344CB8AC3E}">
        <p14:creationId xmlns:p14="http://schemas.microsoft.com/office/powerpoint/2010/main" val="3847945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0E8C3-4A18-CD59-18A1-78435EDFE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Estructuras dinámicas en JAVA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B9A29A-17A3-7FFE-46AC-D0BA219B4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7030" y="679938"/>
            <a:ext cx="10315184" cy="6002698"/>
          </a:xfrm>
        </p:spPr>
        <p:txBody>
          <a:bodyPr>
            <a:normAutofit fontScale="92500" lnSpcReduction="10000"/>
          </a:bodyPr>
          <a:lstStyle/>
          <a:p>
            <a:r>
              <a:rPr lang="es-ES" sz="2800" dirty="0"/>
              <a:t>Java implementa una serie de Estructuras dinámicas que extienden de la </a:t>
            </a:r>
            <a:r>
              <a:rPr lang="es-ES" sz="2800" i="1" dirty="0">
                <a:solidFill>
                  <a:schemeClr val="accent2"/>
                </a:solidFill>
              </a:rPr>
              <a:t>interface </a:t>
            </a:r>
            <a:r>
              <a:rPr lang="es-ES" sz="2800" b="1" i="1" dirty="0" err="1">
                <a:solidFill>
                  <a:schemeClr val="accent2"/>
                </a:solidFill>
              </a:rPr>
              <a:t>Collection</a:t>
            </a:r>
            <a:r>
              <a:rPr lang="es-ES" sz="2800" dirty="0"/>
              <a:t>.</a:t>
            </a:r>
          </a:p>
          <a:p>
            <a:r>
              <a:rPr lang="es-ES" sz="2800" dirty="0"/>
              <a:t>Las colecciones (</a:t>
            </a:r>
            <a:r>
              <a:rPr lang="es-ES" sz="2800" dirty="0" err="1">
                <a:solidFill>
                  <a:schemeClr val="accent2"/>
                </a:solidFill>
              </a:rPr>
              <a:t>Collection</a:t>
            </a:r>
            <a:r>
              <a:rPr lang="es-ES" sz="2800" dirty="0"/>
              <a:t>) representan grupos de objetos, denominados elementos. Podemos encontrar diversos tipos de colecciones, según si sus elementos están ordenados, o si permitimos repetición de elementos o no.</a:t>
            </a:r>
          </a:p>
          <a:p>
            <a:r>
              <a:rPr lang="es-ES" sz="2800" dirty="0"/>
              <a:t>Es el tipo más genérico en cuanto a que se refiere a cualquier tipo que contenga un grupo de elementos. Viene definido por </a:t>
            </a:r>
            <a:r>
              <a:rPr lang="es-ES" sz="2800" i="1" dirty="0">
                <a:solidFill>
                  <a:schemeClr val="accent2"/>
                </a:solidFill>
              </a:rPr>
              <a:t>la interface </a:t>
            </a:r>
            <a:r>
              <a:rPr lang="es-ES" sz="2800" i="1" dirty="0" err="1">
                <a:solidFill>
                  <a:schemeClr val="accent2"/>
                </a:solidFill>
              </a:rPr>
              <a:t>Collection</a:t>
            </a:r>
            <a:r>
              <a:rPr lang="es-ES" sz="2800" dirty="0"/>
              <a:t>, de la cual heredará cada subtipo específico. </a:t>
            </a:r>
          </a:p>
          <a:p>
            <a:r>
              <a:rPr lang="es-ES" sz="2800" dirty="0"/>
              <a:t>En esta interface encontramos una serie de métodos que nos servirán para acceder a los elementos de cualquier colección de datos, sea del tipo que sea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2754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A9B21-6A09-5B54-3318-EE6F9751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Marcador de contenido 8">
            <a:extLst>
              <a:ext uri="{FF2B5EF4-FFF2-40B4-BE49-F238E27FC236}">
                <a16:creationId xmlns:a16="http://schemas.microsoft.com/office/drawing/2014/main" id="{DEFC2238-4AA5-4DF8-84EE-2313B6705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3204" y="762000"/>
            <a:ext cx="6782417" cy="567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66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B211E-83F6-4873-ABA9-C94BFEB57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4887"/>
          </a:xfrm>
        </p:spPr>
        <p:txBody>
          <a:bodyPr/>
          <a:lstStyle/>
          <a:p>
            <a:r>
              <a:rPr lang="es-ES" dirty="0"/>
              <a:t>Interface </a:t>
            </a:r>
            <a:r>
              <a:rPr lang="es-ES" dirty="0" err="1"/>
              <a:t>Collection</a:t>
            </a:r>
            <a:r>
              <a:rPr lang="es-ES" dirty="0"/>
              <a:t> (Operaciones)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C9912F-A9E1-4B90-87C0-FD934F2DF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44487"/>
            <a:ext cx="10896716" cy="5300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 </a:t>
            </a:r>
            <a:r>
              <a:rPr lang="es-ES" sz="3300" b="1" i="1" dirty="0" err="1">
                <a:solidFill>
                  <a:schemeClr val="accent2"/>
                </a:solidFill>
              </a:rPr>
              <a:t>add</a:t>
            </a:r>
            <a:r>
              <a:rPr lang="es-ES" sz="3300" b="1" i="1" dirty="0">
                <a:solidFill>
                  <a:schemeClr val="accent2"/>
                </a:solidFill>
              </a:rPr>
              <a:t>(e)</a:t>
            </a:r>
            <a:r>
              <a:rPr lang="es-ES" sz="3300" b="1" dirty="0"/>
              <a:t>: </a:t>
            </a:r>
            <a:r>
              <a:rPr lang="es-ES" sz="3300" dirty="0"/>
              <a:t>nos permite añadir un elemento a la colección. </a:t>
            </a:r>
          </a:p>
          <a:p>
            <a:r>
              <a:rPr lang="es-ES" sz="3300" b="1" i="1" dirty="0" err="1">
                <a:solidFill>
                  <a:schemeClr val="accent2"/>
                </a:solidFill>
              </a:rPr>
              <a:t>size</a:t>
            </a:r>
            <a:r>
              <a:rPr lang="es-ES" sz="3300" b="1" i="1" dirty="0">
                <a:solidFill>
                  <a:schemeClr val="accent2"/>
                </a:solidFill>
              </a:rPr>
              <a:t>()</a:t>
            </a:r>
            <a:r>
              <a:rPr lang="es-ES" sz="3300" b="1" dirty="0"/>
              <a:t>: </a:t>
            </a:r>
            <a:r>
              <a:rPr lang="es-ES" sz="3300" dirty="0"/>
              <a:t>devuelve el número de elementos almacenados en la colección. </a:t>
            </a:r>
          </a:p>
          <a:p>
            <a:r>
              <a:rPr lang="es-ES" sz="3300" b="1" i="1" dirty="0" err="1">
                <a:solidFill>
                  <a:schemeClr val="accent2"/>
                </a:solidFill>
              </a:rPr>
              <a:t>iterator</a:t>
            </a:r>
            <a:r>
              <a:rPr lang="es-ES" sz="3300" b="1" i="1" dirty="0">
                <a:solidFill>
                  <a:schemeClr val="accent2"/>
                </a:solidFill>
              </a:rPr>
              <a:t>()</a:t>
            </a:r>
            <a:r>
              <a:rPr lang="es-ES" sz="3300" b="1" dirty="0"/>
              <a:t>: </a:t>
            </a:r>
            <a:r>
              <a:rPr lang="es-ES" sz="3300" dirty="0"/>
              <a:t>permite recorrer los elementos de la colección. </a:t>
            </a:r>
          </a:p>
          <a:p>
            <a:r>
              <a:rPr lang="es-ES" sz="3300" b="1" i="1" dirty="0" err="1">
                <a:solidFill>
                  <a:schemeClr val="accent2"/>
                </a:solidFill>
              </a:rPr>
              <a:t>contains</a:t>
            </a:r>
            <a:r>
              <a:rPr lang="es-ES" sz="3300" b="1" i="1" dirty="0">
                <a:solidFill>
                  <a:schemeClr val="accent2"/>
                </a:solidFill>
              </a:rPr>
              <a:t>(e)</a:t>
            </a:r>
            <a:r>
              <a:rPr lang="es-ES" sz="3300" b="1" dirty="0"/>
              <a:t>: </a:t>
            </a:r>
            <a:r>
              <a:rPr lang="es-ES" sz="3300" dirty="0"/>
              <a:t>devuelve si el elemento esta en la colección. </a:t>
            </a:r>
          </a:p>
          <a:p>
            <a:r>
              <a:rPr lang="es-ES" sz="3300" b="1" i="1" dirty="0" err="1">
                <a:solidFill>
                  <a:schemeClr val="accent2"/>
                </a:solidFill>
              </a:rPr>
              <a:t>remove</a:t>
            </a:r>
            <a:r>
              <a:rPr lang="es-ES" sz="3300" b="1" i="1" dirty="0">
                <a:solidFill>
                  <a:schemeClr val="accent2"/>
                </a:solidFill>
              </a:rPr>
              <a:t>(e):</a:t>
            </a:r>
            <a:r>
              <a:rPr lang="es-ES" sz="3300" b="1" dirty="0"/>
              <a:t> </a:t>
            </a:r>
            <a:r>
              <a:rPr lang="es-ES" sz="3300" dirty="0"/>
              <a:t>Podemos eliminar un elemento dentro de la colección, mientras lo estamos recorriendo.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4061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18E858-7307-4806-B25A-0AD827A6A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59" y="183715"/>
            <a:ext cx="8596668" cy="795130"/>
          </a:xfrm>
        </p:spPr>
        <p:txBody>
          <a:bodyPr/>
          <a:lstStyle/>
          <a:p>
            <a:r>
              <a:rPr lang="es-ES" dirty="0"/>
              <a:t>Interfaces que extienden de </a:t>
            </a:r>
            <a:r>
              <a:rPr lang="es-ES" dirty="0" err="1"/>
              <a:t>Collection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71F5D3-312D-40A5-9AEE-D6D53BF14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832981"/>
            <a:ext cx="10859137" cy="5208381"/>
          </a:xfrm>
        </p:spPr>
        <p:txBody>
          <a:bodyPr>
            <a:normAutofit lnSpcReduction="10000"/>
          </a:bodyPr>
          <a:lstStyle/>
          <a:p>
            <a:r>
              <a:rPr lang="es-ES" sz="3200" dirty="0">
                <a:solidFill>
                  <a:schemeClr val="accent2"/>
                </a:solidFill>
              </a:rPr>
              <a:t>Set (Conjuntos): </a:t>
            </a:r>
            <a:r>
              <a:rPr lang="es-ES" sz="3200" dirty="0"/>
              <a:t>Los conjuntos son grupos de elementos en los que </a:t>
            </a:r>
            <a:r>
              <a:rPr lang="es-ES" sz="3200" b="1" dirty="0"/>
              <a:t>no se admiten elemento repetido</a:t>
            </a:r>
            <a:r>
              <a:rPr lang="es-ES" sz="3200" dirty="0"/>
              <a:t>(se compara con </a:t>
            </a:r>
            <a:r>
              <a:rPr lang="es-ES" sz="3200" i="1" dirty="0" err="1"/>
              <a:t>equals</a:t>
            </a:r>
            <a:r>
              <a:rPr lang="es-ES" sz="3200" i="1" dirty="0"/>
              <a:t>() </a:t>
            </a:r>
            <a:r>
              <a:rPr lang="es-ES" sz="3200" dirty="0"/>
              <a:t>y </a:t>
            </a:r>
            <a:r>
              <a:rPr lang="es-ES" sz="3200" i="1" dirty="0" err="1"/>
              <a:t>hashCode</a:t>
            </a:r>
            <a:r>
              <a:rPr lang="es-ES" sz="3200" i="1" dirty="0"/>
              <a:t>()).</a:t>
            </a:r>
          </a:p>
          <a:p>
            <a:r>
              <a:rPr lang="es-ES" sz="3200" dirty="0" err="1">
                <a:solidFill>
                  <a:schemeClr val="accent2"/>
                </a:solidFill>
              </a:rPr>
              <a:t>List</a:t>
            </a:r>
            <a:r>
              <a:rPr lang="es-ES" sz="3200" dirty="0">
                <a:solidFill>
                  <a:schemeClr val="accent2"/>
                </a:solidFill>
              </a:rPr>
              <a:t> (Listas):</a:t>
            </a:r>
            <a:r>
              <a:rPr lang="es-ES" sz="3200" dirty="0"/>
              <a:t>Este tipo de colección se refiere a listas en las que los elementos de la colección </a:t>
            </a:r>
            <a:r>
              <a:rPr lang="es-ES" sz="3200" b="1" dirty="0"/>
              <a:t>tienen un orden</a:t>
            </a:r>
            <a:r>
              <a:rPr lang="es-ES" sz="3200" dirty="0"/>
              <a:t>, existe una secuencia de elementos. En ellas cada elemento estará en una determinada </a:t>
            </a:r>
            <a:r>
              <a:rPr lang="es-ES" sz="3200" b="1" dirty="0"/>
              <a:t>posición (índice) </a:t>
            </a:r>
            <a:r>
              <a:rPr lang="es-ES" sz="3200" dirty="0"/>
              <a:t>de la lista.</a:t>
            </a:r>
          </a:p>
          <a:p>
            <a:r>
              <a:rPr lang="es-ES" sz="3200" dirty="0" err="1">
                <a:solidFill>
                  <a:schemeClr val="accent2"/>
                </a:solidFill>
              </a:rPr>
              <a:t>Queue</a:t>
            </a:r>
            <a:r>
              <a:rPr lang="es-ES" sz="3200" dirty="0">
                <a:solidFill>
                  <a:schemeClr val="accent2"/>
                </a:solidFill>
              </a:rPr>
              <a:t> (Colas): </a:t>
            </a:r>
            <a:r>
              <a:rPr lang="es-ES" sz="3200" dirty="0"/>
              <a:t>Este tipo de colección hace referencia a una lista de elementos que siguen el patrón </a:t>
            </a:r>
            <a:r>
              <a:rPr lang="es-ES" sz="3200" b="1" dirty="0"/>
              <a:t>FIFO</a:t>
            </a:r>
            <a:r>
              <a:rPr lang="es-ES" sz="3200" dirty="0"/>
              <a:t> (</a:t>
            </a:r>
            <a:r>
              <a:rPr lang="es-ES" sz="3200" dirty="0" err="1"/>
              <a:t>Firt</a:t>
            </a:r>
            <a:r>
              <a:rPr lang="es-ES" sz="3200" dirty="0"/>
              <a:t> In </a:t>
            </a:r>
            <a:r>
              <a:rPr lang="es-ES" sz="3200" dirty="0" err="1"/>
              <a:t>Firts</a:t>
            </a:r>
            <a:r>
              <a:rPr lang="es-ES" sz="3200" dirty="0"/>
              <a:t> </a:t>
            </a:r>
            <a:r>
              <a:rPr lang="es-ES" sz="3200" dirty="0" err="1"/>
              <a:t>Out</a:t>
            </a:r>
            <a:r>
              <a:rPr lang="es-ES" sz="3200" dirty="0"/>
              <a:t>).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56293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CF2086-6316-4ED9-ACA4-73050878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534" y="0"/>
            <a:ext cx="8596668" cy="768626"/>
          </a:xfrm>
        </p:spPr>
        <p:txBody>
          <a:bodyPr/>
          <a:lstStyle/>
          <a:p>
            <a:r>
              <a:rPr lang="es-ES" dirty="0"/>
              <a:t>Interface </a:t>
            </a:r>
            <a:r>
              <a:rPr lang="es-ES" dirty="0" err="1"/>
              <a:t>List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8BDF4E-1588-45EA-8C28-C22B79CE3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085" y="920664"/>
            <a:ext cx="11010378" cy="5536504"/>
          </a:xfrm>
        </p:spPr>
        <p:txBody>
          <a:bodyPr>
            <a:noAutofit/>
          </a:bodyPr>
          <a:lstStyle/>
          <a:p>
            <a:r>
              <a:rPr lang="es-ES" dirty="0"/>
              <a:t>La interfaz </a:t>
            </a:r>
            <a:r>
              <a:rPr lang="es-ES" b="1" dirty="0" err="1"/>
              <a:t>List</a:t>
            </a:r>
            <a:r>
              <a:rPr lang="es-ES" b="1" dirty="0"/>
              <a:t> </a:t>
            </a:r>
            <a:r>
              <a:rPr lang="es-ES" dirty="0"/>
              <a:t>define una sucesión de elementos. </a:t>
            </a:r>
          </a:p>
          <a:p>
            <a:r>
              <a:rPr lang="es-ES" dirty="0"/>
              <a:t>A diferencia de la interfaz Set, la interfaz </a:t>
            </a:r>
            <a:r>
              <a:rPr lang="es-ES" dirty="0" err="1"/>
              <a:t>List</a:t>
            </a:r>
            <a:r>
              <a:rPr lang="es-ES" dirty="0"/>
              <a:t> sí </a:t>
            </a:r>
            <a:r>
              <a:rPr lang="es-ES" b="1" dirty="0"/>
              <a:t>admite elementos duplicados</a:t>
            </a:r>
            <a:r>
              <a:rPr lang="es-ES" dirty="0"/>
              <a:t>. </a:t>
            </a:r>
          </a:p>
          <a:p>
            <a:r>
              <a:rPr lang="es-ES" dirty="0"/>
              <a:t>A parte de los métodos heredados de </a:t>
            </a:r>
            <a:r>
              <a:rPr lang="es-ES" dirty="0" err="1"/>
              <a:t>Collection</a:t>
            </a:r>
            <a:r>
              <a:rPr lang="es-ES" dirty="0"/>
              <a:t>, añade métodos que permiten mejorar los siguientes puntos: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s-ES" sz="2400" b="1" i="1" dirty="0"/>
              <a:t>Acceso posicional a elementos: </a:t>
            </a:r>
            <a:r>
              <a:rPr lang="es-ES" sz="2400" dirty="0"/>
              <a:t>manipula elementos en función de su posición en la lista.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s-ES" sz="2400" b="1" i="1" dirty="0"/>
              <a:t>Búsqueda de elementos: </a:t>
            </a:r>
            <a:r>
              <a:rPr lang="es-ES" sz="2400" dirty="0"/>
              <a:t>busca un elemento concreto de la lista y devuelve su posición.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s-ES" sz="2400" b="1" i="1" dirty="0"/>
              <a:t>Iteración sobre elementos: </a:t>
            </a:r>
            <a:r>
              <a:rPr lang="es-ES" sz="2400" dirty="0"/>
              <a:t>mejora el </a:t>
            </a:r>
            <a:r>
              <a:rPr lang="es-ES" sz="2400" dirty="0" err="1"/>
              <a:t>Iterator</a:t>
            </a:r>
            <a:r>
              <a:rPr lang="es-ES" sz="2400" dirty="0"/>
              <a:t> por defecto.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s-ES" sz="2400" b="1" i="1" dirty="0"/>
              <a:t>Rango de operación: </a:t>
            </a:r>
            <a:r>
              <a:rPr lang="es-ES" sz="2400" dirty="0"/>
              <a:t>permite realizar ciertas operaciones sobre rangos de elementos dentro de la propia lista.</a:t>
            </a:r>
          </a:p>
        </p:txBody>
      </p:sp>
    </p:spTree>
    <p:extLst>
      <p:ext uri="{BB962C8B-B14F-4D97-AF65-F5344CB8AC3E}">
        <p14:creationId xmlns:p14="http://schemas.microsoft.com/office/powerpoint/2010/main" val="2598230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54A228-4B6B-47DB-A118-8E40065F5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2122"/>
          </a:xfrm>
        </p:spPr>
        <p:txBody>
          <a:bodyPr/>
          <a:lstStyle/>
          <a:p>
            <a:r>
              <a:rPr lang="es-ES" dirty="0"/>
              <a:t>Interface </a:t>
            </a:r>
            <a:r>
              <a:rPr lang="es-ES" dirty="0" err="1"/>
              <a:t>List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CDA74D1-87E2-4F6E-B12A-88DBA73E4F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699559"/>
            <a:ext cx="2659880" cy="5548841"/>
          </a:xfrm>
        </p:spPr>
      </p:pic>
    </p:spTree>
    <p:extLst>
      <p:ext uri="{BB962C8B-B14F-4D97-AF65-F5344CB8AC3E}">
        <p14:creationId xmlns:p14="http://schemas.microsoft.com/office/powerpoint/2010/main" val="3464815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2601D-C87A-4FE7-BC95-C133E0F2D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213" y="58455"/>
            <a:ext cx="8596668" cy="834887"/>
          </a:xfrm>
        </p:spPr>
        <p:txBody>
          <a:bodyPr/>
          <a:lstStyle/>
          <a:p>
            <a:r>
              <a:rPr lang="es-ES" dirty="0" err="1"/>
              <a:t>ArrayList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CBF49A-162B-437A-B7C4-C0749ED9E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218" y="793406"/>
            <a:ext cx="10552249" cy="6064593"/>
          </a:xfrm>
        </p:spPr>
        <p:txBody>
          <a:bodyPr>
            <a:normAutofit/>
          </a:bodyPr>
          <a:lstStyle/>
          <a:p>
            <a:r>
              <a:rPr lang="es-ES" sz="2400" dirty="0"/>
              <a:t>Esta es la implementación típica. </a:t>
            </a:r>
          </a:p>
          <a:p>
            <a:r>
              <a:rPr lang="es-ES" sz="2400" dirty="0"/>
              <a:t>Se basa en un array dinámico que aumenta su tamaño según crece la colección de elementos. </a:t>
            </a:r>
          </a:p>
          <a:p>
            <a:r>
              <a:rPr lang="es-ES" sz="2400" dirty="0"/>
              <a:t>Puede contener </a:t>
            </a:r>
            <a:r>
              <a:rPr lang="es-ES" sz="2400" b="1" dirty="0"/>
              <a:t>elementos duplicados</a:t>
            </a:r>
            <a:r>
              <a:rPr lang="es-ES" sz="2400" dirty="0"/>
              <a:t>.</a:t>
            </a:r>
          </a:p>
          <a:p>
            <a:r>
              <a:rPr lang="es-ES" sz="2400" dirty="0"/>
              <a:t>Permite </a:t>
            </a:r>
            <a:r>
              <a:rPr lang="es-ES" sz="2400" b="1" dirty="0"/>
              <a:t>insertar al final </a:t>
            </a:r>
            <a:r>
              <a:rPr lang="es-ES" sz="2400" dirty="0"/>
              <a:t>o en una </a:t>
            </a:r>
            <a:r>
              <a:rPr lang="es-ES" sz="2400" b="1" dirty="0"/>
              <a:t>posición concreta</a:t>
            </a:r>
            <a:r>
              <a:rPr lang="es-ES" sz="2400" dirty="0"/>
              <a:t>. El orden es importante</a:t>
            </a:r>
          </a:p>
          <a:p>
            <a:r>
              <a:rPr lang="es-ES" sz="2400" dirty="0"/>
              <a:t>Permite el </a:t>
            </a:r>
            <a:r>
              <a:rPr lang="es-ES" sz="2400" b="1" dirty="0"/>
              <a:t>acceso aleatorio </a:t>
            </a:r>
            <a:r>
              <a:rPr lang="es-ES" sz="2400" dirty="0"/>
              <a:t>porque </a:t>
            </a:r>
            <a:r>
              <a:rPr lang="es-ES" dirty="0"/>
              <a:t>al ser implementado con un array permite acceder a una posición usando el índice del array mismo</a:t>
            </a:r>
            <a:r>
              <a:rPr lang="es-ES" sz="2400" dirty="0"/>
              <a:t>.</a:t>
            </a:r>
          </a:p>
          <a:p>
            <a:r>
              <a:rPr lang="es-ES" sz="2400" dirty="0"/>
              <a:t>La manipulación es lenta porque es necesario realizar muchos cambios si se elimina algún elemento </a:t>
            </a:r>
          </a:p>
          <a:p>
            <a:r>
              <a:rPr lang="es-ES" dirty="0"/>
              <a:t>No e</a:t>
            </a:r>
            <a:r>
              <a:rPr lang="es-ES" sz="2400" dirty="0"/>
              <a:t>stá sincronizada. </a:t>
            </a:r>
          </a:p>
          <a:p>
            <a:r>
              <a:rPr lang="es-ES" sz="2400" dirty="0">
                <a:hlinkClick r:id="rId2"/>
              </a:rPr>
              <a:t>https://www.javatpoint.com/java-arraylist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320896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2601D-C87A-4FE7-BC95-C133E0F2D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005" y="79780"/>
            <a:ext cx="8596668" cy="834887"/>
          </a:xfrm>
        </p:spPr>
        <p:txBody>
          <a:bodyPr/>
          <a:lstStyle/>
          <a:p>
            <a:r>
              <a:rPr lang="es-ES" dirty="0" err="1"/>
              <a:t>LinkedList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CBF49A-162B-437A-B7C4-C0749ED9E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964505"/>
            <a:ext cx="10602355" cy="5724394"/>
          </a:xfrm>
        </p:spPr>
        <p:txBody>
          <a:bodyPr>
            <a:normAutofit/>
          </a:bodyPr>
          <a:lstStyle/>
          <a:p>
            <a:r>
              <a:rPr lang="es-ES" sz="2400" dirty="0"/>
              <a:t>Esta implementación se basa en una </a:t>
            </a:r>
            <a:r>
              <a:rPr lang="es-ES" sz="2400" b="1" dirty="0"/>
              <a:t>lista doblemente enlazada </a:t>
            </a:r>
            <a:r>
              <a:rPr lang="es-ES" sz="2400" dirty="0"/>
              <a:t>de los elementos, teniendo cada uno de los elementos un puntero al anterior y al siguiente elemento.</a:t>
            </a:r>
          </a:p>
          <a:p>
            <a:r>
              <a:rPr lang="es-ES" sz="2400" dirty="0"/>
              <a:t>Puede contener </a:t>
            </a:r>
            <a:r>
              <a:rPr lang="es-ES" sz="2400" b="1" dirty="0"/>
              <a:t>elementos duplicados</a:t>
            </a:r>
            <a:r>
              <a:rPr lang="es-ES" sz="2400" dirty="0"/>
              <a:t>.</a:t>
            </a:r>
          </a:p>
          <a:p>
            <a:r>
              <a:rPr lang="es-ES" sz="2400" dirty="0"/>
              <a:t>Permite </a:t>
            </a:r>
            <a:r>
              <a:rPr lang="es-ES" sz="2400" b="1" dirty="0"/>
              <a:t>insertar al final </a:t>
            </a:r>
            <a:r>
              <a:rPr lang="es-ES" sz="2400" dirty="0"/>
              <a:t>o en una </a:t>
            </a:r>
            <a:r>
              <a:rPr lang="es-ES" sz="2400" b="1" dirty="0"/>
              <a:t>posición concreta</a:t>
            </a:r>
            <a:r>
              <a:rPr lang="es-ES" sz="2400" dirty="0"/>
              <a:t>. El orden es importante</a:t>
            </a:r>
          </a:p>
          <a:p>
            <a:r>
              <a:rPr lang="es-ES" sz="2400" dirty="0"/>
              <a:t>Esta implementación, con respeto a </a:t>
            </a:r>
            <a:r>
              <a:rPr lang="es-ES" sz="2400" dirty="0" err="1"/>
              <a:t>Arraylist</a:t>
            </a:r>
            <a:r>
              <a:rPr lang="es-ES" sz="2400" dirty="0"/>
              <a:t>, mejora la velocidad de manipulación de los objetos (insertar y remover) pero empeora el acceso aleatorio</a:t>
            </a:r>
          </a:p>
          <a:p>
            <a:r>
              <a:rPr lang="es-ES" sz="2400" dirty="0"/>
              <a:t>No está sincronizada.</a:t>
            </a:r>
          </a:p>
          <a:p>
            <a:r>
              <a:rPr lang="es-ES" sz="2400" dirty="0"/>
              <a:t>Se puede usar como una lista, pila o cola.</a:t>
            </a:r>
          </a:p>
          <a:p>
            <a:pPr marL="0" indent="0">
              <a:buNone/>
            </a:pPr>
            <a:r>
              <a:rPr lang="es-ES" dirty="0">
                <a:hlinkClick r:id="rId2"/>
              </a:rPr>
              <a:t>https://www.javatpoint.com/java-linkedlist</a:t>
            </a:r>
            <a:endParaRPr lang="es-ES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627087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2601D-C87A-4FE7-BC95-C133E0F2D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4887"/>
          </a:xfrm>
        </p:spPr>
        <p:txBody>
          <a:bodyPr/>
          <a:lstStyle/>
          <a:p>
            <a:r>
              <a:rPr lang="es-ES" dirty="0" err="1"/>
              <a:t>ArrayList</a:t>
            </a:r>
            <a:r>
              <a:rPr lang="es-ES" dirty="0"/>
              <a:t> vs </a:t>
            </a:r>
            <a:r>
              <a:rPr lang="es-ES" dirty="0" err="1"/>
              <a:t>LinkedList</a:t>
            </a:r>
            <a:endParaRPr lang="es-ES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71810452-264B-40CA-AE4C-A2BCF8D440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3799616"/>
              </p:ext>
            </p:extLst>
          </p:nvPr>
        </p:nvGraphicFramePr>
        <p:xfrm>
          <a:off x="677862" y="1444487"/>
          <a:ext cx="9380538" cy="4874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0269">
                  <a:extLst>
                    <a:ext uri="{9D8B030D-6E8A-4147-A177-3AD203B41FA5}">
                      <a16:colId xmlns:a16="http://schemas.microsoft.com/office/drawing/2014/main" val="3557121149"/>
                    </a:ext>
                  </a:extLst>
                </a:gridCol>
                <a:gridCol w="4690269">
                  <a:extLst>
                    <a:ext uri="{9D8B030D-6E8A-4147-A177-3AD203B41FA5}">
                      <a16:colId xmlns:a16="http://schemas.microsoft.com/office/drawing/2014/main" val="2990438863"/>
                    </a:ext>
                  </a:extLst>
                </a:gridCol>
              </a:tblGrid>
              <a:tr h="432558">
                <a:tc>
                  <a:txBody>
                    <a:bodyPr/>
                    <a:lstStyle/>
                    <a:p>
                      <a:r>
                        <a:rPr lang="es-ES" dirty="0" err="1"/>
                        <a:t>ArrayList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LinkedList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768340"/>
                  </a:ext>
                </a:extLst>
              </a:tr>
              <a:tr h="1066582">
                <a:tc>
                  <a:txBody>
                    <a:bodyPr/>
                    <a:lstStyle/>
                    <a:p>
                      <a:r>
                        <a:rPr lang="es-ES" sz="1800" b="0" i="0" kern="12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ArrayList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usa internamente un </a:t>
                      </a:r>
                      <a:r>
                        <a:rPr lang="es-ES" sz="1800" b="1" i="0" u="sng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 dinámico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para almacenar los elementos.</a:t>
                      </a:r>
                      <a:endParaRPr lang="es-E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kern="12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LinkedList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utiliza internamente una </a:t>
                      </a:r>
                      <a:r>
                        <a:rPr lang="es-ES" sz="1800" b="1" i="0" u="sng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lista doblemente enlazada 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 almacenar los elementos.</a:t>
                      </a:r>
                      <a:endParaRPr lang="es-E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607857"/>
                  </a:ext>
                </a:extLst>
              </a:tr>
              <a:tr h="1562112"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</a:t>
                      </a:r>
                      <a:r>
                        <a:rPr lang="es-ES" sz="1800" b="0" i="0" u="sng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manipulación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con </a:t>
                      </a:r>
                      <a:r>
                        <a:rPr lang="es-ES" sz="1800" b="0" i="0" kern="12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ArrayList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es </a:t>
                      </a:r>
                      <a:r>
                        <a:rPr lang="es-ES" sz="1800" b="1" i="0" u="sng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lenta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porque internamente usa un array. Si se elimina algún elemento del array, todos los bits se desplazan en la memoria.</a:t>
                      </a:r>
                      <a:endParaRPr lang="es-E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</a:t>
                      </a:r>
                      <a:r>
                        <a:rPr lang="es-ES" sz="1800" b="0" i="0" u="sng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manipulación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con </a:t>
                      </a:r>
                      <a:r>
                        <a:rPr lang="es-ES" sz="1800" b="0" i="0" kern="12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LinkedList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es </a:t>
                      </a:r>
                      <a:r>
                        <a:rPr lang="es-ES" sz="1800" b="1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más </a:t>
                      </a:r>
                      <a:r>
                        <a:rPr lang="es-ES" sz="1800" b="1" i="0" u="sng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rápida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que </a:t>
                      </a:r>
                      <a:r>
                        <a:rPr lang="es-ES" sz="1800" b="0" i="0" kern="12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ArrayList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porque utiliza una lista doblemente vinculada, por lo que no se requiere ningún cambio en la memoria.</a:t>
                      </a:r>
                      <a:endParaRPr lang="es-E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973102"/>
                  </a:ext>
                </a:extLst>
              </a:tr>
              <a:tr h="1066582"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Una clase </a:t>
                      </a:r>
                      <a:r>
                        <a:rPr lang="es-ES" sz="1800" b="0" i="0" kern="12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ArrayList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u="sng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puede </a:t>
                      </a:r>
                      <a:r>
                        <a:rPr lang="es-ES" sz="1800" b="1" i="0" u="sng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actuar como una lista</a:t>
                      </a:r>
                      <a:r>
                        <a:rPr lang="es-ES" sz="1800" b="0" i="0" u="sng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solo 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porque implementa solo </a:t>
                      </a:r>
                      <a:r>
                        <a:rPr lang="es-ES" sz="1800" b="0" i="0" kern="12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s-E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clase </a:t>
                      </a:r>
                      <a:r>
                        <a:rPr lang="es-ES" sz="1800" b="0" i="0" kern="12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LinkedList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u="sng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puede </a:t>
                      </a:r>
                      <a:r>
                        <a:rPr lang="es-ES" sz="1800" b="1" i="0" u="sng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actuar como una lista y una cola</a:t>
                      </a:r>
                      <a:r>
                        <a:rPr lang="es-ES" sz="1800" b="1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ya que implementa las interfaces </a:t>
                      </a:r>
                      <a:r>
                        <a:rPr lang="es-ES" sz="1800" b="0" i="0" kern="12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 </a:t>
                      </a:r>
                      <a:r>
                        <a:rPr lang="es-ES" sz="1800" b="0" i="0" kern="12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Deque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s-E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53434"/>
                  </a:ext>
                </a:extLst>
              </a:tr>
              <a:tr h="746607">
                <a:tc>
                  <a:txBody>
                    <a:bodyPr/>
                    <a:lstStyle/>
                    <a:p>
                      <a:r>
                        <a:rPr lang="es-ES" sz="1800" b="0" i="0" kern="12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ArrayList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es </a:t>
                      </a:r>
                      <a:r>
                        <a:rPr lang="es-ES" sz="1800" b="1" i="0" u="sng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mejor para almacenar y acceder a</a:t>
                      </a:r>
                      <a:r>
                        <a:rPr lang="es-ES" sz="1800" b="0" i="0" u="sng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datos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s-E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kern="12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LinkedList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u="sng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 </a:t>
                      </a:r>
                      <a:r>
                        <a:rPr lang="es-ES" sz="1800" b="1" i="0" u="sng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mejor para manipular</a:t>
                      </a:r>
                      <a:r>
                        <a:rPr lang="es-ES" sz="1800" b="0" i="0" u="sng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datos</a:t>
                      </a:r>
                      <a:r>
                        <a:rPr lang="es-ES" sz="1800" b="0" i="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s-E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906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976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AB2EE-07C8-498B-BCF8-E38D1BDB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5617"/>
          </a:xfrm>
        </p:spPr>
        <p:txBody>
          <a:bodyPr/>
          <a:lstStyle/>
          <a:p>
            <a:r>
              <a:rPr lang="es-ES" dirty="0"/>
              <a:t>Interface </a:t>
            </a:r>
            <a:r>
              <a:rPr lang="es-ES" dirty="0" err="1"/>
              <a:t>Queue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D71083-CB80-4E26-96FC-25191F1CD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17983"/>
            <a:ext cx="10452041" cy="5227075"/>
          </a:xfrm>
        </p:spPr>
        <p:txBody>
          <a:bodyPr>
            <a:normAutofit lnSpcReduction="10000"/>
          </a:bodyPr>
          <a:lstStyle/>
          <a:p>
            <a:r>
              <a:rPr lang="es-ES" dirty="0"/>
              <a:t>Ésta interface ordena el elemento de manera FIFO (primero en entrar, primero en salir). </a:t>
            </a:r>
          </a:p>
          <a:p>
            <a:r>
              <a:rPr lang="es-ES" dirty="0"/>
              <a:t>En FIFO, el primer elemento se elimina primero y el último elemento se elimina por último.</a:t>
            </a:r>
          </a:p>
          <a:p>
            <a:r>
              <a:rPr lang="es-ES" dirty="0"/>
              <a:t>Los elementos se añaden al final de la cola</a:t>
            </a:r>
          </a:p>
          <a:p>
            <a:r>
              <a:rPr lang="es-ES" dirty="0"/>
              <a:t>Puede contener elementos duplicados</a:t>
            </a:r>
          </a:p>
          <a:p>
            <a:r>
              <a:rPr lang="es-ES" dirty="0"/>
              <a:t>Las principales operaciones son:</a:t>
            </a:r>
          </a:p>
          <a:p>
            <a:pPr lvl="1"/>
            <a:r>
              <a:rPr lang="es-ES" dirty="0"/>
              <a:t>Encolar</a:t>
            </a:r>
          </a:p>
          <a:p>
            <a:pPr lvl="1"/>
            <a:r>
              <a:rPr lang="es-ES" dirty="0"/>
              <a:t>Obtener Siguiente</a:t>
            </a:r>
          </a:p>
          <a:p>
            <a:r>
              <a:rPr lang="es-ES" dirty="0"/>
              <a:t>A parte de esta interface también existe la </a:t>
            </a:r>
            <a:r>
              <a:rPr lang="es-ES" u="sng" dirty="0">
                <a:solidFill>
                  <a:schemeClr val="accent2"/>
                </a:solidFill>
              </a:rPr>
              <a:t>interface </a:t>
            </a:r>
            <a:r>
              <a:rPr lang="es-ES" u="sng" dirty="0" err="1">
                <a:solidFill>
                  <a:schemeClr val="accent2"/>
                </a:solidFill>
              </a:rPr>
              <a:t>Deque</a:t>
            </a:r>
            <a:r>
              <a:rPr lang="es-ES" dirty="0"/>
              <a:t>, la cual permite además de insertar al final, poder hacerlo al principio (empujarse). </a:t>
            </a:r>
          </a:p>
        </p:txBody>
      </p:sp>
    </p:spTree>
    <p:extLst>
      <p:ext uri="{BB962C8B-B14F-4D97-AF65-F5344CB8AC3E}">
        <p14:creationId xmlns:p14="http://schemas.microsoft.com/office/powerpoint/2010/main" val="2391931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CE707-0A55-4A05-BD3A-F85B91E0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2122"/>
          </a:xfrm>
        </p:spPr>
        <p:txBody>
          <a:bodyPr/>
          <a:lstStyle/>
          <a:p>
            <a:r>
              <a:rPr lang="es-ES" dirty="0"/>
              <a:t>Interface </a:t>
            </a:r>
            <a:r>
              <a:rPr lang="es-ES" dirty="0" err="1"/>
              <a:t>Queue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180CA45-C601-4792-95FB-DB318D6D0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2793" y="836665"/>
            <a:ext cx="3007381" cy="5184670"/>
          </a:xfrm>
        </p:spPr>
      </p:pic>
    </p:spTree>
    <p:extLst>
      <p:ext uri="{BB962C8B-B14F-4D97-AF65-F5344CB8AC3E}">
        <p14:creationId xmlns:p14="http://schemas.microsoft.com/office/powerpoint/2010/main" val="1853568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AB2EE-07C8-498B-BCF8-E38D1BDB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5617"/>
          </a:xfrm>
        </p:spPr>
        <p:txBody>
          <a:bodyPr/>
          <a:lstStyle/>
          <a:p>
            <a:r>
              <a:rPr lang="es-ES" dirty="0" err="1"/>
              <a:t>PriorityQueue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D71083-CB80-4E26-96FC-25191F1CD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7983"/>
            <a:ext cx="10420726" cy="5346072"/>
          </a:xfrm>
        </p:spPr>
        <p:txBody>
          <a:bodyPr/>
          <a:lstStyle/>
          <a:p>
            <a:r>
              <a:rPr lang="es-ES" sz="3600" dirty="0"/>
              <a:t>Ésta clase implementa la interface </a:t>
            </a:r>
            <a:r>
              <a:rPr lang="es-ES" sz="3600" dirty="0" err="1"/>
              <a:t>Queue</a:t>
            </a:r>
            <a:r>
              <a:rPr lang="es-ES" sz="3600" dirty="0"/>
              <a:t>.</a:t>
            </a:r>
          </a:p>
          <a:p>
            <a:r>
              <a:rPr lang="es-ES" sz="3600" dirty="0"/>
              <a:t>Proporciona la facilidad de usar la cola.</a:t>
            </a:r>
          </a:p>
          <a:p>
            <a:r>
              <a:rPr lang="es-ES" sz="3600" dirty="0"/>
              <a:t>No ordena lo elementos de manera FIFO.</a:t>
            </a:r>
          </a:p>
          <a:p>
            <a:r>
              <a:rPr lang="es-ES" sz="3600" dirty="0"/>
              <a:t>Debe implementar la interface Comparable, cuyos métodos deciden la prioridad de sus elementos.</a:t>
            </a:r>
          </a:p>
          <a:p>
            <a:pPr marL="0" indent="0">
              <a:buNone/>
            </a:pPr>
            <a:r>
              <a:rPr lang="es-ES" sz="3600" dirty="0">
                <a:hlinkClick r:id="rId2"/>
              </a:rPr>
              <a:t>https://www.javatpoint.com/java-priorityqueue</a:t>
            </a:r>
            <a:endParaRPr lang="es-ES" sz="3600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92177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F9C28-A57C-45E1-8BAD-C06868A7F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8139"/>
          </a:xfrm>
        </p:spPr>
        <p:txBody>
          <a:bodyPr/>
          <a:lstStyle/>
          <a:p>
            <a:r>
              <a:rPr lang="es-ES" dirty="0"/>
              <a:t>Interface Comparable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B1CA26-0C1B-414F-9D17-721707B7C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7739"/>
            <a:ext cx="10470830" cy="5318842"/>
          </a:xfrm>
        </p:spPr>
        <p:txBody>
          <a:bodyPr>
            <a:normAutofit fontScale="92500"/>
          </a:bodyPr>
          <a:lstStyle/>
          <a:p>
            <a:r>
              <a:rPr lang="es-ES" sz="2800" dirty="0"/>
              <a:t>Ésta interface se utiliza para comparar dos objetos de una clase definida por el usuario.  </a:t>
            </a:r>
          </a:p>
          <a:p>
            <a:r>
              <a:rPr lang="es-ES" sz="2800" dirty="0"/>
              <a:t>Ésta interface contiene un único método que es </a:t>
            </a:r>
            <a:r>
              <a:rPr lang="es-ES" sz="2800" b="1" dirty="0" err="1">
                <a:solidFill>
                  <a:schemeClr val="accent2"/>
                </a:solidFill>
              </a:rPr>
              <a:t>compareTo</a:t>
            </a:r>
            <a:r>
              <a:rPr lang="es-ES" sz="2800" b="1" dirty="0">
                <a:solidFill>
                  <a:schemeClr val="accent2"/>
                </a:solidFill>
              </a:rPr>
              <a:t>(</a:t>
            </a:r>
            <a:r>
              <a:rPr lang="es-ES" sz="2800" b="1" dirty="0" err="1">
                <a:solidFill>
                  <a:schemeClr val="accent2"/>
                </a:solidFill>
              </a:rPr>
              <a:t>Object</a:t>
            </a:r>
            <a:r>
              <a:rPr lang="es-ES" sz="2800" b="1" dirty="0">
                <a:solidFill>
                  <a:schemeClr val="accent2"/>
                </a:solidFill>
              </a:rPr>
              <a:t> o), </a:t>
            </a:r>
            <a:r>
              <a:rPr lang="es-ES" sz="2800" dirty="0"/>
              <a:t>el cual implementaremos para poder ordenar los elementos en función de un solo miembro de datos. </a:t>
            </a:r>
            <a:r>
              <a:rPr lang="es-ES" sz="2800" dirty="0" err="1"/>
              <a:t>Ej</a:t>
            </a:r>
            <a:r>
              <a:rPr lang="es-ES" sz="2800" dirty="0"/>
              <a:t>: Nombre, edad, apellidos.</a:t>
            </a:r>
          </a:p>
          <a:p>
            <a:r>
              <a:rPr lang="es-ES" sz="2800" dirty="0"/>
              <a:t>El método </a:t>
            </a:r>
            <a:r>
              <a:rPr lang="es-ES" sz="2800" b="1" i="1" dirty="0" err="1">
                <a:solidFill>
                  <a:schemeClr val="accent2"/>
                </a:solidFill>
              </a:rPr>
              <a:t>public</a:t>
            </a:r>
            <a:r>
              <a:rPr lang="es-ES" sz="2800" b="1" i="1" dirty="0">
                <a:solidFill>
                  <a:schemeClr val="accent2"/>
                </a:solidFill>
              </a:rPr>
              <a:t> </a:t>
            </a:r>
            <a:r>
              <a:rPr lang="es-ES" sz="2800" b="1" i="1" dirty="0" err="1">
                <a:solidFill>
                  <a:schemeClr val="accent2"/>
                </a:solidFill>
              </a:rPr>
              <a:t>int</a:t>
            </a:r>
            <a:r>
              <a:rPr lang="es-ES" sz="2800" b="1" i="1" dirty="0">
                <a:solidFill>
                  <a:schemeClr val="accent2"/>
                </a:solidFill>
              </a:rPr>
              <a:t> </a:t>
            </a:r>
            <a:r>
              <a:rPr lang="es-ES" sz="2800" b="1" i="1" dirty="0" err="1">
                <a:solidFill>
                  <a:schemeClr val="accent2"/>
                </a:solidFill>
              </a:rPr>
              <a:t>compareTo</a:t>
            </a:r>
            <a:r>
              <a:rPr lang="es-ES" sz="2800" b="1" i="1" dirty="0">
                <a:solidFill>
                  <a:schemeClr val="accent2"/>
                </a:solidFill>
              </a:rPr>
              <a:t>(</a:t>
            </a:r>
            <a:r>
              <a:rPr lang="es-ES" sz="2800" b="1" i="1" dirty="0" err="1">
                <a:solidFill>
                  <a:schemeClr val="accent2"/>
                </a:solidFill>
              </a:rPr>
              <a:t>Object</a:t>
            </a:r>
            <a:r>
              <a:rPr lang="es-ES" sz="2800" b="1" i="1" dirty="0">
                <a:solidFill>
                  <a:schemeClr val="accent2"/>
                </a:solidFill>
              </a:rPr>
              <a:t> o) </a:t>
            </a:r>
            <a:r>
              <a:rPr lang="es-ES" sz="2800" dirty="0"/>
              <a:t>devuelve un entero que indicará:</a:t>
            </a:r>
          </a:p>
          <a:p>
            <a:pPr lvl="1"/>
            <a:r>
              <a:rPr lang="es-ES" sz="2800" i="1" dirty="0">
                <a:solidFill>
                  <a:srgbClr val="002060"/>
                </a:solidFill>
              </a:rPr>
              <a:t>entero positivo, si el objeto actual es mayor que el objeto especificado.</a:t>
            </a:r>
          </a:p>
          <a:p>
            <a:pPr lvl="1"/>
            <a:r>
              <a:rPr lang="es-ES" sz="2800" i="1" dirty="0">
                <a:solidFill>
                  <a:srgbClr val="002060"/>
                </a:solidFill>
              </a:rPr>
              <a:t>entero negativo, si el objeto actual es menor que el objeto especificado.</a:t>
            </a:r>
          </a:p>
          <a:p>
            <a:pPr lvl="1"/>
            <a:r>
              <a:rPr lang="es-ES" sz="2800" i="1" dirty="0">
                <a:solidFill>
                  <a:srgbClr val="002060"/>
                </a:solidFill>
              </a:rPr>
              <a:t>cero, si el objeto actual es igual al objeto especificado.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48939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6C503F-7578-4844-A2EA-2E1F1C913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9357"/>
          </a:xfrm>
        </p:spPr>
        <p:txBody>
          <a:bodyPr/>
          <a:lstStyle/>
          <a:p>
            <a:r>
              <a:rPr lang="es-ES" dirty="0"/>
              <a:t>Ejemplo Comparable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230775A-D6FE-49F7-B073-610DA51EEB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0134" y="1258957"/>
            <a:ext cx="6867525" cy="29908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7B36A7A-A134-445F-822C-0E8C69D6E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193" y="4249807"/>
            <a:ext cx="49244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68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815DC-19DC-40DD-9F89-FC87D1946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72080"/>
            <a:ext cx="8596668" cy="689113"/>
          </a:xfrm>
        </p:spPr>
        <p:txBody>
          <a:bodyPr/>
          <a:lstStyle/>
          <a:p>
            <a:r>
              <a:rPr lang="es-ES" dirty="0"/>
              <a:t>Interface Set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E92621-CD75-48AA-ADAA-48663C1D7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258956"/>
            <a:ext cx="10583566" cy="5505099"/>
          </a:xfrm>
        </p:spPr>
        <p:txBody>
          <a:bodyPr>
            <a:normAutofit fontScale="92500" lnSpcReduction="10000"/>
          </a:bodyPr>
          <a:lstStyle/>
          <a:p>
            <a:r>
              <a:rPr lang="es-ES" sz="2800" dirty="0"/>
              <a:t>La interface </a:t>
            </a:r>
            <a:r>
              <a:rPr lang="es-ES" sz="2800" b="1" dirty="0"/>
              <a:t>Set </a:t>
            </a:r>
            <a:r>
              <a:rPr lang="es-ES" sz="2800" dirty="0"/>
              <a:t>define una colección que </a:t>
            </a:r>
            <a:r>
              <a:rPr lang="es-ES" sz="2800" b="1" dirty="0"/>
              <a:t>no puede contener elementos duplicados. </a:t>
            </a:r>
          </a:p>
          <a:p>
            <a:r>
              <a:rPr lang="es-ES" sz="2800" dirty="0"/>
              <a:t>Esta interfaz contiene, únicamente, los métodos heredados de </a:t>
            </a:r>
            <a:r>
              <a:rPr lang="es-ES" sz="2800" dirty="0" err="1"/>
              <a:t>Collection</a:t>
            </a:r>
            <a:r>
              <a:rPr lang="es-ES" sz="2800" dirty="0"/>
              <a:t> añadiendo la restricción de que los elementos duplicados están prohibidos. </a:t>
            </a:r>
          </a:p>
          <a:p>
            <a:r>
              <a:rPr lang="es-ES" sz="2800" dirty="0"/>
              <a:t>Es importante destacar que, para comprobar si los elementos son elementos duplicados o no lo son, es necesario que dichos elementos tengan implementada, de forma correcta, </a:t>
            </a:r>
            <a:r>
              <a:rPr lang="es-ES" sz="2800" b="1" dirty="0"/>
              <a:t>los métodos </a:t>
            </a:r>
            <a:r>
              <a:rPr lang="es-ES" sz="2800" b="1" i="1" dirty="0" err="1"/>
              <a:t>equals</a:t>
            </a:r>
            <a:r>
              <a:rPr lang="es-ES" sz="2800" b="1" i="1" dirty="0"/>
              <a:t>() </a:t>
            </a:r>
            <a:r>
              <a:rPr lang="es-ES" sz="2800" b="1" dirty="0"/>
              <a:t>y </a:t>
            </a:r>
            <a:r>
              <a:rPr lang="es-ES" sz="2800" b="1" i="1" dirty="0" err="1"/>
              <a:t>hashCode</a:t>
            </a:r>
            <a:r>
              <a:rPr lang="es-ES" sz="2800" b="1" i="1" dirty="0"/>
              <a:t>().</a:t>
            </a:r>
          </a:p>
          <a:p>
            <a:r>
              <a:rPr lang="es-ES" sz="2800" dirty="0"/>
              <a:t>Para comprobar si dos Set son iguales, se comprobarán si todos los elementos que los componen son iguales sin importar en el orden que ocupen dichos elementos. </a:t>
            </a:r>
          </a:p>
        </p:txBody>
      </p:sp>
    </p:spTree>
    <p:extLst>
      <p:ext uri="{BB962C8B-B14F-4D97-AF65-F5344CB8AC3E}">
        <p14:creationId xmlns:p14="http://schemas.microsoft.com/office/powerpoint/2010/main" val="3503330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1661C-0899-4D46-B69B-EED4537A7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274" y="62630"/>
            <a:ext cx="8596668" cy="808383"/>
          </a:xfrm>
        </p:spPr>
        <p:txBody>
          <a:bodyPr/>
          <a:lstStyle/>
          <a:p>
            <a:r>
              <a:rPr lang="es-ES" dirty="0" err="1"/>
              <a:t>equals</a:t>
            </a:r>
            <a:r>
              <a:rPr lang="es-ES" dirty="0"/>
              <a:t>() y </a:t>
            </a:r>
            <a:r>
              <a:rPr lang="es-ES" dirty="0" err="1"/>
              <a:t>hashCode</a:t>
            </a:r>
            <a:r>
              <a:rPr lang="es-ES" dirty="0"/>
              <a:t>()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2F3AC6-8D42-4FF0-BD43-420364D0C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776615"/>
            <a:ext cx="10477093" cy="6018756"/>
          </a:xfrm>
        </p:spPr>
        <p:txBody>
          <a:bodyPr>
            <a:normAutofit fontScale="92500" lnSpcReduction="10000"/>
          </a:bodyPr>
          <a:lstStyle/>
          <a:p>
            <a:r>
              <a:rPr lang="es-ES" sz="2800" dirty="0"/>
              <a:t>Ambos métodos son importantes cuando necesitemos buscar nuestros objetos en colecciones (método </a:t>
            </a:r>
            <a:r>
              <a:rPr lang="es-ES" sz="2800" dirty="0" err="1"/>
              <a:t>equals</a:t>
            </a:r>
            <a:r>
              <a:rPr lang="es-ES" sz="2800" dirty="0"/>
              <a:t>) o en mapas (en este caso, el método importante es </a:t>
            </a:r>
            <a:r>
              <a:rPr lang="es-ES" sz="2800" dirty="0" err="1"/>
              <a:t>hashCode</a:t>
            </a:r>
            <a:r>
              <a:rPr lang="es-ES" sz="2800" dirty="0"/>
              <a:t>).</a:t>
            </a:r>
          </a:p>
          <a:p>
            <a:r>
              <a:rPr lang="es-ES" sz="2800" dirty="0"/>
              <a:t>Cuando se realice una implementación de ambos métodos, si dos objetos son iguales según el método </a:t>
            </a:r>
            <a:r>
              <a:rPr lang="es-ES" sz="2800" dirty="0" err="1"/>
              <a:t>equals</a:t>
            </a:r>
            <a:r>
              <a:rPr lang="es-ES" sz="2800" dirty="0"/>
              <a:t>() se debe cumplir que el resultado del método </a:t>
            </a:r>
            <a:r>
              <a:rPr lang="es-ES" sz="2800" dirty="0" err="1"/>
              <a:t>hashCode</a:t>
            </a:r>
            <a:r>
              <a:rPr lang="es-ES" sz="2800" dirty="0"/>
              <a:t>() debe ser el mismo para ambos objetos, pero al contrario, si dos objetos tienen el mismo </a:t>
            </a:r>
            <a:r>
              <a:rPr lang="es-ES" sz="2800" dirty="0" err="1"/>
              <a:t>hashCode</a:t>
            </a:r>
            <a:r>
              <a:rPr lang="es-ES" sz="2800" dirty="0"/>
              <a:t>() no tienen porqué ser iguales.</a:t>
            </a:r>
          </a:p>
          <a:p>
            <a:r>
              <a:rPr lang="es-ES" sz="2800" dirty="0">
                <a:hlinkClick r:id="rId2"/>
              </a:rPr>
              <a:t>https://www.arquitecturajava.com/java-override-hashcode-y-curiosidades/</a:t>
            </a:r>
            <a:endParaRPr lang="es-ES" sz="2800" dirty="0"/>
          </a:p>
          <a:p>
            <a:r>
              <a:rPr lang="es-ES" sz="2800" dirty="0">
                <a:hlinkClick r:id="rId3"/>
              </a:rPr>
              <a:t>https://www.arquitecturajava.com/entiendo-los-metodos-de-java-equals-y-hashcode/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613175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B854C-78D8-4FB6-A8FE-8F7A01081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5617"/>
          </a:xfrm>
        </p:spPr>
        <p:txBody>
          <a:bodyPr/>
          <a:lstStyle/>
          <a:p>
            <a:r>
              <a:rPr lang="es-ES" dirty="0"/>
              <a:t>Interface Set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7F55D86-DD90-48C1-8251-EA61283B2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2106" y="967408"/>
            <a:ext cx="3792138" cy="5233642"/>
          </a:xfrm>
        </p:spPr>
      </p:pic>
    </p:spTree>
    <p:extLst>
      <p:ext uri="{BB962C8B-B14F-4D97-AF65-F5344CB8AC3E}">
        <p14:creationId xmlns:p14="http://schemas.microsoft.com/office/powerpoint/2010/main" val="1361348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AE587-4160-46A0-BBBB-5003AF12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5617"/>
          </a:xfrm>
        </p:spPr>
        <p:txBody>
          <a:bodyPr/>
          <a:lstStyle/>
          <a:p>
            <a:r>
              <a:rPr lang="es-ES" dirty="0" err="1"/>
              <a:t>HashSet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C4DC50-F3F8-41E5-88E5-267D7FFDC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4487"/>
            <a:ext cx="8596668" cy="5049078"/>
          </a:xfrm>
        </p:spPr>
        <p:txBody>
          <a:bodyPr>
            <a:normAutofit fontScale="92500"/>
          </a:bodyPr>
          <a:lstStyle/>
          <a:p>
            <a:r>
              <a:rPr lang="es-ES" sz="2400" dirty="0"/>
              <a:t>Ésta implementación almacena los elementos en una </a:t>
            </a:r>
            <a:r>
              <a:rPr lang="es-ES" sz="2400" i="1" dirty="0">
                <a:solidFill>
                  <a:schemeClr val="accent2"/>
                </a:solidFill>
              </a:rPr>
              <a:t>tabla hash</a:t>
            </a:r>
            <a:r>
              <a:rPr lang="es-ES" sz="2400" dirty="0"/>
              <a:t>. </a:t>
            </a:r>
          </a:p>
          <a:p>
            <a:r>
              <a:rPr lang="es-ES" sz="2400" dirty="0"/>
              <a:t>No permite tener elementos duplicados.</a:t>
            </a:r>
          </a:p>
          <a:p>
            <a:r>
              <a:rPr lang="es-ES" sz="2400" dirty="0"/>
              <a:t>Es la implementación </a:t>
            </a:r>
            <a:r>
              <a:rPr lang="es-ES" sz="2400" b="1" dirty="0"/>
              <a:t>con mejor rendimiento </a:t>
            </a:r>
            <a:r>
              <a:rPr lang="es-ES" sz="2400" dirty="0"/>
              <a:t>de todas pero </a:t>
            </a:r>
            <a:r>
              <a:rPr lang="es-ES" sz="2400" i="1" dirty="0"/>
              <a:t>no garantiza ningún orden</a:t>
            </a:r>
            <a:r>
              <a:rPr lang="es-ES" sz="2400" dirty="0"/>
              <a:t> a la hora de realizar iteraciones. </a:t>
            </a:r>
          </a:p>
          <a:p>
            <a:r>
              <a:rPr lang="es-ES" sz="2400" dirty="0"/>
              <a:t>Es la implementación más empleada debido a su rendimiento y a que, generalmente, no nos importa el orden que ocupen los elementos. </a:t>
            </a:r>
          </a:p>
          <a:p>
            <a:r>
              <a:rPr lang="es-ES" sz="2400" dirty="0"/>
              <a:t>Esta implementación proporciona</a:t>
            </a:r>
            <a:r>
              <a:rPr lang="es-ES" sz="2400" b="1" dirty="0"/>
              <a:t> </a:t>
            </a:r>
            <a:r>
              <a:rPr lang="es-ES" sz="2400" b="1" i="1" dirty="0"/>
              <a:t>tiempos constantes en las operaciones básicas</a:t>
            </a:r>
            <a:r>
              <a:rPr lang="es-ES" sz="2400" dirty="0"/>
              <a:t> siempre y cuando </a:t>
            </a:r>
            <a:r>
              <a:rPr lang="es-ES" sz="2400" b="1" dirty="0"/>
              <a:t>la función hash disperse </a:t>
            </a:r>
            <a:r>
              <a:rPr lang="es-ES" sz="2400" dirty="0"/>
              <a:t>de forma correcta los elementos dentro de la tabla hash.</a:t>
            </a:r>
          </a:p>
          <a:p>
            <a:pPr marL="0" indent="0">
              <a:buNone/>
            </a:pPr>
            <a:r>
              <a:rPr lang="es-ES" sz="2400" dirty="0">
                <a:hlinkClick r:id="rId2"/>
              </a:rPr>
              <a:t>https://www.javatpoint.com/java-hashset</a:t>
            </a:r>
            <a:endParaRPr lang="es-ES" sz="2400" dirty="0"/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EFE8EA1-6FD9-4189-813F-A1AA885F4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926" y="956848"/>
            <a:ext cx="2158610" cy="494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7480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AE587-4160-46A0-BBBB-5003AF12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52192"/>
            <a:ext cx="8596668" cy="715617"/>
          </a:xfrm>
        </p:spPr>
        <p:txBody>
          <a:bodyPr/>
          <a:lstStyle/>
          <a:p>
            <a:r>
              <a:rPr lang="es-ES" dirty="0" err="1"/>
              <a:t>TreeSet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C4DC50-F3F8-41E5-88E5-267D7FFDC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970766"/>
            <a:ext cx="10690037" cy="5887233"/>
          </a:xfrm>
        </p:spPr>
        <p:txBody>
          <a:bodyPr>
            <a:normAutofit/>
          </a:bodyPr>
          <a:lstStyle/>
          <a:p>
            <a:r>
              <a:rPr lang="es-ES" sz="2800" dirty="0"/>
              <a:t>Esta implementación almacena los elementos ordenándolos en función de sus valores. </a:t>
            </a:r>
          </a:p>
          <a:p>
            <a:r>
              <a:rPr lang="es-ES" sz="2800" dirty="0"/>
              <a:t>Es bastante </a:t>
            </a:r>
            <a:r>
              <a:rPr lang="es-ES" sz="2800" b="1" dirty="0"/>
              <a:t>más lento </a:t>
            </a:r>
            <a:r>
              <a:rPr lang="es-ES" sz="2800" dirty="0"/>
              <a:t>que </a:t>
            </a:r>
            <a:r>
              <a:rPr lang="es-ES" sz="2800" dirty="0" err="1"/>
              <a:t>HashSet</a:t>
            </a:r>
            <a:r>
              <a:rPr lang="es-ES" sz="2800" dirty="0"/>
              <a:t> el proceso de </a:t>
            </a:r>
            <a:r>
              <a:rPr lang="es-ES" sz="2800" b="1" dirty="0"/>
              <a:t>inserción</a:t>
            </a:r>
            <a:r>
              <a:rPr lang="es-ES" sz="2800" dirty="0"/>
              <a:t>.</a:t>
            </a:r>
          </a:p>
          <a:p>
            <a:r>
              <a:rPr lang="es-ES" sz="2800" dirty="0"/>
              <a:t>El tiempo de acceso y recuperación es bastante rápido.</a:t>
            </a:r>
          </a:p>
          <a:p>
            <a:r>
              <a:rPr lang="es-ES" sz="2800" dirty="0"/>
              <a:t>Los elementos almacenados </a:t>
            </a:r>
            <a:r>
              <a:rPr lang="es-ES" sz="2800" b="1" dirty="0"/>
              <a:t>deben implementar la interfaz Comparable. </a:t>
            </a:r>
          </a:p>
          <a:p>
            <a:r>
              <a:rPr lang="es-ES" sz="2800" dirty="0"/>
              <a:t>Esta implementación garantiza, siempre, </a:t>
            </a:r>
            <a:r>
              <a:rPr lang="es-ES" sz="2800" b="1" dirty="0"/>
              <a:t>un rendimiento de log(N) </a:t>
            </a:r>
            <a:r>
              <a:rPr lang="es-ES" sz="2800" dirty="0"/>
              <a:t>en las operaciones básicas, debido a la estructura de árbol empleada para almacenar los elementos.</a:t>
            </a:r>
          </a:p>
          <a:p>
            <a:pPr marL="0" indent="0">
              <a:buNone/>
            </a:pPr>
            <a:r>
              <a:rPr lang="es-ES" sz="2800" dirty="0">
                <a:hlinkClick r:id="rId2"/>
              </a:rPr>
              <a:t>https://www.javatpoint.com/java-treeset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820719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AE587-4160-46A0-BBBB-5003AF12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5617"/>
          </a:xfrm>
        </p:spPr>
        <p:txBody>
          <a:bodyPr/>
          <a:lstStyle/>
          <a:p>
            <a:r>
              <a:rPr lang="es-ES" dirty="0" err="1"/>
              <a:t>TreeSet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C4DC50-F3F8-41E5-88E5-267D7FFDC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4487"/>
            <a:ext cx="8596668" cy="504907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endParaRPr lang="es-ES" sz="24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B939C70-2412-4ACF-90DF-9C85A278A185}"/>
              </a:ext>
            </a:extLst>
          </p:cNvPr>
          <p:cNvGraphicFramePr>
            <a:graphicFrameLocks noGrp="1"/>
          </p:cNvGraphicFramePr>
          <p:nvPr/>
        </p:nvGraphicFramePr>
        <p:xfrm>
          <a:off x="888519" y="1678276"/>
          <a:ext cx="7936303" cy="4289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3140">
                  <a:extLst>
                    <a:ext uri="{9D8B030D-6E8A-4147-A177-3AD203B41FA5}">
                      <a16:colId xmlns:a16="http://schemas.microsoft.com/office/drawing/2014/main" val="4100344240"/>
                    </a:ext>
                  </a:extLst>
                </a:gridCol>
                <a:gridCol w="6063163">
                  <a:extLst>
                    <a:ext uri="{9D8B030D-6E8A-4147-A177-3AD203B41FA5}">
                      <a16:colId xmlns:a16="http://schemas.microsoft.com/office/drawing/2014/main" val="290038729"/>
                    </a:ext>
                  </a:extLst>
                </a:gridCol>
              </a:tblGrid>
              <a:tr h="45244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Método</a:t>
                      </a:r>
                      <a:endParaRPr lang="es-ES" sz="12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Descripción</a:t>
                      </a:r>
                      <a:endParaRPr lang="es-ES" sz="12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8577244"/>
                  </a:ext>
                </a:extLst>
              </a:tr>
              <a:tr h="482567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boolean</a:t>
                      </a:r>
                      <a:r>
                        <a:rPr lang="es-ES" sz="11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s-ES" sz="110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add</a:t>
                      </a:r>
                      <a:r>
                        <a:rPr lang="es-ES" sz="11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(E e)</a:t>
                      </a:r>
                      <a:endParaRPr lang="es-ES" sz="11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u="none" strike="noStrike" dirty="0">
                          <a:effectLst/>
                        </a:rPr>
                        <a:t>Se utiliza para agregar el elemento especificado a este conjunto si aún no está presente.</a:t>
                      </a:r>
                      <a:endParaRPr lang="es-ES" sz="12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544212"/>
                  </a:ext>
                </a:extLst>
              </a:tr>
              <a:tr h="482567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E </a:t>
                      </a:r>
                      <a:r>
                        <a:rPr lang="es-ES" sz="110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ceiling</a:t>
                      </a:r>
                      <a:r>
                        <a:rPr lang="es-ES" sz="11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(E e)</a:t>
                      </a:r>
                      <a:endParaRPr lang="es-ES" sz="11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u="none" strike="noStrike" dirty="0">
                          <a:effectLst/>
                        </a:rPr>
                        <a:t>Devuelve el elemento mayor igual o más cercano del elemento especificado del conjunto, o nulo, no existe tal elemento.</a:t>
                      </a:r>
                      <a:endParaRPr lang="es-ES" sz="12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1068974"/>
                  </a:ext>
                </a:extLst>
              </a:tr>
              <a:tr h="459028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s-ES" sz="1100" b="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floor</a:t>
                      </a:r>
                      <a:r>
                        <a:rPr lang="es-ES" sz="1100" b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(E e)</a:t>
                      </a:r>
                      <a:endParaRPr lang="es-ES" sz="11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b="0" u="none" strike="noStrike" dirty="0">
                          <a:effectLst/>
                          <a:latin typeface="+mj-lt"/>
                          <a:cs typeface="Arial" panose="020B0604020202020204" pitchFamily="34" charset="0"/>
                        </a:rPr>
                        <a:t>Devuelve el elemento menor igual o más cercano del elemento especificado del conjunto, o nulo, no existe tal elemento.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3427737"/>
                  </a:ext>
                </a:extLst>
              </a:tr>
              <a:tr h="470798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E </a:t>
                      </a:r>
                      <a:r>
                        <a:rPr lang="es-ES" sz="110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higher</a:t>
                      </a:r>
                      <a:r>
                        <a:rPr lang="es-ES" sz="11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(E e)</a:t>
                      </a:r>
                      <a:endParaRPr lang="es-ES" sz="11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s-ES" sz="1200" u="none" strike="noStrike" dirty="0">
                          <a:effectLst/>
                        </a:rPr>
                        <a:t>Devuelve el mayor elemento más cercano del elemento especificado del conjunto, o nulo, no existe tal elemento.</a:t>
                      </a:r>
                      <a:endParaRPr lang="es-ES" sz="12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51967825"/>
                  </a:ext>
                </a:extLst>
              </a:tr>
              <a:tr h="482567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E </a:t>
                      </a:r>
                      <a:r>
                        <a:rPr lang="es-ES" sz="110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lower</a:t>
                      </a:r>
                      <a:r>
                        <a:rPr lang="es-ES" sz="11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(E e)</a:t>
                      </a:r>
                      <a:endParaRPr lang="es-ES" sz="11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u="none" strike="noStrike" dirty="0">
                          <a:effectLst/>
                        </a:rPr>
                        <a:t>Devuelve el elemento mínimo más cercano del elemento especificado del conjunto, o nulo, no existe tal elemento.</a:t>
                      </a:r>
                      <a:endParaRPr lang="es-ES" sz="12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0238792"/>
                  </a:ext>
                </a:extLst>
              </a:tr>
              <a:tr h="247169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E </a:t>
                      </a:r>
                      <a:r>
                        <a:rPr lang="es-ES" sz="110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pollFirst</a:t>
                      </a:r>
                      <a:r>
                        <a:rPr lang="es-ES" sz="11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s-ES" sz="11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u="none" strike="noStrike" dirty="0">
                          <a:effectLst/>
                        </a:rPr>
                        <a:t>Se utiliza para recuperar y eliminar el elemento más bajo (primero).</a:t>
                      </a:r>
                      <a:endParaRPr lang="es-ES" sz="12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7402948"/>
                  </a:ext>
                </a:extLst>
              </a:tr>
              <a:tr h="247169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E </a:t>
                      </a:r>
                      <a:r>
                        <a:rPr lang="es-ES" sz="110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pollLast</a:t>
                      </a:r>
                      <a:r>
                        <a:rPr lang="es-ES" sz="11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s-ES" sz="11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u="none" strike="noStrike" dirty="0">
                          <a:effectLst/>
                        </a:rPr>
                        <a:t>Se utiliza para recuperar y eliminar el elemento más alto (último).</a:t>
                      </a:r>
                      <a:endParaRPr lang="es-ES" sz="12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5804437"/>
                  </a:ext>
                </a:extLst>
              </a:tr>
              <a:tr h="482567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E </a:t>
                      </a:r>
                      <a:r>
                        <a:rPr lang="es-ES" sz="110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first</a:t>
                      </a:r>
                      <a:r>
                        <a:rPr lang="es-ES" sz="11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s-ES" sz="11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u="none" strike="noStrike" dirty="0">
                          <a:effectLst/>
                        </a:rPr>
                        <a:t>Devuelve el primer elemento (más bajo) actualmente en este conjunto ordenado.</a:t>
                      </a:r>
                      <a:endParaRPr lang="es-ES" sz="12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6472322"/>
                  </a:ext>
                </a:extLst>
              </a:tr>
              <a:tr h="482567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E </a:t>
                      </a:r>
                      <a:r>
                        <a:rPr lang="es-ES" sz="110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last</a:t>
                      </a:r>
                      <a:r>
                        <a:rPr lang="es-ES" sz="11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s-ES" sz="11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u="none" strike="noStrike" dirty="0">
                          <a:effectLst/>
                        </a:rPr>
                        <a:t>Devuelve el último elemento (más alto) actualmente en este conjunto ordenado.</a:t>
                      </a:r>
                      <a:endParaRPr lang="es-ES" sz="12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27022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7642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AE587-4160-46A0-BBBB-5003AF12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5617"/>
          </a:xfrm>
        </p:spPr>
        <p:txBody>
          <a:bodyPr/>
          <a:lstStyle/>
          <a:p>
            <a:r>
              <a:rPr lang="es-ES" dirty="0" err="1"/>
              <a:t>LinkedHashSet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C4DC50-F3F8-41E5-88E5-267D7FFDC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4487"/>
            <a:ext cx="8596668" cy="4596875"/>
          </a:xfrm>
        </p:spPr>
        <p:txBody>
          <a:bodyPr>
            <a:normAutofit/>
          </a:bodyPr>
          <a:lstStyle/>
          <a:p>
            <a:r>
              <a:rPr lang="es-ES" sz="2400" dirty="0"/>
              <a:t>Extiende de la clase </a:t>
            </a:r>
            <a:r>
              <a:rPr lang="es-ES" sz="2400" dirty="0" err="1"/>
              <a:t>HashSet</a:t>
            </a:r>
            <a:r>
              <a:rPr lang="es-ES" sz="2400" dirty="0"/>
              <a:t>.</a:t>
            </a:r>
          </a:p>
          <a:p>
            <a:r>
              <a:rPr lang="es-ES" sz="2400" dirty="0"/>
              <a:t>Contiene valores únicos.</a:t>
            </a:r>
          </a:p>
          <a:p>
            <a:r>
              <a:rPr lang="es-ES" sz="2400" dirty="0"/>
              <a:t>Esta implementación almacena los elementos en función del orden de inserción. </a:t>
            </a:r>
          </a:p>
          <a:p>
            <a:r>
              <a:rPr lang="es-ES" sz="2400" dirty="0"/>
              <a:t>Permite elementos nulos.</a:t>
            </a:r>
          </a:p>
          <a:p>
            <a:r>
              <a:rPr lang="es-ES" sz="2400" dirty="0"/>
              <a:t>Es, simplemente, un poco más costosa que </a:t>
            </a:r>
            <a:r>
              <a:rPr lang="es-ES" sz="2400" dirty="0" err="1"/>
              <a:t>HashSet</a:t>
            </a:r>
            <a:r>
              <a:rPr lang="es-ES" sz="2400" dirty="0"/>
              <a:t>.</a:t>
            </a:r>
          </a:p>
          <a:p>
            <a:pPr marL="0" indent="0">
              <a:buNone/>
            </a:pPr>
            <a:r>
              <a:rPr lang="es-ES" sz="2400" dirty="0">
                <a:hlinkClick r:id="rId2"/>
              </a:rPr>
              <a:t>https://www.javatpoint.com/java-linkedhashset</a:t>
            </a:r>
            <a:endParaRPr lang="es-ES" sz="2400" dirty="0"/>
          </a:p>
          <a:p>
            <a:pPr marL="0" indent="0">
              <a:buNone/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029527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E1B9D-0A93-4158-A668-96D8CB090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8383"/>
          </a:xfrm>
        </p:spPr>
        <p:txBody>
          <a:bodyPr/>
          <a:lstStyle/>
          <a:p>
            <a:r>
              <a:rPr lang="es-ES" dirty="0"/>
              <a:t>Interface </a:t>
            </a:r>
            <a:r>
              <a:rPr lang="es-ES" dirty="0" err="1"/>
              <a:t>Map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AE4F61-EEA7-41AF-A0F0-8173C199E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7983"/>
            <a:ext cx="8596668" cy="4623379"/>
          </a:xfrm>
        </p:spPr>
        <p:txBody>
          <a:bodyPr>
            <a:normAutofit fontScale="92500" lnSpcReduction="10000"/>
          </a:bodyPr>
          <a:lstStyle/>
          <a:p>
            <a:r>
              <a:rPr lang="es-ES" sz="2400" dirty="0"/>
              <a:t>Hemos de decir que un </a:t>
            </a:r>
            <a:r>
              <a:rPr lang="es-ES" sz="2400" dirty="0" err="1">
                <a:solidFill>
                  <a:schemeClr val="accent2"/>
                </a:solidFill>
              </a:rPr>
              <a:t>Map</a:t>
            </a:r>
            <a:r>
              <a:rPr lang="es-ES" sz="2400" dirty="0">
                <a:solidFill>
                  <a:schemeClr val="accent2"/>
                </a:solidFill>
              </a:rPr>
              <a:t> no extiende de </a:t>
            </a:r>
            <a:r>
              <a:rPr lang="es-ES" sz="2400" dirty="0" err="1">
                <a:solidFill>
                  <a:schemeClr val="accent2"/>
                </a:solidFill>
              </a:rPr>
              <a:t>Colletion</a:t>
            </a:r>
            <a:r>
              <a:rPr lang="es-ES" sz="2400" dirty="0">
                <a:solidFill>
                  <a:schemeClr val="accent2"/>
                </a:solidFill>
              </a:rPr>
              <a:t> </a:t>
            </a:r>
            <a:r>
              <a:rPr lang="es-ES" sz="2400" dirty="0"/>
              <a:t>pero </a:t>
            </a:r>
            <a:r>
              <a:rPr lang="es-ES" sz="2400" u="sng" dirty="0"/>
              <a:t>si es un tipo de Colección</a:t>
            </a:r>
            <a:r>
              <a:rPr lang="es-ES" sz="2400" dirty="0"/>
              <a:t>. </a:t>
            </a:r>
          </a:p>
          <a:p>
            <a:r>
              <a:rPr lang="es-ES" sz="2400" dirty="0"/>
              <a:t>La interfaz </a:t>
            </a:r>
            <a:r>
              <a:rPr lang="es-ES" sz="2400" b="1" dirty="0" err="1">
                <a:solidFill>
                  <a:schemeClr val="accent2"/>
                </a:solidFill>
              </a:rPr>
              <a:t>Map</a:t>
            </a:r>
            <a:r>
              <a:rPr lang="es-ES" sz="2400" b="1" dirty="0">
                <a:solidFill>
                  <a:schemeClr val="accent2"/>
                </a:solidFill>
              </a:rPr>
              <a:t> </a:t>
            </a:r>
            <a:r>
              <a:rPr lang="es-ES" sz="2400" dirty="0">
                <a:solidFill>
                  <a:schemeClr val="accent2"/>
                </a:solidFill>
              </a:rPr>
              <a:t>asocia claves a valores</a:t>
            </a:r>
            <a:r>
              <a:rPr lang="es-ES" sz="2400" dirty="0"/>
              <a:t>.</a:t>
            </a:r>
          </a:p>
          <a:p>
            <a:r>
              <a:rPr lang="es-ES" sz="2400" dirty="0"/>
              <a:t>Esta interfaz </a:t>
            </a:r>
            <a:r>
              <a:rPr lang="es-ES" sz="2400" dirty="0">
                <a:solidFill>
                  <a:schemeClr val="accent2"/>
                </a:solidFill>
              </a:rPr>
              <a:t>no puede contener claves duplicadas </a:t>
            </a:r>
            <a:r>
              <a:rPr lang="es-ES" sz="2400" dirty="0"/>
              <a:t>y, cada una de dichas </a:t>
            </a:r>
            <a:r>
              <a:rPr lang="es-ES" sz="2400" dirty="0">
                <a:solidFill>
                  <a:schemeClr val="accent2"/>
                </a:solidFill>
              </a:rPr>
              <a:t>claves</a:t>
            </a:r>
            <a:r>
              <a:rPr lang="es-ES" sz="2400" dirty="0"/>
              <a:t>, sólo puede tener </a:t>
            </a:r>
            <a:r>
              <a:rPr lang="es-ES" sz="2400" dirty="0">
                <a:solidFill>
                  <a:schemeClr val="accent2"/>
                </a:solidFill>
              </a:rPr>
              <a:t>asociado un valor como máximo. </a:t>
            </a:r>
          </a:p>
          <a:p>
            <a:r>
              <a:rPr lang="es-ES" sz="2400" dirty="0"/>
              <a:t>Un mapa es útil si tiene que </a:t>
            </a:r>
            <a:r>
              <a:rPr lang="es-ES" sz="2400" dirty="0">
                <a:solidFill>
                  <a:schemeClr val="accent2"/>
                </a:solidFill>
              </a:rPr>
              <a:t>buscar</a:t>
            </a:r>
            <a:r>
              <a:rPr lang="es-ES" sz="2400" dirty="0"/>
              <a:t>, </a:t>
            </a:r>
            <a:r>
              <a:rPr lang="es-ES" sz="2400" dirty="0">
                <a:solidFill>
                  <a:schemeClr val="accent2"/>
                </a:solidFill>
              </a:rPr>
              <a:t>actualizar</a:t>
            </a:r>
            <a:r>
              <a:rPr lang="es-ES" sz="2400" dirty="0"/>
              <a:t> o </a:t>
            </a:r>
            <a:r>
              <a:rPr lang="es-ES" sz="2400" dirty="0">
                <a:solidFill>
                  <a:schemeClr val="accent2"/>
                </a:solidFill>
              </a:rPr>
              <a:t>eliminar</a:t>
            </a:r>
            <a:r>
              <a:rPr lang="es-ES" sz="2400" dirty="0"/>
              <a:t> elementos en función de una clave</a:t>
            </a:r>
            <a:r>
              <a:rPr lang="es-ES" dirty="0"/>
              <a:t>.</a:t>
            </a:r>
          </a:p>
          <a:p>
            <a:r>
              <a:rPr lang="es-ES" sz="2400" dirty="0"/>
              <a:t>Un mapa no se puede recorrer, tal cual, por ello hemos de convertirlo en un Set</a:t>
            </a:r>
          </a:p>
          <a:p>
            <a:r>
              <a:rPr lang="es-ES" sz="2400" dirty="0">
                <a:hlinkClick r:id="rId2"/>
              </a:rPr>
              <a:t>https://www.javatpoint.com/java-map</a:t>
            </a:r>
            <a:endParaRPr lang="es-ES" sz="24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93801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B33D7-4456-4475-A52E-A3170DB62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8626"/>
          </a:xfrm>
        </p:spPr>
        <p:txBody>
          <a:bodyPr/>
          <a:lstStyle/>
          <a:p>
            <a:r>
              <a:rPr lang="es-ES" dirty="0"/>
              <a:t>Interface </a:t>
            </a:r>
            <a:r>
              <a:rPr lang="es-ES" dirty="0" err="1"/>
              <a:t>Map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8546A86-9A32-4E08-BA5A-D092E64877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4122" y="1378226"/>
            <a:ext cx="7963085" cy="4479235"/>
          </a:xfrm>
        </p:spPr>
      </p:pic>
    </p:spTree>
    <p:extLst>
      <p:ext uri="{BB962C8B-B14F-4D97-AF65-F5344CB8AC3E}">
        <p14:creationId xmlns:p14="http://schemas.microsoft.com/office/powerpoint/2010/main" val="35812456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745C9-BC3F-4331-A8E1-C12705C59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8383"/>
          </a:xfrm>
        </p:spPr>
        <p:txBody>
          <a:bodyPr/>
          <a:lstStyle/>
          <a:p>
            <a:r>
              <a:rPr lang="es-ES" dirty="0" err="1"/>
              <a:t>HashMap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F6AF0A-699D-4530-9B72-864EBD46B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7983"/>
            <a:ext cx="8596668" cy="5181600"/>
          </a:xfrm>
        </p:spPr>
        <p:txBody>
          <a:bodyPr>
            <a:normAutofit fontScale="85000" lnSpcReduction="20000"/>
          </a:bodyPr>
          <a:lstStyle/>
          <a:p>
            <a:r>
              <a:rPr lang="es-ES" sz="2400" dirty="0"/>
              <a:t>Ésta implementación </a:t>
            </a:r>
            <a:r>
              <a:rPr lang="es-ES" sz="2400" dirty="0">
                <a:solidFill>
                  <a:schemeClr val="accent2"/>
                </a:solidFill>
              </a:rPr>
              <a:t>almacena las claves en una tabla hash. </a:t>
            </a:r>
          </a:p>
          <a:p>
            <a:r>
              <a:rPr lang="es-ES" sz="2400" dirty="0"/>
              <a:t>Es la </a:t>
            </a:r>
            <a:r>
              <a:rPr lang="es-ES" sz="2400" dirty="0">
                <a:solidFill>
                  <a:schemeClr val="accent2"/>
                </a:solidFill>
              </a:rPr>
              <a:t>implementación con mejor rendimiento </a:t>
            </a:r>
            <a:r>
              <a:rPr lang="es-ES" sz="2400" dirty="0"/>
              <a:t>de todas pero no garantiza </a:t>
            </a:r>
            <a:r>
              <a:rPr lang="es-ES" sz="2400" dirty="0">
                <a:solidFill>
                  <a:schemeClr val="accent2"/>
                </a:solidFill>
              </a:rPr>
              <a:t>ningún orden a la hora de realizar iteraciones</a:t>
            </a:r>
            <a:r>
              <a:rPr lang="es-ES" sz="2400" dirty="0"/>
              <a:t>. </a:t>
            </a:r>
          </a:p>
          <a:p>
            <a:r>
              <a:rPr lang="es-ES" sz="2400" dirty="0"/>
              <a:t>Esta implementación </a:t>
            </a:r>
            <a:r>
              <a:rPr lang="es-ES" sz="2400" dirty="0">
                <a:solidFill>
                  <a:schemeClr val="accent2"/>
                </a:solidFill>
              </a:rPr>
              <a:t>proporciona tiempos constantes en las operaciones básicas</a:t>
            </a:r>
            <a:r>
              <a:rPr lang="es-ES" sz="2400" dirty="0"/>
              <a:t>, siempre y cuando la función hash disperse de forma correcta los elementos dentro de la tabla hash. </a:t>
            </a:r>
          </a:p>
          <a:p>
            <a:r>
              <a:rPr lang="es-ES" sz="2400" dirty="0"/>
              <a:t>Es </a:t>
            </a:r>
            <a:r>
              <a:rPr lang="es-ES" sz="2400" dirty="0">
                <a:solidFill>
                  <a:schemeClr val="accent2"/>
                </a:solidFill>
              </a:rPr>
              <a:t>importante definir el tamaño inicial de la tabla </a:t>
            </a:r>
            <a:r>
              <a:rPr lang="es-ES" sz="2400" dirty="0"/>
              <a:t>ya que </a:t>
            </a:r>
            <a:r>
              <a:rPr lang="es-ES" sz="2400" u="sng" dirty="0"/>
              <a:t>este tamaño marcará el rendimiento </a:t>
            </a:r>
            <a:r>
              <a:rPr lang="es-ES" sz="2400" dirty="0"/>
              <a:t>de esta implementación. </a:t>
            </a:r>
          </a:p>
          <a:p>
            <a:r>
              <a:rPr lang="es-ES" sz="2400" dirty="0"/>
              <a:t>Hemos de tener en cuenta factor de carga, es decir que pasado un límite de carga, aumentará su tamaño al doble del actual.</a:t>
            </a:r>
          </a:p>
          <a:p>
            <a:r>
              <a:rPr lang="es-ES" sz="2400" dirty="0"/>
              <a:t>Por defecto el tamaño es 16 y el factor de carga 0,75. Por lo tanto, cuando supere 12 elementos, aumenta su tamaño a 32.</a:t>
            </a:r>
          </a:p>
          <a:p>
            <a:r>
              <a:rPr lang="es-ES" sz="2400" dirty="0">
                <a:hlinkClick r:id="rId2"/>
              </a:rPr>
              <a:t>https://www.javatpoint.com/java-hashmap</a:t>
            </a:r>
            <a:endParaRPr lang="es-ES" sz="2400" dirty="0"/>
          </a:p>
          <a:p>
            <a:endParaRPr lang="es-ES" sz="24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48776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3EFF09-F7A7-4BA6-84E7-5BD87643A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77687"/>
            <a:ext cx="8596668" cy="728870"/>
          </a:xfrm>
        </p:spPr>
        <p:txBody>
          <a:bodyPr/>
          <a:lstStyle/>
          <a:p>
            <a:r>
              <a:rPr lang="es-ES" dirty="0" err="1"/>
              <a:t>Compatariva</a:t>
            </a:r>
            <a:r>
              <a:rPr lang="es-ES" dirty="0"/>
              <a:t> </a:t>
            </a:r>
            <a:r>
              <a:rPr lang="es-ES" dirty="0" err="1"/>
              <a:t>HashMap</a:t>
            </a:r>
            <a:r>
              <a:rPr lang="es-ES" dirty="0"/>
              <a:t> y </a:t>
            </a:r>
            <a:r>
              <a:rPr lang="es-ES" dirty="0" err="1"/>
              <a:t>HashTable</a:t>
            </a:r>
            <a:endParaRPr lang="es-ES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E7170832-9BEB-4691-B1FB-EB9990E9AB1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8064" y="1106557"/>
          <a:ext cx="9340780" cy="5168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390">
                  <a:extLst>
                    <a:ext uri="{9D8B030D-6E8A-4147-A177-3AD203B41FA5}">
                      <a16:colId xmlns:a16="http://schemas.microsoft.com/office/drawing/2014/main" val="505561920"/>
                    </a:ext>
                  </a:extLst>
                </a:gridCol>
                <a:gridCol w="4670390">
                  <a:extLst>
                    <a:ext uri="{9D8B030D-6E8A-4147-A177-3AD203B41FA5}">
                      <a16:colId xmlns:a16="http://schemas.microsoft.com/office/drawing/2014/main" val="3824948207"/>
                    </a:ext>
                  </a:extLst>
                </a:gridCol>
              </a:tblGrid>
              <a:tr h="412633">
                <a:tc>
                  <a:txBody>
                    <a:bodyPr/>
                    <a:lstStyle/>
                    <a:p>
                      <a:r>
                        <a:rPr lang="es-ES" dirty="0" err="1"/>
                        <a:t>HashMap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HashTable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639487"/>
                  </a:ext>
                </a:extLst>
              </a:tr>
              <a:tr h="1045106">
                <a:tc>
                  <a:txBody>
                    <a:bodyPr/>
                    <a:lstStyle/>
                    <a:p>
                      <a:pPr algn="l" fontAlgn="t"/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HashMap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no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está 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sincronizado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. No es seguro para subprocesos y no se puede compartir entre muchos subprocesos sin un código de sincronización adecuado.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Hashtable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está 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sincronizado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. Es seguro para subprocesos y se puede compartir con muchos subprocesos.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203012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fontAlgn="t"/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HashMap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permite una clave nula y múltiples valores nulos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Hashtable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no permite ninguna clave o valor nulo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140536396"/>
                  </a:ext>
                </a:extLst>
              </a:tr>
              <a:tr h="558423">
                <a:tc>
                  <a:txBody>
                    <a:bodyPr/>
                    <a:lstStyle/>
                    <a:p>
                      <a:pPr algn="l" fontAlgn="t"/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HashMap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es una 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nueva clase introducida en JDK 1.2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Hashtable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es una 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clase heredada</a:t>
                      </a:r>
                      <a:endParaRPr lang="es-ES" sz="14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654122183"/>
                  </a:ext>
                </a:extLst>
              </a:tr>
              <a:tr h="474810">
                <a:tc>
                  <a:txBody>
                    <a:bodyPr/>
                    <a:lstStyle/>
                    <a:p>
                      <a:pPr algn="l" fontAlgn="t"/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HashMap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es 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rápido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Hashtable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es 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lento</a:t>
                      </a:r>
                      <a:endParaRPr lang="es-ES" sz="14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11035805"/>
                  </a:ext>
                </a:extLst>
              </a:tr>
              <a:tr h="1066106">
                <a:tc>
                  <a:txBody>
                    <a:bodyPr/>
                    <a:lstStyle/>
                    <a:p>
                      <a:pPr algn="l" fontAlgn="t"/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Podemos hacer que el </a:t>
                      </a:r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HashMap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esté sincronizado llamando a este código</a:t>
                      </a:r>
                      <a:b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Map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m = </a:t>
                      </a:r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Collections.synchronizedMap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(</a:t>
                      </a:r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hashMap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);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Hashtable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se sincroniza internamente y no se puede desincronizar.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775668408"/>
                  </a:ext>
                </a:extLst>
              </a:tr>
              <a:tr h="556903">
                <a:tc>
                  <a:txBody>
                    <a:bodyPr/>
                    <a:lstStyle/>
                    <a:p>
                      <a:pPr algn="l" fontAlgn="t"/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HashMap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es 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recorrido por </a:t>
                      </a:r>
                      <a:r>
                        <a:rPr lang="es-ES" sz="1400" b="1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Iterator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Hashtable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es 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recorrido por </a:t>
                      </a:r>
                      <a:r>
                        <a:rPr lang="es-ES" sz="1400" b="1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Enumerator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e </a:t>
                      </a:r>
                      <a:r>
                        <a:rPr lang="es-ES" sz="1400" b="1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Iterator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372379863"/>
                  </a:ext>
                </a:extLst>
              </a:tr>
              <a:tr h="402359">
                <a:tc>
                  <a:txBody>
                    <a:bodyPr/>
                    <a:lstStyle/>
                    <a:p>
                      <a:pPr algn="l" fontAlgn="t"/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Iterator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en </a:t>
                      </a:r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HashMap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es a 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prueba de errores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El enumerador en </a:t>
                      </a:r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Hashtable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no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es 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rápido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617870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936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2013B-9EBF-46FA-8A95-B92D9A5DA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2365"/>
          </a:xfrm>
        </p:spPr>
        <p:txBody>
          <a:bodyPr/>
          <a:lstStyle/>
          <a:p>
            <a:r>
              <a:rPr lang="es-ES" dirty="0" err="1"/>
              <a:t>TreeMap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AA5746-E61F-4F04-BD4D-24B2EB5C9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4731"/>
            <a:ext cx="8596668" cy="4636632"/>
          </a:xfrm>
        </p:spPr>
        <p:txBody>
          <a:bodyPr>
            <a:normAutofit fontScale="92500"/>
          </a:bodyPr>
          <a:lstStyle/>
          <a:p>
            <a:r>
              <a:rPr lang="es-ES" sz="2400" dirty="0"/>
              <a:t>Ésta implementación </a:t>
            </a:r>
            <a:r>
              <a:rPr lang="es-ES" sz="2400" dirty="0">
                <a:solidFill>
                  <a:schemeClr val="accent2"/>
                </a:solidFill>
              </a:rPr>
              <a:t>almacena las claves ordenándolas en función de sus valores. (orden ascendente)</a:t>
            </a:r>
          </a:p>
          <a:p>
            <a:r>
              <a:rPr lang="es-ES" sz="2400" dirty="0">
                <a:solidFill>
                  <a:schemeClr val="accent2"/>
                </a:solidFill>
              </a:rPr>
              <a:t>Contiene solo elementos únicos</a:t>
            </a:r>
          </a:p>
          <a:p>
            <a:r>
              <a:rPr lang="es-ES" sz="2400" dirty="0"/>
              <a:t>Es bastante </a:t>
            </a:r>
            <a:r>
              <a:rPr lang="es-ES" sz="2400" dirty="0">
                <a:solidFill>
                  <a:schemeClr val="accent2"/>
                </a:solidFill>
              </a:rPr>
              <a:t>más lento que </a:t>
            </a:r>
            <a:r>
              <a:rPr lang="es-ES" sz="2400" dirty="0" err="1">
                <a:solidFill>
                  <a:schemeClr val="accent2"/>
                </a:solidFill>
              </a:rPr>
              <a:t>HashMap</a:t>
            </a:r>
            <a:r>
              <a:rPr lang="es-ES" sz="2400" dirty="0"/>
              <a:t>.</a:t>
            </a:r>
          </a:p>
          <a:p>
            <a:r>
              <a:rPr lang="es-ES" sz="2400" dirty="0"/>
              <a:t>Las claves almacenadas deben </a:t>
            </a:r>
            <a:r>
              <a:rPr lang="es-ES" sz="2400" dirty="0">
                <a:solidFill>
                  <a:schemeClr val="accent2"/>
                </a:solidFill>
              </a:rPr>
              <a:t>implementar la interfaz Comparable</a:t>
            </a:r>
            <a:r>
              <a:rPr lang="es-ES" sz="2400" dirty="0"/>
              <a:t>. </a:t>
            </a:r>
          </a:p>
          <a:p>
            <a:r>
              <a:rPr lang="es-ES" sz="2400" dirty="0"/>
              <a:t>Esta </a:t>
            </a:r>
            <a:r>
              <a:rPr lang="es-ES" sz="2400" dirty="0">
                <a:solidFill>
                  <a:schemeClr val="accent2"/>
                </a:solidFill>
              </a:rPr>
              <a:t>implementación garantiza, siempre, un rendimiento de log(N) en las operaciones básicas</a:t>
            </a:r>
            <a:r>
              <a:rPr lang="es-ES" sz="2400" dirty="0"/>
              <a:t>, debido a la estructura de árbol empleada para almacenar los elementos. </a:t>
            </a:r>
          </a:p>
          <a:p>
            <a:r>
              <a:rPr lang="es-ES" sz="2400" dirty="0">
                <a:hlinkClick r:id="rId2"/>
              </a:rPr>
              <a:t>https://www.javatpoint.com/java-treemap</a:t>
            </a:r>
            <a:endParaRPr lang="es-ES" sz="24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442408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F0563-3C7E-41B8-84AC-FDFC22944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5617"/>
          </a:xfrm>
        </p:spPr>
        <p:txBody>
          <a:bodyPr/>
          <a:lstStyle/>
          <a:p>
            <a:r>
              <a:rPr lang="es-ES" dirty="0" err="1"/>
              <a:t>LinkedHashMap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64D4EA-23C5-4A8C-878B-F1202E62F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7253"/>
            <a:ext cx="8596668" cy="4504110"/>
          </a:xfrm>
        </p:spPr>
        <p:txBody>
          <a:bodyPr/>
          <a:lstStyle/>
          <a:p>
            <a:r>
              <a:rPr lang="es-ES" sz="2400" dirty="0"/>
              <a:t>Contiene valores basados en la clave</a:t>
            </a:r>
          </a:p>
          <a:p>
            <a:r>
              <a:rPr lang="es-ES" sz="2400" dirty="0"/>
              <a:t>Los elementos son únicos.</a:t>
            </a:r>
          </a:p>
          <a:p>
            <a:r>
              <a:rPr lang="es-ES" sz="2400" dirty="0"/>
              <a:t>Esta implementación </a:t>
            </a:r>
            <a:r>
              <a:rPr lang="es-ES" sz="2400" dirty="0">
                <a:solidFill>
                  <a:schemeClr val="accent2"/>
                </a:solidFill>
              </a:rPr>
              <a:t>almacena las claves en función del orden de inserción</a:t>
            </a:r>
            <a:r>
              <a:rPr lang="es-ES" sz="2400" dirty="0"/>
              <a:t>.</a:t>
            </a:r>
          </a:p>
          <a:p>
            <a:r>
              <a:rPr lang="es-ES" sz="2400" dirty="0"/>
              <a:t>No está sincronizado</a:t>
            </a:r>
          </a:p>
          <a:p>
            <a:r>
              <a:rPr lang="es-ES" sz="2400" dirty="0"/>
              <a:t>Es simplemente, </a:t>
            </a:r>
            <a:r>
              <a:rPr lang="es-ES" sz="2400" dirty="0">
                <a:solidFill>
                  <a:schemeClr val="accent2"/>
                </a:solidFill>
              </a:rPr>
              <a:t>un poco más costosa que </a:t>
            </a:r>
            <a:r>
              <a:rPr lang="es-ES" sz="2400" dirty="0" err="1">
                <a:solidFill>
                  <a:schemeClr val="accent2"/>
                </a:solidFill>
              </a:rPr>
              <a:t>HashMap</a:t>
            </a:r>
            <a:r>
              <a:rPr lang="es-ES" sz="2400" dirty="0"/>
              <a:t>. </a:t>
            </a:r>
          </a:p>
          <a:p>
            <a:r>
              <a:rPr lang="es-ES" sz="2400" dirty="0">
                <a:hlinkClick r:id="rId2"/>
              </a:rPr>
              <a:t>https://www.javatpoint.com/java-linkedhashmap</a:t>
            </a:r>
            <a:endParaRPr lang="es-ES" sz="24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16519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9;p17">
            <a:extLst>
              <a:ext uri="{FF2B5EF4-FFF2-40B4-BE49-F238E27FC236}">
                <a16:creationId xmlns:a16="http://schemas.microsoft.com/office/drawing/2014/main" id="{1EAC2884-618A-012F-FCCC-CE4DE391A8A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0664" y="369518"/>
            <a:ext cx="9914350" cy="63506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58805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01F5C-79B0-47C8-8245-D89AAE75D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8626"/>
          </a:xfrm>
        </p:spPr>
        <p:txBody>
          <a:bodyPr/>
          <a:lstStyle/>
          <a:p>
            <a:r>
              <a:rPr lang="es-ES" dirty="0"/>
              <a:t>Referencias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688034-558A-4B11-8F47-89B129F8A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8227"/>
            <a:ext cx="10626770" cy="4663136"/>
          </a:xfrm>
        </p:spPr>
        <p:txBody>
          <a:bodyPr>
            <a:normAutofit fontScale="85000" lnSpcReduction="20000"/>
          </a:bodyPr>
          <a:lstStyle/>
          <a:p>
            <a:r>
              <a:rPr lang="es-ES" dirty="0" err="1"/>
              <a:t>API’s</a:t>
            </a:r>
            <a:r>
              <a:rPr lang="es-ES" dirty="0"/>
              <a:t>:</a:t>
            </a:r>
          </a:p>
          <a:p>
            <a:r>
              <a:rPr lang="es-ES"/>
              <a:t>Collection</a:t>
            </a:r>
            <a:r>
              <a:rPr lang="es-ES" dirty="0"/>
              <a:t>: </a:t>
            </a:r>
            <a:r>
              <a:rPr lang="es-ES" dirty="0">
                <a:hlinkClick r:id="rId2"/>
              </a:rPr>
              <a:t>https://docs.oracle.com/javase/8/docs/api/java/util/Collection.html</a:t>
            </a:r>
            <a:endParaRPr lang="es-ES" dirty="0"/>
          </a:p>
          <a:p>
            <a:r>
              <a:rPr lang="es-ES" dirty="0" err="1"/>
              <a:t>List</a:t>
            </a:r>
            <a:r>
              <a:rPr lang="es-ES" dirty="0"/>
              <a:t>: </a:t>
            </a:r>
            <a:r>
              <a:rPr lang="es-ES" dirty="0">
                <a:hlinkClick r:id="rId3"/>
              </a:rPr>
              <a:t>https://docs.oracle.com/javase/8/docs/api/java/util/List.html</a:t>
            </a:r>
            <a:endParaRPr lang="es-ES" dirty="0"/>
          </a:p>
          <a:p>
            <a:r>
              <a:rPr lang="es-ES" dirty="0"/>
              <a:t>Set: </a:t>
            </a:r>
            <a:r>
              <a:rPr lang="es-ES" dirty="0">
                <a:hlinkClick r:id="rId4"/>
              </a:rPr>
              <a:t>https://docs.oracle.com/javase/9/docs/api/java/util/Set.html</a:t>
            </a:r>
            <a:endParaRPr lang="es-ES" dirty="0"/>
          </a:p>
          <a:p>
            <a:r>
              <a:rPr lang="es-ES" dirty="0" err="1"/>
              <a:t>Queue</a:t>
            </a:r>
            <a:r>
              <a:rPr lang="es-ES" dirty="0"/>
              <a:t>: </a:t>
            </a:r>
            <a:r>
              <a:rPr lang="es-ES" dirty="0">
                <a:hlinkClick r:id="rId5"/>
              </a:rPr>
              <a:t>https://docs.oracle.com/javase/7/docs/api/java/util/Queue.html</a:t>
            </a:r>
            <a:endParaRPr lang="es-ES" dirty="0"/>
          </a:p>
          <a:p>
            <a:r>
              <a:rPr lang="es-ES" dirty="0" err="1"/>
              <a:t>Arraylist</a:t>
            </a:r>
            <a:r>
              <a:rPr lang="es-ES" dirty="0"/>
              <a:t>: </a:t>
            </a:r>
            <a:r>
              <a:rPr lang="es-ES" dirty="0">
                <a:hlinkClick r:id="rId6"/>
              </a:rPr>
              <a:t>https://docs.oracle.com/javase/8/docs/api/java/util/ArrayList.html</a:t>
            </a:r>
            <a:endParaRPr lang="es-ES" dirty="0"/>
          </a:p>
          <a:p>
            <a:r>
              <a:rPr lang="es-ES" dirty="0" err="1"/>
              <a:t>LinkedList</a:t>
            </a:r>
            <a:r>
              <a:rPr lang="es-ES" dirty="0"/>
              <a:t>: </a:t>
            </a:r>
            <a:r>
              <a:rPr lang="es-ES" dirty="0">
                <a:hlinkClick r:id="rId7"/>
              </a:rPr>
              <a:t>https://docs.oracle.com/javase/7/docs/api/java/util/LinkedList.html</a:t>
            </a:r>
            <a:endParaRPr lang="es-ES" dirty="0"/>
          </a:p>
          <a:p>
            <a:r>
              <a:rPr lang="es-ES" dirty="0" err="1"/>
              <a:t>PriorityQueue</a:t>
            </a:r>
            <a:r>
              <a:rPr lang="es-ES" dirty="0"/>
              <a:t>: </a:t>
            </a:r>
            <a:r>
              <a:rPr lang="es-ES" dirty="0">
                <a:hlinkClick r:id="rId8"/>
              </a:rPr>
              <a:t>https://docs.oracle.com/en/java/javase/11/docs/api/java.base/java/util/PriorityQueue.html</a:t>
            </a:r>
            <a:endParaRPr lang="es-ES" dirty="0"/>
          </a:p>
          <a:p>
            <a:r>
              <a:rPr lang="es-ES" dirty="0" err="1"/>
              <a:t>HashSet</a:t>
            </a:r>
            <a:r>
              <a:rPr lang="es-ES" dirty="0"/>
              <a:t>: </a:t>
            </a:r>
            <a:r>
              <a:rPr lang="es-ES" dirty="0">
                <a:hlinkClick r:id="rId9"/>
              </a:rPr>
              <a:t>https://docs.oracle.com/en/java/javase/11/docs/api/java.base/java/util/HashSet.html</a:t>
            </a:r>
            <a:endParaRPr lang="es-ES" dirty="0"/>
          </a:p>
          <a:p>
            <a:r>
              <a:rPr lang="es-ES" dirty="0" err="1"/>
              <a:t>TreeSet</a:t>
            </a:r>
            <a:r>
              <a:rPr lang="es-ES" dirty="0"/>
              <a:t>: </a:t>
            </a:r>
            <a:r>
              <a:rPr lang="es-ES" dirty="0">
                <a:hlinkClick r:id="rId10"/>
              </a:rPr>
              <a:t>https://docs.oracle.com/en/java/javase/11/docs/api/java.base/java/util/TreeSet.html</a:t>
            </a: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18373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Personalizado 1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1C6294"/>
      </a:hlink>
      <a:folHlink>
        <a:srgbClr val="FF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2791</TotalTime>
  <Words>2715</Words>
  <Application>Microsoft Office PowerPoint</Application>
  <PresentationFormat>Panorámica</PresentationFormat>
  <Paragraphs>245</Paragraphs>
  <Slides>37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verdana</vt:lpstr>
      <vt:lpstr>Wingdings</vt:lpstr>
      <vt:lpstr>Circuito</vt:lpstr>
      <vt:lpstr>Estructuras dinámicas</vt:lpstr>
      <vt:lpstr>Definición </vt:lpstr>
      <vt:lpstr>Estructuras dinámicas</vt:lpstr>
      <vt:lpstr>Listas</vt:lpstr>
      <vt:lpstr>COLAS</vt:lpstr>
      <vt:lpstr>Pila</vt:lpstr>
      <vt:lpstr>árbol</vt:lpstr>
      <vt:lpstr>árbol</vt:lpstr>
      <vt:lpstr>Estructuras dinámicas en JAVA</vt:lpstr>
      <vt:lpstr>Presentación de PowerPoint</vt:lpstr>
      <vt:lpstr>Interface Collection (Operaciones)</vt:lpstr>
      <vt:lpstr>Interfaces que extienden de Collection</vt:lpstr>
      <vt:lpstr>Interface List</vt:lpstr>
      <vt:lpstr>Interface List</vt:lpstr>
      <vt:lpstr>ArrayList</vt:lpstr>
      <vt:lpstr>LinkedList</vt:lpstr>
      <vt:lpstr>ArrayList vs LinkedList</vt:lpstr>
      <vt:lpstr>Interface Queue</vt:lpstr>
      <vt:lpstr>Interface Queue</vt:lpstr>
      <vt:lpstr>PriorityQueue</vt:lpstr>
      <vt:lpstr>Interface Comparable</vt:lpstr>
      <vt:lpstr>Ejemplo Comparable</vt:lpstr>
      <vt:lpstr>Interface Set</vt:lpstr>
      <vt:lpstr>equals() y hashCode()</vt:lpstr>
      <vt:lpstr>Interface Set</vt:lpstr>
      <vt:lpstr>HashSet</vt:lpstr>
      <vt:lpstr>TreeSet</vt:lpstr>
      <vt:lpstr>TreeSet</vt:lpstr>
      <vt:lpstr>LinkedHashSet</vt:lpstr>
      <vt:lpstr>Interface Map</vt:lpstr>
      <vt:lpstr>Interface Map</vt:lpstr>
      <vt:lpstr>HashMap</vt:lpstr>
      <vt:lpstr>Compatariva HashMap y HashTable</vt:lpstr>
      <vt:lpstr>TreeMap</vt:lpstr>
      <vt:lpstr>LinkedHashMap</vt:lpstr>
      <vt:lpstr>Presentación de PowerPoint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programación</dc:title>
  <dc:creator>SChiesa</dc:creator>
  <cp:lastModifiedBy>S Chiesa</cp:lastModifiedBy>
  <cp:revision>53</cp:revision>
  <dcterms:created xsi:type="dcterms:W3CDTF">2022-09-10T09:06:03Z</dcterms:created>
  <dcterms:modified xsi:type="dcterms:W3CDTF">2023-02-27T11:30:48Z</dcterms:modified>
</cp:coreProperties>
</file>