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EA851865-6A2E-4E15-965B-7BD9BEB27286}">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EC63E5-E612-4798-83B5-FEE8583B8D85}" type="datetimeFigureOut">
              <a:rPr lang="es-ES" smtClean="0"/>
              <a:t>30/01/2023</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77B384-FB42-438C-97CA-E8E772628748}" type="slidenum">
              <a:rPr lang="es-ES" smtClean="0"/>
              <a:t>‹Nº›</a:t>
            </a:fld>
            <a:endParaRPr lang="es-ES" dirty="0"/>
          </a:p>
        </p:txBody>
      </p:sp>
    </p:spTree>
    <p:extLst>
      <p:ext uri="{BB962C8B-B14F-4D97-AF65-F5344CB8AC3E}">
        <p14:creationId xmlns:p14="http://schemas.microsoft.com/office/powerpoint/2010/main" val="2950923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0E0D341-7D63-4718-93BC-7EE0D41121A0}" type="datetimeFigureOut">
              <a:rPr lang="es-ES" smtClean="0"/>
              <a:t>30/01/2023</a:t>
            </a:fld>
            <a:endParaRPr lang="es-ES" dirty="0"/>
          </a:p>
        </p:txBody>
      </p:sp>
      <p:sp>
        <p:nvSpPr>
          <p:cNvPr id="5" name="Footer Placeholder 4"/>
          <p:cNvSpPr>
            <a:spLocks noGrp="1"/>
          </p:cNvSpPr>
          <p:nvPr>
            <p:ph type="ftr" sz="quarter" idx="11"/>
          </p:nvPr>
        </p:nvSpPr>
        <p:spPr>
          <a:xfrm>
            <a:off x="1876424" y="5410201"/>
            <a:ext cx="5124886" cy="365125"/>
          </a:xfrm>
        </p:spPr>
        <p:txBody>
          <a:bodyPr/>
          <a:lstStyle/>
          <a:p>
            <a:endParaRPr lang="es-ES" dirty="0"/>
          </a:p>
        </p:txBody>
      </p:sp>
      <p:sp>
        <p:nvSpPr>
          <p:cNvPr id="6" name="Slide Number Placeholder 5"/>
          <p:cNvSpPr>
            <a:spLocks noGrp="1"/>
          </p:cNvSpPr>
          <p:nvPr>
            <p:ph type="sldNum" sz="quarter" idx="12"/>
          </p:nvPr>
        </p:nvSpPr>
        <p:spPr>
          <a:xfrm>
            <a:off x="9896911" y="5410199"/>
            <a:ext cx="771089" cy="365125"/>
          </a:xfrm>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4183177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141413" y="52753"/>
            <a:ext cx="9905998" cy="627185"/>
          </a:xfrm>
        </p:spPr>
        <p:txBody>
          <a:bodyPr/>
          <a:lstStyle/>
          <a:p>
            <a:r>
              <a:rPr lang="es-ES" dirty="0"/>
              <a:t>Haga clic para modificar el estilo de título del patrón</a:t>
            </a:r>
            <a:endParaRPr lang="en-US" dirty="0"/>
          </a:p>
        </p:txBody>
      </p:sp>
      <p:sp>
        <p:nvSpPr>
          <p:cNvPr id="3" name="Content Placeholder 2"/>
          <p:cNvSpPr>
            <a:spLocks noGrp="1"/>
          </p:cNvSpPr>
          <p:nvPr>
            <p:ph idx="1"/>
          </p:nvPr>
        </p:nvSpPr>
        <p:spPr>
          <a:xfrm>
            <a:off x="1141412" y="762000"/>
            <a:ext cx="9905999" cy="5678122"/>
          </a:xfrm>
        </p:spPr>
        <p:txBody>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10"/>
          </p:nvPr>
        </p:nvSpPr>
        <p:spPr>
          <a:xfrm>
            <a:off x="7322105" y="6440122"/>
            <a:ext cx="2743200" cy="365125"/>
          </a:xfrm>
        </p:spPr>
        <p:txBody>
          <a:bodyPr/>
          <a:lstStyle/>
          <a:p>
            <a:fld id="{B0E0D341-7D63-4718-93BC-7EE0D41121A0}" type="datetimeFigureOut">
              <a:rPr lang="es-ES" smtClean="0"/>
              <a:t>30/01/2023</a:t>
            </a:fld>
            <a:endParaRPr lang="es-ES" dirty="0"/>
          </a:p>
        </p:txBody>
      </p:sp>
      <p:sp>
        <p:nvSpPr>
          <p:cNvPr id="5" name="Footer Placeholder 4"/>
          <p:cNvSpPr>
            <a:spLocks noGrp="1"/>
          </p:cNvSpPr>
          <p:nvPr>
            <p:ph type="ftr" sz="quarter" idx="11"/>
          </p:nvPr>
        </p:nvSpPr>
        <p:spPr>
          <a:xfrm>
            <a:off x="983149" y="6440122"/>
            <a:ext cx="6239309" cy="365125"/>
          </a:xfrm>
        </p:spPr>
        <p:txBody>
          <a:bodyPr/>
          <a:lstStyle/>
          <a:p>
            <a:endParaRPr lang="es-ES" dirty="0"/>
          </a:p>
        </p:txBody>
      </p:sp>
      <p:sp>
        <p:nvSpPr>
          <p:cNvPr id="6" name="Slide Number Placeholder 5"/>
          <p:cNvSpPr>
            <a:spLocks noGrp="1"/>
          </p:cNvSpPr>
          <p:nvPr>
            <p:ph type="sldNum" sz="quarter" idx="12"/>
          </p:nvPr>
        </p:nvSpPr>
        <p:spPr>
          <a:xfrm>
            <a:off x="10264598" y="6482007"/>
            <a:ext cx="771089" cy="365125"/>
          </a:xfrm>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3969082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2267542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419446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8" name="Footer Placeholder 7"/>
          <p:cNvSpPr>
            <a:spLocks noGrp="1"/>
          </p:cNvSpPr>
          <p:nvPr>
            <p:ph type="ftr" sz="quarter" idx="11"/>
          </p:nvPr>
        </p:nvSpPr>
        <p:spPr/>
        <p:txBody>
          <a:bodyPr/>
          <a:lstStyle/>
          <a:p>
            <a:endParaRPr lang="es-ES" dirty="0"/>
          </a:p>
        </p:txBody>
      </p:sp>
      <p:sp>
        <p:nvSpPr>
          <p:cNvPr id="9" name="Slide Number Placeholder 8"/>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1301135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340219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2494915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181889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2521703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dirty="0"/>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728263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699557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343563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813496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1607423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27509999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326792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0E0D341-7D63-4718-93BC-7EE0D41121A0}" type="datetimeFigureOut">
              <a:rPr lang="es-ES" smtClean="0"/>
              <a:t>30/01/2023</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DC4EAC2B-6F96-448F-AFA3-1917236365EF}" type="slidenum">
              <a:rPr lang="es-ES" smtClean="0"/>
              <a:t>‹Nº›</a:t>
            </a:fld>
            <a:endParaRPr lang="es-ES" dirty="0"/>
          </a:p>
        </p:txBody>
      </p:sp>
    </p:spTree>
    <p:extLst>
      <p:ext uri="{BB962C8B-B14F-4D97-AF65-F5344CB8AC3E}">
        <p14:creationId xmlns:p14="http://schemas.microsoft.com/office/powerpoint/2010/main" val="3570264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0E0D341-7D63-4718-93BC-7EE0D41121A0}" type="datetimeFigureOut">
              <a:rPr lang="es-ES" smtClean="0"/>
              <a:t>30/01/2023</a:t>
            </a:fld>
            <a:endParaRPr lang="es-E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E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C4EAC2B-6F96-448F-AFA3-1917236365EF}" type="slidenum">
              <a:rPr lang="es-ES" smtClean="0"/>
              <a:t>‹Nº›</a:t>
            </a:fld>
            <a:endParaRPr lang="es-ES" dirty="0"/>
          </a:p>
        </p:txBody>
      </p:sp>
    </p:spTree>
    <p:extLst>
      <p:ext uri="{BB962C8B-B14F-4D97-AF65-F5344CB8AC3E}">
        <p14:creationId xmlns:p14="http://schemas.microsoft.com/office/powerpoint/2010/main" val="113464430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7F8FD9-B607-0741-7085-1F122FA01320}"/>
              </a:ext>
            </a:extLst>
          </p:cNvPr>
          <p:cNvSpPr>
            <a:spLocks noGrp="1"/>
          </p:cNvSpPr>
          <p:nvPr>
            <p:ph type="ctrTitle"/>
          </p:nvPr>
        </p:nvSpPr>
        <p:spPr>
          <a:xfrm>
            <a:off x="1876424" y="1122363"/>
            <a:ext cx="9867341" cy="2387600"/>
          </a:xfrm>
        </p:spPr>
        <p:txBody>
          <a:bodyPr/>
          <a:lstStyle/>
          <a:p>
            <a:r>
              <a:rPr lang="es-ES" dirty="0"/>
              <a:t>Clases abstractas, polimorfismo e interfaces</a:t>
            </a:r>
          </a:p>
        </p:txBody>
      </p:sp>
      <p:sp>
        <p:nvSpPr>
          <p:cNvPr id="3" name="Subtítulo 2">
            <a:extLst>
              <a:ext uri="{FF2B5EF4-FFF2-40B4-BE49-F238E27FC236}">
                <a16:creationId xmlns:a16="http://schemas.microsoft.com/office/drawing/2014/main" id="{FCA8AE28-4B06-3AF7-6438-0933E99DBB4F}"/>
              </a:ext>
            </a:extLst>
          </p:cNvPr>
          <p:cNvSpPr>
            <a:spLocks noGrp="1"/>
          </p:cNvSpPr>
          <p:nvPr>
            <p:ph type="subTitle" idx="1"/>
          </p:nvPr>
        </p:nvSpPr>
        <p:spPr/>
        <p:txBody>
          <a:bodyPr/>
          <a:lstStyle/>
          <a:p>
            <a:r>
              <a:rPr lang="es-ES" dirty="0"/>
              <a:t>IES Rosa </a:t>
            </a:r>
            <a:r>
              <a:rPr lang="es-ES" dirty="0" err="1"/>
              <a:t>chacel</a:t>
            </a:r>
            <a:endParaRPr lang="es-ES" dirty="0"/>
          </a:p>
        </p:txBody>
      </p:sp>
    </p:spTree>
    <p:extLst>
      <p:ext uri="{BB962C8B-B14F-4D97-AF65-F5344CB8AC3E}">
        <p14:creationId xmlns:p14="http://schemas.microsoft.com/office/powerpoint/2010/main" val="2234276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88884C-5AE1-9B6C-3CFF-A5AE08670790}"/>
              </a:ext>
            </a:extLst>
          </p:cNvPr>
          <p:cNvSpPr>
            <a:spLocks noGrp="1"/>
          </p:cNvSpPr>
          <p:nvPr>
            <p:ph type="title"/>
          </p:nvPr>
        </p:nvSpPr>
        <p:spPr/>
        <p:txBody>
          <a:bodyPr/>
          <a:lstStyle/>
          <a:p>
            <a:r>
              <a:rPr lang="es-ES" dirty="0"/>
              <a:t>Clases abstractas</a:t>
            </a:r>
          </a:p>
        </p:txBody>
      </p:sp>
      <p:sp>
        <p:nvSpPr>
          <p:cNvPr id="3" name="Marcador de contenido 2">
            <a:extLst>
              <a:ext uri="{FF2B5EF4-FFF2-40B4-BE49-F238E27FC236}">
                <a16:creationId xmlns:a16="http://schemas.microsoft.com/office/drawing/2014/main" id="{B93FC92B-5CA6-C1EE-B824-D6D3EFDF640D}"/>
              </a:ext>
            </a:extLst>
          </p:cNvPr>
          <p:cNvSpPr>
            <a:spLocks noGrp="1"/>
          </p:cNvSpPr>
          <p:nvPr>
            <p:ph idx="1"/>
          </p:nvPr>
        </p:nvSpPr>
        <p:spPr/>
        <p:txBody>
          <a:bodyPr>
            <a:normAutofit fontScale="92500" lnSpcReduction="10000"/>
          </a:bodyPr>
          <a:lstStyle/>
          <a:p>
            <a:r>
              <a:rPr lang="es-ES" sz="3200" dirty="0"/>
              <a:t>A veces hay clases que definen un concepto genérico con unas características y métodos que no se pueden concretar directamente. Por ejemplo:</a:t>
            </a:r>
          </a:p>
          <a:p>
            <a:pPr lvl="1"/>
            <a:r>
              <a:rPr lang="es-ES" sz="2800" dirty="0"/>
              <a:t>Una figura geométrica tiene sentido que tenga un método para calcular su perímetro y su área. Pero como se calculan estos, depende de la figura geométrica concreta.</a:t>
            </a:r>
          </a:p>
          <a:p>
            <a:pPr lvl="1"/>
            <a:r>
              <a:rPr lang="es-ES" sz="2800" dirty="0"/>
              <a:t>Un vehículo tendrá la capacidad de moverse, pero como lo hace dependerá del vehículo concreto (barco, avión, tren…)</a:t>
            </a:r>
          </a:p>
          <a:p>
            <a:endParaRPr lang="es-ES" sz="3200" dirty="0"/>
          </a:p>
          <a:p>
            <a:r>
              <a:rPr lang="es-ES" sz="3200" dirty="0"/>
              <a:t>Un clase abstracta puede declarar, además de métodos normales, también </a:t>
            </a:r>
            <a:r>
              <a:rPr lang="es-ES" sz="3200" b="1" dirty="0"/>
              <a:t>métodos abstractos.</a:t>
            </a:r>
          </a:p>
        </p:txBody>
      </p:sp>
    </p:spTree>
    <p:extLst>
      <p:ext uri="{BB962C8B-B14F-4D97-AF65-F5344CB8AC3E}">
        <p14:creationId xmlns:p14="http://schemas.microsoft.com/office/powerpoint/2010/main" val="2115305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E6C2C7-C1E2-A85A-23EA-E4FD4084A767}"/>
              </a:ext>
            </a:extLst>
          </p:cNvPr>
          <p:cNvSpPr>
            <a:spLocks noGrp="1"/>
          </p:cNvSpPr>
          <p:nvPr>
            <p:ph type="title"/>
          </p:nvPr>
        </p:nvSpPr>
        <p:spPr/>
        <p:txBody>
          <a:bodyPr/>
          <a:lstStyle/>
          <a:p>
            <a:r>
              <a:rPr lang="es-ES" dirty="0"/>
              <a:t>Métodos abstractos</a:t>
            </a:r>
          </a:p>
        </p:txBody>
      </p:sp>
      <p:sp>
        <p:nvSpPr>
          <p:cNvPr id="3" name="Marcador de contenido 2">
            <a:extLst>
              <a:ext uri="{FF2B5EF4-FFF2-40B4-BE49-F238E27FC236}">
                <a16:creationId xmlns:a16="http://schemas.microsoft.com/office/drawing/2014/main" id="{03045530-68C3-6129-7D7D-1F4A325CB059}"/>
              </a:ext>
            </a:extLst>
          </p:cNvPr>
          <p:cNvSpPr>
            <a:spLocks noGrp="1"/>
          </p:cNvSpPr>
          <p:nvPr>
            <p:ph idx="1"/>
          </p:nvPr>
        </p:nvSpPr>
        <p:spPr>
          <a:xfrm>
            <a:off x="645460" y="762000"/>
            <a:ext cx="10910046" cy="5678122"/>
          </a:xfrm>
        </p:spPr>
        <p:txBody>
          <a:bodyPr>
            <a:normAutofit fontScale="92500" lnSpcReduction="10000"/>
          </a:bodyPr>
          <a:lstStyle/>
          <a:p>
            <a:r>
              <a:rPr lang="es-ES" sz="3000" dirty="0"/>
              <a:t>Un método abstracto es aquel que no tiene más que la definición del mismo, sin su implementación (lo que iría entre las llaves{}):</a:t>
            </a:r>
          </a:p>
          <a:p>
            <a:pPr lvl="1"/>
            <a:endParaRPr lang="es-ES" sz="2600" dirty="0"/>
          </a:p>
          <a:p>
            <a:pPr lvl="1"/>
            <a:r>
              <a:rPr lang="es-ES" sz="3900" dirty="0" err="1"/>
              <a:t>public</a:t>
            </a:r>
            <a:r>
              <a:rPr lang="es-ES" sz="3900" dirty="0"/>
              <a:t> </a:t>
            </a:r>
            <a:r>
              <a:rPr lang="es-ES" sz="3900" dirty="0" err="1"/>
              <a:t>abstract</a:t>
            </a:r>
            <a:r>
              <a:rPr lang="es-ES" sz="3900" dirty="0"/>
              <a:t> </a:t>
            </a:r>
            <a:r>
              <a:rPr lang="es-ES" sz="3900" dirty="0" err="1"/>
              <a:t>int</a:t>
            </a:r>
            <a:r>
              <a:rPr lang="es-ES" sz="3900" dirty="0"/>
              <a:t> </a:t>
            </a:r>
            <a:r>
              <a:rPr lang="es-ES" sz="3900" dirty="0" err="1"/>
              <a:t>métodoAbstracto</a:t>
            </a:r>
            <a:r>
              <a:rPr lang="es-ES" sz="3900" dirty="0"/>
              <a:t>(Tipo1 param1);</a:t>
            </a:r>
          </a:p>
          <a:p>
            <a:endParaRPr lang="es-ES" sz="3000" dirty="0"/>
          </a:p>
          <a:p>
            <a:r>
              <a:rPr lang="es-ES" sz="3000" dirty="0"/>
              <a:t>Un método abstracto debe ser </a:t>
            </a:r>
            <a:r>
              <a:rPr lang="es-ES" sz="3000" b="1" dirty="0"/>
              <a:t>obligatoriamente</a:t>
            </a:r>
            <a:r>
              <a:rPr lang="es-ES" sz="3000" dirty="0"/>
              <a:t>  redefinido en las </a:t>
            </a:r>
            <a:r>
              <a:rPr lang="es-ES" sz="3000" b="1" dirty="0"/>
              <a:t>subclases</a:t>
            </a:r>
            <a:r>
              <a:rPr lang="es-ES" sz="3000" dirty="0"/>
              <a:t> no abstractas.</a:t>
            </a:r>
          </a:p>
          <a:p>
            <a:r>
              <a:rPr lang="es-ES" sz="3000" dirty="0"/>
              <a:t>Permiten declarar en la superclase un comportamiento que deberán cumplimentar todas sus subclases, pero sin decir nada sobre su implementación.</a:t>
            </a:r>
          </a:p>
          <a:p>
            <a:endParaRPr lang="es-ES" dirty="0"/>
          </a:p>
        </p:txBody>
      </p:sp>
    </p:spTree>
    <p:extLst>
      <p:ext uri="{BB962C8B-B14F-4D97-AF65-F5344CB8AC3E}">
        <p14:creationId xmlns:p14="http://schemas.microsoft.com/office/powerpoint/2010/main" val="3033894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CBF39B-4D46-972F-3F80-361425929CD4}"/>
              </a:ext>
            </a:extLst>
          </p:cNvPr>
          <p:cNvSpPr>
            <a:spLocks noGrp="1"/>
          </p:cNvSpPr>
          <p:nvPr>
            <p:ph type="title"/>
          </p:nvPr>
        </p:nvSpPr>
        <p:spPr/>
        <p:txBody>
          <a:bodyPr/>
          <a:lstStyle/>
          <a:p>
            <a:r>
              <a:rPr lang="es-ES" dirty="0"/>
              <a:t>UML: diagrama de clases</a:t>
            </a:r>
          </a:p>
        </p:txBody>
      </p:sp>
      <p:pic>
        <p:nvPicPr>
          <p:cNvPr id="5" name="Imagen 4">
            <a:extLst>
              <a:ext uri="{FF2B5EF4-FFF2-40B4-BE49-F238E27FC236}">
                <a16:creationId xmlns:a16="http://schemas.microsoft.com/office/drawing/2014/main" id="{F53A82B3-F463-4AFF-88AC-9DCE482BE2B9}"/>
              </a:ext>
            </a:extLst>
          </p:cNvPr>
          <p:cNvPicPr>
            <a:picLocks noChangeAspect="1"/>
          </p:cNvPicPr>
          <p:nvPr/>
        </p:nvPicPr>
        <p:blipFill>
          <a:blip r:embed="rId2"/>
          <a:stretch>
            <a:fillRect/>
          </a:stretch>
        </p:blipFill>
        <p:spPr>
          <a:xfrm>
            <a:off x="130334" y="2043480"/>
            <a:ext cx="11931332" cy="3231635"/>
          </a:xfrm>
          <a:prstGeom prst="rect">
            <a:avLst/>
          </a:prstGeom>
        </p:spPr>
      </p:pic>
    </p:spTree>
    <p:extLst>
      <p:ext uri="{BB962C8B-B14F-4D97-AF65-F5344CB8AC3E}">
        <p14:creationId xmlns:p14="http://schemas.microsoft.com/office/powerpoint/2010/main" val="775211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BC4B49-5EA4-4741-9C9B-48A23870191F}"/>
              </a:ext>
            </a:extLst>
          </p:cNvPr>
          <p:cNvSpPr>
            <a:spLocks noGrp="1"/>
          </p:cNvSpPr>
          <p:nvPr>
            <p:ph type="title"/>
          </p:nvPr>
        </p:nvSpPr>
        <p:spPr/>
        <p:txBody>
          <a:bodyPr/>
          <a:lstStyle/>
          <a:p>
            <a:r>
              <a:rPr lang="es-ES" dirty="0"/>
              <a:t>Clases abstractas</a:t>
            </a:r>
          </a:p>
        </p:txBody>
      </p:sp>
      <p:sp>
        <p:nvSpPr>
          <p:cNvPr id="3" name="Marcador de contenido 2">
            <a:extLst>
              <a:ext uri="{FF2B5EF4-FFF2-40B4-BE49-F238E27FC236}">
                <a16:creationId xmlns:a16="http://schemas.microsoft.com/office/drawing/2014/main" id="{81C57AE4-6922-DAAA-5864-07F011AF2CA4}"/>
              </a:ext>
            </a:extLst>
          </p:cNvPr>
          <p:cNvSpPr>
            <a:spLocks noGrp="1"/>
          </p:cNvSpPr>
          <p:nvPr>
            <p:ph idx="1"/>
          </p:nvPr>
        </p:nvSpPr>
        <p:spPr>
          <a:xfrm>
            <a:off x="610906" y="789431"/>
            <a:ext cx="5835614" cy="6015815"/>
          </a:xfrm>
        </p:spPr>
        <p:txBody>
          <a:bodyPr>
            <a:normAutofit fontScale="85000" lnSpcReduction="10000"/>
          </a:bodyPr>
          <a:lstStyle/>
          <a:p>
            <a:r>
              <a:rPr lang="es-ES" sz="4000" b="1" dirty="0"/>
              <a:t>No se pueden instanciar clases abstractas</a:t>
            </a:r>
          </a:p>
          <a:p>
            <a:r>
              <a:rPr lang="es-ES" sz="4000" dirty="0"/>
              <a:t>Se pueden instanciar clases heredadas, siempre que no sean abstractas a su vez.</a:t>
            </a:r>
          </a:p>
          <a:p>
            <a:r>
              <a:rPr lang="es-ES" sz="4000" dirty="0"/>
              <a:t>Se pueden instanciar subclases utilizando la referencia a la clase padre. Por ejemplo:</a:t>
            </a:r>
          </a:p>
          <a:p>
            <a:pPr lvl="1"/>
            <a:r>
              <a:rPr lang="es-ES" sz="3800" dirty="0"/>
              <a:t>Figura f= new </a:t>
            </a:r>
            <a:r>
              <a:rPr lang="es-ES" sz="3800" dirty="0" err="1"/>
              <a:t>Rectangulo</a:t>
            </a:r>
            <a:r>
              <a:rPr lang="es-ES" sz="3800" dirty="0"/>
              <a:t>();</a:t>
            </a:r>
          </a:p>
          <a:p>
            <a:endParaRPr lang="es-ES" dirty="0"/>
          </a:p>
        </p:txBody>
      </p:sp>
      <p:sp>
        <p:nvSpPr>
          <p:cNvPr id="5" name="CuadroTexto 4">
            <a:extLst>
              <a:ext uri="{FF2B5EF4-FFF2-40B4-BE49-F238E27FC236}">
                <a16:creationId xmlns:a16="http://schemas.microsoft.com/office/drawing/2014/main" id="{C8D10102-25C2-91C6-C635-DCF5244F50D6}"/>
              </a:ext>
            </a:extLst>
          </p:cNvPr>
          <p:cNvSpPr txBox="1"/>
          <p:nvPr/>
        </p:nvSpPr>
        <p:spPr>
          <a:xfrm>
            <a:off x="7040880" y="350600"/>
            <a:ext cx="4864608" cy="6370975"/>
          </a:xfrm>
          <a:prstGeom prst="rect">
            <a:avLst/>
          </a:prstGeom>
          <a:noFill/>
        </p:spPr>
        <p:txBody>
          <a:bodyPr wrap="square">
            <a:spAutoFit/>
          </a:bodyPr>
          <a:lstStyle/>
          <a:p>
            <a:pPr marL="0" lvl="0" indent="0" algn="l" rtl="0">
              <a:spcBef>
                <a:spcPts val="0"/>
              </a:spcBef>
              <a:spcAft>
                <a:spcPts val="0"/>
              </a:spcAft>
              <a:buNone/>
            </a:pPr>
            <a:r>
              <a:rPr lang="en-US" sz="2400" dirty="0">
                <a:latin typeface="Roboto"/>
                <a:ea typeface="Roboto"/>
                <a:cs typeface="Roboto"/>
                <a:sym typeface="Roboto"/>
              </a:rPr>
              <a:t>public abstract  class </a:t>
            </a:r>
            <a:r>
              <a:rPr lang="en-US" sz="2400" dirty="0" err="1">
                <a:latin typeface="Roboto"/>
                <a:ea typeface="Roboto"/>
                <a:cs typeface="Roboto"/>
                <a:sym typeface="Roboto"/>
              </a:rPr>
              <a:t>Figura</a:t>
            </a: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public abstract void </a:t>
            </a:r>
            <a:r>
              <a:rPr lang="en-US" sz="2400" dirty="0" err="1">
                <a:latin typeface="Roboto"/>
                <a:ea typeface="Roboto"/>
                <a:cs typeface="Roboto"/>
                <a:sym typeface="Roboto"/>
              </a:rPr>
              <a:t>dibuja</a:t>
            </a: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a:t>
            </a:r>
          </a:p>
          <a:p>
            <a:pPr marL="0" lvl="0" indent="0" algn="l" rtl="0">
              <a:spcBef>
                <a:spcPts val="0"/>
              </a:spcBef>
              <a:spcAft>
                <a:spcPts val="0"/>
              </a:spcAft>
              <a:buNone/>
            </a:pPr>
            <a:endParaRPr lang="en-US" sz="2400" dirty="0">
              <a:latin typeface="Roboto"/>
              <a:ea typeface="Roboto"/>
              <a:cs typeface="Roboto"/>
              <a:sym typeface="Roboto"/>
            </a:endParaRPr>
          </a:p>
          <a:p>
            <a:pPr marL="0" lvl="0" indent="0" algn="l" rtl="0">
              <a:spcBef>
                <a:spcPts val="0"/>
              </a:spcBef>
              <a:spcAft>
                <a:spcPts val="0"/>
              </a:spcAft>
              <a:buNone/>
            </a:pPr>
            <a:r>
              <a:rPr lang="en-US" sz="2400" dirty="0">
                <a:latin typeface="Roboto"/>
                <a:ea typeface="Roboto"/>
                <a:cs typeface="Roboto"/>
                <a:sym typeface="Roboto"/>
              </a:rPr>
              <a:t>public class </a:t>
            </a:r>
            <a:r>
              <a:rPr lang="en-US" sz="2400" dirty="0" err="1">
                <a:latin typeface="Roboto"/>
                <a:ea typeface="Roboto"/>
                <a:cs typeface="Roboto"/>
                <a:sym typeface="Roboto"/>
              </a:rPr>
              <a:t>Rectangulo</a:t>
            </a:r>
            <a:r>
              <a:rPr lang="en-US" sz="2400" dirty="0">
                <a:latin typeface="Roboto"/>
                <a:ea typeface="Roboto"/>
                <a:cs typeface="Roboto"/>
                <a:sym typeface="Roboto"/>
              </a:rPr>
              <a:t> extends </a:t>
            </a:r>
            <a:r>
              <a:rPr lang="en-US" sz="2400" dirty="0" err="1">
                <a:latin typeface="Roboto"/>
                <a:ea typeface="Roboto"/>
                <a:cs typeface="Roboto"/>
                <a:sym typeface="Roboto"/>
              </a:rPr>
              <a:t>Figura</a:t>
            </a: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public void </a:t>
            </a:r>
            <a:r>
              <a:rPr lang="en-US" sz="2400" dirty="0" err="1">
                <a:latin typeface="Roboto"/>
                <a:ea typeface="Roboto"/>
                <a:cs typeface="Roboto"/>
                <a:sym typeface="Roboto"/>
              </a:rPr>
              <a:t>dibuja</a:t>
            </a: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a:t>
            </a:r>
          </a:p>
          <a:p>
            <a:pPr marL="0" lvl="0" indent="457200" algn="l" rtl="0">
              <a:spcBef>
                <a:spcPts val="0"/>
              </a:spcBef>
              <a:spcAft>
                <a:spcPts val="0"/>
              </a:spcAft>
              <a:buNone/>
            </a:pP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a:t>
            </a:r>
          </a:p>
          <a:p>
            <a:pPr marL="0" lvl="0" indent="0" algn="l" rtl="0">
              <a:spcBef>
                <a:spcPts val="0"/>
              </a:spcBef>
              <a:spcAft>
                <a:spcPts val="0"/>
              </a:spcAft>
              <a:buNone/>
            </a:pPr>
            <a:endParaRPr lang="en-US" sz="2400" dirty="0">
              <a:latin typeface="Roboto"/>
              <a:ea typeface="Roboto"/>
              <a:cs typeface="Roboto"/>
              <a:sym typeface="Roboto"/>
            </a:endParaRPr>
          </a:p>
          <a:p>
            <a:pPr marL="0" lvl="0" indent="0" algn="l" rtl="0">
              <a:spcBef>
                <a:spcPts val="0"/>
              </a:spcBef>
              <a:spcAft>
                <a:spcPts val="0"/>
              </a:spcAft>
              <a:buNone/>
            </a:pPr>
            <a:r>
              <a:rPr lang="en-US" sz="2400" dirty="0">
                <a:latin typeface="Roboto"/>
                <a:ea typeface="Roboto"/>
                <a:cs typeface="Roboto"/>
                <a:sym typeface="Roboto"/>
              </a:rPr>
              <a:t>public class </a:t>
            </a:r>
            <a:r>
              <a:rPr lang="en-US" sz="2400" dirty="0" err="1">
                <a:latin typeface="Roboto"/>
                <a:ea typeface="Roboto"/>
                <a:cs typeface="Roboto"/>
                <a:sym typeface="Roboto"/>
              </a:rPr>
              <a:t>Circulo</a:t>
            </a:r>
            <a:r>
              <a:rPr lang="en-US" sz="2400" dirty="0">
                <a:latin typeface="Roboto"/>
                <a:ea typeface="Roboto"/>
                <a:cs typeface="Roboto"/>
                <a:sym typeface="Roboto"/>
              </a:rPr>
              <a:t> extends </a:t>
            </a:r>
            <a:r>
              <a:rPr lang="en-US" sz="2400" dirty="0" err="1">
                <a:latin typeface="Roboto"/>
                <a:ea typeface="Roboto"/>
                <a:cs typeface="Roboto"/>
                <a:sym typeface="Roboto"/>
              </a:rPr>
              <a:t>Figura</a:t>
            </a: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	public void </a:t>
            </a:r>
            <a:r>
              <a:rPr lang="en-US" sz="2400" dirty="0" err="1">
                <a:latin typeface="Roboto"/>
                <a:ea typeface="Roboto"/>
                <a:cs typeface="Roboto"/>
                <a:sym typeface="Roboto"/>
              </a:rPr>
              <a:t>dibuja</a:t>
            </a: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a:t>
            </a:r>
          </a:p>
          <a:p>
            <a:pPr marL="0" lvl="0" indent="0" algn="l" rtl="0">
              <a:spcBef>
                <a:spcPts val="0"/>
              </a:spcBef>
              <a:spcAft>
                <a:spcPts val="0"/>
              </a:spcAft>
              <a:buNone/>
            </a:pPr>
            <a:r>
              <a:rPr lang="en-US" sz="2400" dirty="0">
                <a:latin typeface="Roboto"/>
                <a:ea typeface="Roboto"/>
                <a:cs typeface="Roboto"/>
                <a:sym typeface="Roboto"/>
              </a:rPr>
              <a:t>}</a:t>
            </a:r>
          </a:p>
        </p:txBody>
      </p:sp>
    </p:spTree>
    <p:extLst>
      <p:ext uri="{BB962C8B-B14F-4D97-AF65-F5344CB8AC3E}">
        <p14:creationId xmlns:p14="http://schemas.microsoft.com/office/powerpoint/2010/main" val="3031515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2FB292-E2D3-08A4-C19B-7638DFFB4F8E}"/>
              </a:ext>
            </a:extLst>
          </p:cNvPr>
          <p:cNvSpPr>
            <a:spLocks noGrp="1"/>
          </p:cNvSpPr>
          <p:nvPr>
            <p:ph type="title"/>
          </p:nvPr>
        </p:nvSpPr>
        <p:spPr/>
        <p:txBody>
          <a:bodyPr/>
          <a:lstStyle/>
          <a:p>
            <a:r>
              <a:rPr lang="es-ES" dirty="0" err="1"/>
              <a:t>POlimorfismo</a:t>
            </a:r>
            <a:endParaRPr lang="es-ES" dirty="0"/>
          </a:p>
        </p:txBody>
      </p:sp>
      <p:sp>
        <p:nvSpPr>
          <p:cNvPr id="3" name="Marcador de contenido 2">
            <a:extLst>
              <a:ext uri="{FF2B5EF4-FFF2-40B4-BE49-F238E27FC236}">
                <a16:creationId xmlns:a16="http://schemas.microsoft.com/office/drawing/2014/main" id="{E8232216-4622-DCA8-8F5A-9670C2BFD24E}"/>
              </a:ext>
            </a:extLst>
          </p:cNvPr>
          <p:cNvSpPr>
            <a:spLocks noGrp="1"/>
          </p:cNvSpPr>
          <p:nvPr>
            <p:ph idx="1"/>
          </p:nvPr>
        </p:nvSpPr>
        <p:spPr/>
        <p:txBody>
          <a:bodyPr>
            <a:normAutofit/>
          </a:bodyPr>
          <a:lstStyle/>
          <a:p>
            <a:r>
              <a:rPr lang="es-ES" sz="3600" dirty="0"/>
              <a:t>Dos </a:t>
            </a:r>
            <a:r>
              <a:rPr lang="es-ES" sz="3600" b="1" dirty="0"/>
              <a:t>métodos</a:t>
            </a:r>
            <a:r>
              <a:rPr lang="es-ES" sz="3600" dirty="0"/>
              <a:t> son polimórficos si con el mismo nombre hacen funciones distintas, aunque similares, en objetos distintos</a:t>
            </a:r>
          </a:p>
          <a:p>
            <a:endParaRPr lang="es-ES" sz="3600" dirty="0"/>
          </a:p>
          <a:p>
            <a:r>
              <a:rPr lang="es-ES" sz="3600" dirty="0"/>
              <a:t>Un ejemplo de polimorfismo es el método </a:t>
            </a:r>
            <a:r>
              <a:rPr lang="es-ES" sz="3600" dirty="0" err="1"/>
              <a:t>calculaArea</a:t>
            </a:r>
            <a:r>
              <a:rPr lang="es-ES" sz="3600" dirty="0"/>
              <a:t>() del Rectángulo y el Círculo</a:t>
            </a:r>
          </a:p>
        </p:txBody>
      </p:sp>
    </p:spTree>
    <p:extLst>
      <p:ext uri="{BB962C8B-B14F-4D97-AF65-F5344CB8AC3E}">
        <p14:creationId xmlns:p14="http://schemas.microsoft.com/office/powerpoint/2010/main" val="373147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056D25-AD61-6B7D-5FE9-842DDEE0E456}"/>
              </a:ext>
            </a:extLst>
          </p:cNvPr>
          <p:cNvSpPr>
            <a:spLocks noGrp="1"/>
          </p:cNvSpPr>
          <p:nvPr>
            <p:ph type="title"/>
          </p:nvPr>
        </p:nvSpPr>
        <p:spPr/>
        <p:txBody>
          <a:bodyPr/>
          <a:lstStyle/>
          <a:p>
            <a:r>
              <a:rPr lang="es-ES" dirty="0"/>
              <a:t>polimorfismo</a:t>
            </a:r>
          </a:p>
        </p:txBody>
      </p:sp>
      <p:sp>
        <p:nvSpPr>
          <p:cNvPr id="3" name="Marcador de contenido 2">
            <a:extLst>
              <a:ext uri="{FF2B5EF4-FFF2-40B4-BE49-F238E27FC236}">
                <a16:creationId xmlns:a16="http://schemas.microsoft.com/office/drawing/2014/main" id="{E6AA6E20-7F97-05C5-13E9-F07276E096B7}"/>
              </a:ext>
            </a:extLst>
          </p:cNvPr>
          <p:cNvSpPr>
            <a:spLocks noGrp="1"/>
          </p:cNvSpPr>
          <p:nvPr>
            <p:ph idx="1"/>
          </p:nvPr>
        </p:nvSpPr>
        <p:spPr>
          <a:xfrm>
            <a:off x="774000" y="679938"/>
            <a:ext cx="11247671" cy="6043247"/>
          </a:xfrm>
        </p:spPr>
        <p:txBody>
          <a:bodyPr>
            <a:normAutofit fontScale="92500" lnSpcReduction="20000"/>
          </a:bodyPr>
          <a:lstStyle/>
          <a:p>
            <a:r>
              <a:rPr lang="es-ES" sz="3600" dirty="0"/>
              <a:t>Si hablamos de clases, el polimorfismo es lo que nos permite crear una clase con la referencia padre pero que apunte a una clase hija, como hemos visto anteriormente:</a:t>
            </a:r>
          </a:p>
          <a:p>
            <a:pPr lvl="1"/>
            <a:r>
              <a:rPr lang="es-ES" sz="3200" dirty="0"/>
              <a:t>Figura f= new </a:t>
            </a:r>
            <a:r>
              <a:rPr lang="es-ES" sz="3200" dirty="0" err="1"/>
              <a:t>Rectangulo</a:t>
            </a:r>
            <a:r>
              <a:rPr lang="es-ES" sz="3200" dirty="0"/>
              <a:t>()</a:t>
            </a:r>
            <a:endParaRPr lang="es-ES" sz="2400" dirty="0"/>
          </a:p>
          <a:p>
            <a:r>
              <a:rPr lang="es-ES" sz="3600" dirty="0"/>
              <a:t>Cuando se usa un método sobre un objecto, se usará el de la clase de la que ese objeto es instancia (la clase que se ha usado al hacer la new). </a:t>
            </a:r>
            <a:r>
              <a:rPr lang="es-ES" sz="3600" dirty="0" err="1"/>
              <a:t>f.calculaArea</a:t>
            </a:r>
            <a:r>
              <a:rPr lang="es-ES" sz="3600" dirty="0"/>
              <a:t>() llamará el método de </a:t>
            </a:r>
            <a:r>
              <a:rPr lang="es-ES" sz="3600" dirty="0" err="1"/>
              <a:t>Rectangulo</a:t>
            </a:r>
            <a:endParaRPr lang="es-ES" sz="3600" dirty="0"/>
          </a:p>
          <a:p>
            <a:r>
              <a:rPr lang="es-ES" sz="3600" dirty="0"/>
              <a:t>Podemos usar una superclase como parámetro formal y luego usar el método apropiado basándose sobre el objecto pasado como parámetro actual</a:t>
            </a:r>
            <a:r>
              <a:rPr lang="es-ES" sz="3200" dirty="0"/>
              <a:t>.</a:t>
            </a:r>
          </a:p>
        </p:txBody>
      </p:sp>
    </p:spTree>
    <p:extLst>
      <p:ext uri="{BB962C8B-B14F-4D97-AF65-F5344CB8AC3E}">
        <p14:creationId xmlns:p14="http://schemas.microsoft.com/office/powerpoint/2010/main" val="1647075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B2961B-EDD2-4186-E29C-77784C894DC8}"/>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91FDBD2B-0EDD-3E2F-6B8B-7C7853473264}"/>
              </a:ext>
            </a:extLst>
          </p:cNvPr>
          <p:cNvSpPr>
            <a:spLocks noGrp="1"/>
          </p:cNvSpPr>
          <p:nvPr>
            <p:ph idx="1"/>
          </p:nvPr>
        </p:nvSpPr>
        <p:spPr/>
        <p:txBody>
          <a:bodyPr>
            <a:normAutofit/>
          </a:bodyPr>
          <a:lstStyle/>
          <a:p>
            <a:r>
              <a:rPr lang="es-ES" sz="3600" dirty="0"/>
              <a:t>Cuando tenemos que crear un objeto de una clase heredada podemos utilizar como clase referenciada la del padre o la del hijo. Tenemos una clase Padre y una clase Hijo (Hijo hereda de Padre) </a:t>
            </a:r>
          </a:p>
          <a:p>
            <a:pPr lvl="1"/>
            <a:r>
              <a:rPr lang="es-ES" sz="3200" dirty="0"/>
              <a:t>Padre </a:t>
            </a:r>
            <a:r>
              <a:rPr lang="es-ES" sz="3200" dirty="0" err="1"/>
              <a:t>obj</a:t>
            </a:r>
            <a:r>
              <a:rPr lang="es-ES" sz="3200" dirty="0"/>
              <a:t>=new Hijo();</a:t>
            </a:r>
          </a:p>
          <a:p>
            <a:pPr lvl="1"/>
            <a:r>
              <a:rPr lang="es-ES" sz="3200" dirty="0"/>
              <a:t>Padre </a:t>
            </a:r>
            <a:r>
              <a:rPr lang="es-ES" sz="3200" dirty="0" err="1"/>
              <a:t>obj</a:t>
            </a:r>
            <a:r>
              <a:rPr lang="es-ES" sz="3200" dirty="0"/>
              <a:t>=new Padre(); //Solo si Padre no es </a:t>
            </a:r>
            <a:r>
              <a:rPr lang="es-ES" sz="3200" dirty="0" err="1"/>
              <a:t>abstract</a:t>
            </a:r>
            <a:endParaRPr lang="es-ES" sz="3200" dirty="0"/>
          </a:p>
          <a:p>
            <a:pPr lvl="1"/>
            <a:r>
              <a:rPr lang="es-ES" sz="3200" dirty="0"/>
              <a:t>Hijo </a:t>
            </a:r>
            <a:r>
              <a:rPr lang="es-ES" sz="3200" dirty="0" err="1"/>
              <a:t>obj</a:t>
            </a:r>
            <a:r>
              <a:rPr lang="es-ES" sz="3200" dirty="0"/>
              <a:t>=new Hijo();</a:t>
            </a:r>
          </a:p>
          <a:p>
            <a:endParaRPr lang="es-ES" dirty="0"/>
          </a:p>
        </p:txBody>
      </p:sp>
    </p:spTree>
    <p:extLst>
      <p:ext uri="{BB962C8B-B14F-4D97-AF65-F5344CB8AC3E}">
        <p14:creationId xmlns:p14="http://schemas.microsoft.com/office/powerpoint/2010/main" val="3128763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F6C06F-74BD-B1B6-1E8D-C74420120A9F}"/>
              </a:ext>
            </a:extLst>
          </p:cNvPr>
          <p:cNvSpPr>
            <a:spLocks noGrp="1"/>
          </p:cNvSpPr>
          <p:nvPr>
            <p:ph type="title"/>
          </p:nvPr>
        </p:nvSpPr>
        <p:spPr/>
        <p:txBody>
          <a:bodyPr/>
          <a:lstStyle/>
          <a:p>
            <a:r>
              <a:rPr lang="es-ES" dirty="0"/>
              <a:t>polimorfismo</a:t>
            </a:r>
          </a:p>
        </p:txBody>
      </p:sp>
      <p:sp>
        <p:nvSpPr>
          <p:cNvPr id="3" name="Marcador de contenido 2">
            <a:extLst>
              <a:ext uri="{FF2B5EF4-FFF2-40B4-BE49-F238E27FC236}">
                <a16:creationId xmlns:a16="http://schemas.microsoft.com/office/drawing/2014/main" id="{0005F6DA-2564-0ACE-7FC9-35173BE921DF}"/>
              </a:ext>
            </a:extLst>
          </p:cNvPr>
          <p:cNvSpPr>
            <a:spLocks noGrp="1"/>
          </p:cNvSpPr>
          <p:nvPr>
            <p:ph idx="1"/>
          </p:nvPr>
        </p:nvSpPr>
        <p:spPr/>
        <p:txBody>
          <a:bodyPr>
            <a:normAutofit fontScale="85000" lnSpcReduction="10000"/>
          </a:bodyPr>
          <a:lstStyle/>
          <a:p>
            <a:r>
              <a:rPr lang="es-ES" sz="3900" dirty="0"/>
              <a:t>Hay tres formas posibles de instanciarla: </a:t>
            </a:r>
          </a:p>
          <a:p>
            <a:pPr lvl="1"/>
            <a:r>
              <a:rPr lang="es-ES" sz="3500" dirty="0"/>
              <a:t>Hijo </a:t>
            </a:r>
            <a:r>
              <a:rPr lang="es-ES" sz="3500" dirty="0" err="1"/>
              <a:t>varH</a:t>
            </a:r>
            <a:r>
              <a:rPr lang="es-ES" sz="3500" dirty="0"/>
              <a:t>=new Hijo(), podremos acceder a los métodos y atributos del hijo y del padre. Si hay métodos </a:t>
            </a:r>
            <a:r>
              <a:rPr lang="es-ES" sz="3500" dirty="0" err="1"/>
              <a:t>sobreescritos</a:t>
            </a:r>
            <a:r>
              <a:rPr lang="es-ES" sz="3500" dirty="0"/>
              <a:t>, sólo accederemos a los del hijo</a:t>
            </a:r>
          </a:p>
          <a:p>
            <a:pPr lvl="1"/>
            <a:r>
              <a:rPr lang="es-ES" sz="3500" dirty="0"/>
              <a:t>Padre </a:t>
            </a:r>
            <a:r>
              <a:rPr lang="es-ES" sz="3500" dirty="0" err="1"/>
              <a:t>varP</a:t>
            </a:r>
            <a:r>
              <a:rPr lang="es-ES" sz="3500" dirty="0"/>
              <a:t>=new Padre(), podremos acceder a los métodos y atributos del padre. Es imposible acceder a los del hijo</a:t>
            </a:r>
          </a:p>
          <a:p>
            <a:pPr lvl="1"/>
            <a:r>
              <a:rPr lang="es-ES" sz="3500" dirty="0"/>
              <a:t>UPCASTING: Padre </a:t>
            </a:r>
            <a:r>
              <a:rPr lang="es-ES" sz="3500" dirty="0" err="1"/>
              <a:t>varH</a:t>
            </a:r>
            <a:r>
              <a:rPr lang="es-ES" sz="3500" dirty="0"/>
              <a:t>=new Hijo(), podemos acceder sólo a los métodos y atributos del padre. Si un método del padre está </a:t>
            </a:r>
            <a:r>
              <a:rPr lang="es-ES" sz="3500" dirty="0" err="1"/>
              <a:t>sobreescrito</a:t>
            </a:r>
            <a:r>
              <a:rPr lang="es-ES" sz="3500" dirty="0"/>
              <a:t>, utilizará el del hijo. Sólo podemos acceder a los del hijo si hacemos un </a:t>
            </a:r>
            <a:r>
              <a:rPr lang="es-ES" sz="3500" dirty="0" err="1"/>
              <a:t>downcasting</a:t>
            </a:r>
            <a:r>
              <a:rPr lang="es-ES" sz="3500" dirty="0"/>
              <a:t> explícito </a:t>
            </a:r>
          </a:p>
          <a:p>
            <a:endParaRPr lang="es-ES" dirty="0"/>
          </a:p>
        </p:txBody>
      </p:sp>
    </p:spTree>
    <p:extLst>
      <p:ext uri="{BB962C8B-B14F-4D97-AF65-F5344CB8AC3E}">
        <p14:creationId xmlns:p14="http://schemas.microsoft.com/office/powerpoint/2010/main" val="911972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8397C8-16C3-9EB3-57AF-9BCC92994FD1}"/>
              </a:ext>
            </a:extLst>
          </p:cNvPr>
          <p:cNvSpPr>
            <a:spLocks noGrp="1"/>
          </p:cNvSpPr>
          <p:nvPr>
            <p:ph type="title"/>
          </p:nvPr>
        </p:nvSpPr>
        <p:spPr/>
        <p:txBody>
          <a:bodyPr/>
          <a:lstStyle/>
          <a:p>
            <a:r>
              <a:rPr lang="es-ES" dirty="0" err="1"/>
              <a:t>downcasting</a:t>
            </a:r>
            <a:endParaRPr lang="es-ES" dirty="0"/>
          </a:p>
        </p:txBody>
      </p:sp>
      <p:sp>
        <p:nvSpPr>
          <p:cNvPr id="3" name="Marcador de contenido 2">
            <a:extLst>
              <a:ext uri="{FF2B5EF4-FFF2-40B4-BE49-F238E27FC236}">
                <a16:creationId xmlns:a16="http://schemas.microsoft.com/office/drawing/2014/main" id="{42EED5F6-13F3-084B-B46D-A8CCF8C25DB4}"/>
              </a:ext>
            </a:extLst>
          </p:cNvPr>
          <p:cNvSpPr>
            <a:spLocks noGrp="1"/>
          </p:cNvSpPr>
          <p:nvPr>
            <p:ph idx="1"/>
          </p:nvPr>
        </p:nvSpPr>
        <p:spPr/>
        <p:txBody>
          <a:bodyPr/>
          <a:lstStyle/>
          <a:p>
            <a:r>
              <a:rPr lang="es-ES" sz="4000" dirty="0"/>
              <a:t>El </a:t>
            </a:r>
            <a:r>
              <a:rPr lang="es-ES" sz="4000" dirty="0" err="1"/>
              <a:t>downcasting</a:t>
            </a:r>
            <a:r>
              <a:rPr lang="es-ES" sz="4000" dirty="0"/>
              <a:t> consiste en poner la referencia que queramos bajar hacia la clase heredada</a:t>
            </a:r>
          </a:p>
          <a:p>
            <a:pPr lvl="1"/>
            <a:r>
              <a:rPr lang="es-ES" sz="3600" dirty="0"/>
              <a:t>(Hijo) </a:t>
            </a:r>
            <a:r>
              <a:rPr lang="es-ES" sz="3600" dirty="0" err="1"/>
              <a:t>varH</a:t>
            </a:r>
            <a:endParaRPr lang="es-ES" sz="3600" dirty="0"/>
          </a:p>
          <a:p>
            <a:r>
              <a:rPr lang="es-ES" sz="4000" dirty="0"/>
              <a:t>Hacer una conversión de tipos incorrecta produce una excepción </a:t>
            </a:r>
            <a:r>
              <a:rPr lang="es-ES" sz="4000" dirty="0" err="1"/>
              <a:t>ClassCastException</a:t>
            </a:r>
            <a:r>
              <a:rPr lang="es-ES" sz="4000" dirty="0"/>
              <a:t> en tiempo de ejecución</a:t>
            </a:r>
          </a:p>
          <a:p>
            <a:endParaRPr lang="es-ES" dirty="0"/>
          </a:p>
        </p:txBody>
      </p:sp>
    </p:spTree>
    <p:extLst>
      <p:ext uri="{BB962C8B-B14F-4D97-AF65-F5344CB8AC3E}">
        <p14:creationId xmlns:p14="http://schemas.microsoft.com/office/powerpoint/2010/main" val="2690999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FC5732-BB53-4554-C285-D7C855888E0C}"/>
              </a:ext>
            </a:extLst>
          </p:cNvPr>
          <p:cNvSpPr>
            <a:spLocks noGrp="1"/>
          </p:cNvSpPr>
          <p:nvPr>
            <p:ph type="title"/>
          </p:nvPr>
        </p:nvSpPr>
        <p:spPr/>
        <p:txBody>
          <a:bodyPr/>
          <a:lstStyle/>
          <a:p>
            <a:r>
              <a:rPr lang="es-ES" dirty="0"/>
              <a:t>Interfaces</a:t>
            </a:r>
          </a:p>
        </p:txBody>
      </p:sp>
      <p:sp>
        <p:nvSpPr>
          <p:cNvPr id="3" name="Marcador de contenido 2">
            <a:extLst>
              <a:ext uri="{FF2B5EF4-FFF2-40B4-BE49-F238E27FC236}">
                <a16:creationId xmlns:a16="http://schemas.microsoft.com/office/drawing/2014/main" id="{24F3238F-2527-5D15-41E3-75FCBAE916A1}"/>
              </a:ext>
            </a:extLst>
          </p:cNvPr>
          <p:cNvSpPr>
            <a:spLocks noGrp="1"/>
          </p:cNvSpPr>
          <p:nvPr>
            <p:ph idx="1"/>
          </p:nvPr>
        </p:nvSpPr>
        <p:spPr>
          <a:xfrm>
            <a:off x="779930" y="679938"/>
            <a:ext cx="10267482" cy="5760184"/>
          </a:xfrm>
        </p:spPr>
        <p:txBody>
          <a:bodyPr>
            <a:normAutofit fontScale="92500" lnSpcReduction="10000"/>
          </a:bodyPr>
          <a:lstStyle/>
          <a:p>
            <a:r>
              <a:rPr lang="es-ES" sz="3600" dirty="0"/>
              <a:t>Es un concepto similar al de clase abstracta, es decir: un molde que define una estructura formal de métodos para una clase, aunque no especifica su código.</a:t>
            </a:r>
          </a:p>
          <a:p>
            <a:r>
              <a:rPr lang="es-ES" sz="3600" dirty="0"/>
              <a:t>Sirven para implementar un mecanismo similar al de herencia múltiple de otros lenguajes O.O. en JAVA</a:t>
            </a:r>
          </a:p>
          <a:p>
            <a:r>
              <a:rPr lang="es-ES" sz="3600" dirty="0"/>
              <a:t>Se parecen a las clases abstractas, pero a diferencia de éstas, todos sus métodos son obligatoriamente abstractos (por tanto no hay que escribir </a:t>
            </a:r>
            <a:r>
              <a:rPr lang="es-ES" sz="3600" dirty="0" err="1"/>
              <a:t>abstract</a:t>
            </a:r>
            <a:r>
              <a:rPr lang="es-ES" sz="3600" dirty="0"/>
              <a:t> en ningún sitio, porque se sobreentiende que todos lo son)</a:t>
            </a:r>
          </a:p>
          <a:p>
            <a:endParaRPr lang="es-ES" dirty="0"/>
          </a:p>
        </p:txBody>
      </p:sp>
    </p:spTree>
    <p:extLst>
      <p:ext uri="{BB962C8B-B14F-4D97-AF65-F5344CB8AC3E}">
        <p14:creationId xmlns:p14="http://schemas.microsoft.com/office/powerpoint/2010/main" val="705171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FA6106-F8A7-31C9-A4BB-906A3A11CE11}"/>
              </a:ext>
            </a:extLst>
          </p:cNvPr>
          <p:cNvSpPr>
            <a:spLocks noGrp="1"/>
          </p:cNvSpPr>
          <p:nvPr>
            <p:ph type="title"/>
          </p:nvPr>
        </p:nvSpPr>
        <p:spPr/>
        <p:txBody>
          <a:bodyPr/>
          <a:lstStyle/>
          <a:p>
            <a:r>
              <a:rPr lang="es-ES" dirty="0"/>
              <a:t>interfaces</a:t>
            </a:r>
          </a:p>
        </p:txBody>
      </p:sp>
      <p:sp>
        <p:nvSpPr>
          <p:cNvPr id="3" name="Marcador de contenido 2">
            <a:extLst>
              <a:ext uri="{FF2B5EF4-FFF2-40B4-BE49-F238E27FC236}">
                <a16:creationId xmlns:a16="http://schemas.microsoft.com/office/drawing/2014/main" id="{1B5C3771-C426-FDA5-9E4C-55ED864BD558}"/>
              </a:ext>
            </a:extLst>
          </p:cNvPr>
          <p:cNvSpPr>
            <a:spLocks noGrp="1"/>
          </p:cNvSpPr>
          <p:nvPr>
            <p:ph idx="1"/>
          </p:nvPr>
        </p:nvSpPr>
        <p:spPr/>
        <p:txBody>
          <a:bodyPr/>
          <a:lstStyle/>
          <a:p>
            <a:r>
              <a:rPr lang="es-ES" sz="3600" dirty="0"/>
              <a:t>En JAVA se declaran utilizando la palabra “interface”, en lugar de “</a:t>
            </a:r>
            <a:r>
              <a:rPr lang="es-ES" sz="3600" dirty="0" err="1"/>
              <a:t>class</a:t>
            </a:r>
            <a:r>
              <a:rPr lang="es-ES" sz="3600" dirty="0"/>
              <a:t>”.</a:t>
            </a:r>
          </a:p>
          <a:p>
            <a:r>
              <a:rPr lang="es-ES" sz="3600" dirty="0"/>
              <a:t>Para crear una clase que escriba código para los métodos (indefinidos aún, ya que  no tienen código) de una interface, se utiliza la palabra reservada “</a:t>
            </a:r>
            <a:r>
              <a:rPr lang="es-ES" sz="3600" dirty="0" err="1"/>
              <a:t>implements</a:t>
            </a:r>
            <a:r>
              <a:rPr lang="es-ES" sz="3600" dirty="0"/>
              <a:t>” en lugar de “</a:t>
            </a:r>
            <a:r>
              <a:rPr lang="es-ES" sz="3600" dirty="0" err="1"/>
              <a:t>extends</a:t>
            </a:r>
            <a:r>
              <a:rPr lang="es-ES" sz="3600" dirty="0"/>
              <a:t>”.</a:t>
            </a:r>
          </a:p>
          <a:p>
            <a:endParaRPr lang="es-ES" dirty="0"/>
          </a:p>
        </p:txBody>
      </p:sp>
    </p:spTree>
    <p:extLst>
      <p:ext uri="{BB962C8B-B14F-4D97-AF65-F5344CB8AC3E}">
        <p14:creationId xmlns:p14="http://schemas.microsoft.com/office/powerpoint/2010/main" val="3813156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F92B5-8929-76A9-686B-ADE039BD235F}"/>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383EAA34-A5F4-2A2C-CDD6-7E319CEDD389}"/>
              </a:ext>
            </a:extLst>
          </p:cNvPr>
          <p:cNvSpPr>
            <a:spLocks noGrp="1"/>
          </p:cNvSpPr>
          <p:nvPr>
            <p:ph idx="1"/>
          </p:nvPr>
        </p:nvSpPr>
        <p:spPr/>
        <p:txBody>
          <a:bodyPr/>
          <a:lstStyle/>
          <a:p>
            <a:r>
              <a:rPr lang="es" sz="2400" dirty="0">
                <a:solidFill>
                  <a:srgbClr val="000000"/>
                </a:solidFill>
              </a:rPr>
              <a:t>Se pueden declarar referencias a objetos cuyo tipo sea una interface en lugar de una clase. Esta forma de proceder tiene sentido para definir un objeto en función de un tipo más genérico para utilizar mecanismos como el polimorfismo.</a:t>
            </a:r>
          </a:p>
          <a:p>
            <a:r>
              <a:rPr lang="es-ES" dirty="0"/>
              <a:t>Su principal función es establecer y estabilizar las “interfaces” (prototipos de métodos) de una clase que está por desarrollar, y así coordinar varios equipos de trabajo.</a:t>
            </a:r>
          </a:p>
          <a:p>
            <a:endParaRPr lang="es-ES" dirty="0"/>
          </a:p>
        </p:txBody>
      </p:sp>
    </p:spTree>
    <p:extLst>
      <p:ext uri="{BB962C8B-B14F-4D97-AF65-F5344CB8AC3E}">
        <p14:creationId xmlns:p14="http://schemas.microsoft.com/office/powerpoint/2010/main" val="3840479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77EA9C-7A68-5DF9-714D-551796C1F596}"/>
              </a:ext>
            </a:extLst>
          </p:cNvPr>
          <p:cNvSpPr>
            <a:spLocks noGrp="1"/>
          </p:cNvSpPr>
          <p:nvPr>
            <p:ph type="title"/>
          </p:nvPr>
        </p:nvSpPr>
        <p:spPr/>
        <p:txBody>
          <a:bodyPr/>
          <a:lstStyle/>
          <a:p>
            <a:r>
              <a:rPr lang="es-ES" dirty="0"/>
              <a:t>interfaces</a:t>
            </a:r>
          </a:p>
        </p:txBody>
      </p:sp>
      <p:sp>
        <p:nvSpPr>
          <p:cNvPr id="3" name="Marcador de contenido 2">
            <a:extLst>
              <a:ext uri="{FF2B5EF4-FFF2-40B4-BE49-F238E27FC236}">
                <a16:creationId xmlns:a16="http://schemas.microsoft.com/office/drawing/2014/main" id="{771B967B-666C-A5A5-F6AA-073E08DCA6F6}"/>
              </a:ext>
            </a:extLst>
          </p:cNvPr>
          <p:cNvSpPr>
            <a:spLocks noGrp="1"/>
          </p:cNvSpPr>
          <p:nvPr>
            <p:ph idx="1"/>
          </p:nvPr>
        </p:nvSpPr>
        <p:spPr/>
        <p:txBody>
          <a:bodyPr>
            <a:normAutofit fontScale="92500" lnSpcReduction="10000"/>
          </a:bodyPr>
          <a:lstStyle/>
          <a:p>
            <a:r>
              <a:rPr lang="es-ES" sz="3200" dirty="0"/>
              <a:t>El equipo que debe utilizar objetos que implementen dicha interface basta con que declare en su código una referencia a dicha interface, aunque no esté todavía compilada ninguna clase que la implemente.</a:t>
            </a:r>
          </a:p>
          <a:p>
            <a:r>
              <a:rPr lang="es-ES" sz="3200" dirty="0"/>
              <a:t>Los equipos que creen clases que implementen dicha interface están a su vez desacoplados de los equipos que lo utilizan, y pueden escribir su código independientemente.</a:t>
            </a:r>
          </a:p>
          <a:p>
            <a:r>
              <a:rPr lang="es" sz="3200" dirty="0">
                <a:solidFill>
                  <a:srgbClr val="000000"/>
                </a:solidFill>
              </a:rPr>
              <a:t>Si fuera necesario que exista un objeto real "detrás" de una referencia a una interface, que todavía no ha programado el otro equipo, se podría utilizar un objeto "Mock". </a:t>
            </a:r>
          </a:p>
          <a:p>
            <a:endParaRPr lang="es-ES" dirty="0"/>
          </a:p>
        </p:txBody>
      </p:sp>
    </p:spTree>
    <p:extLst>
      <p:ext uri="{BB962C8B-B14F-4D97-AF65-F5344CB8AC3E}">
        <p14:creationId xmlns:p14="http://schemas.microsoft.com/office/powerpoint/2010/main" val="1726923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B2874F-EA2C-6138-8374-8B2732345F75}"/>
              </a:ext>
            </a:extLst>
          </p:cNvPr>
          <p:cNvSpPr>
            <a:spLocks noGrp="1"/>
          </p:cNvSpPr>
          <p:nvPr>
            <p:ph type="title"/>
          </p:nvPr>
        </p:nvSpPr>
        <p:spPr/>
        <p:txBody>
          <a:bodyPr/>
          <a:lstStyle/>
          <a:p>
            <a:r>
              <a:rPr lang="es-ES" dirty="0"/>
              <a:t>Interfaz Comparable</a:t>
            </a:r>
          </a:p>
        </p:txBody>
      </p:sp>
      <p:sp>
        <p:nvSpPr>
          <p:cNvPr id="3" name="Marcador de contenido 2">
            <a:extLst>
              <a:ext uri="{FF2B5EF4-FFF2-40B4-BE49-F238E27FC236}">
                <a16:creationId xmlns:a16="http://schemas.microsoft.com/office/drawing/2014/main" id="{9E6033DB-C7FA-1718-4EDB-76C8B8FDB7E0}"/>
              </a:ext>
            </a:extLst>
          </p:cNvPr>
          <p:cNvSpPr>
            <a:spLocks noGrp="1"/>
          </p:cNvSpPr>
          <p:nvPr>
            <p:ph idx="1"/>
          </p:nvPr>
        </p:nvSpPr>
        <p:spPr/>
        <p:txBody>
          <a:bodyPr>
            <a:normAutofit fontScale="77500" lnSpcReduction="20000"/>
          </a:bodyPr>
          <a:lstStyle/>
          <a:p>
            <a:r>
              <a:rPr lang="es-ES" sz="3600" dirty="0"/>
              <a:t>Sirve para poder dotar de un orden natural a los objetos  de una clase determinada.</a:t>
            </a:r>
          </a:p>
          <a:p>
            <a:r>
              <a:rPr lang="es-ES" sz="3600" dirty="0"/>
              <a:t>Las clases que la implementen, serán moldes para objetos que son susceptibles de ser comparados entre sí, y por tanto, ordenados.</a:t>
            </a:r>
          </a:p>
          <a:p>
            <a:r>
              <a:rPr lang="es-ES" sz="3600" dirty="0"/>
              <a:t>Tiene un solo método “</a:t>
            </a:r>
            <a:r>
              <a:rPr lang="es-ES" sz="3600" dirty="0" err="1"/>
              <a:t>int</a:t>
            </a:r>
            <a:r>
              <a:rPr lang="es-ES" sz="3600" dirty="0"/>
              <a:t> </a:t>
            </a:r>
            <a:r>
              <a:rPr lang="es-ES" sz="3600" dirty="0" err="1"/>
              <a:t>compareTo</a:t>
            </a:r>
            <a:r>
              <a:rPr lang="es-ES" sz="3600" dirty="0"/>
              <a:t>(</a:t>
            </a:r>
            <a:r>
              <a:rPr lang="es-ES" sz="3600" dirty="0" err="1"/>
              <a:t>Object</a:t>
            </a:r>
            <a:r>
              <a:rPr lang="es-ES" sz="3600" dirty="0"/>
              <a:t> o)”, que debe devolver:</a:t>
            </a:r>
          </a:p>
          <a:p>
            <a:pPr lvl="1"/>
            <a:r>
              <a:rPr lang="es-ES" sz="3100" dirty="0"/>
              <a:t>un número negativo (</a:t>
            </a:r>
            <a:r>
              <a:rPr lang="es-ES" sz="3100" dirty="0" err="1"/>
              <a:t>p.ej</a:t>
            </a:r>
            <a:r>
              <a:rPr lang="es-ES" sz="3100" dirty="0"/>
              <a:t> -1): si </a:t>
            </a:r>
            <a:r>
              <a:rPr lang="es-ES" sz="3100" dirty="0" err="1"/>
              <a:t>this</a:t>
            </a:r>
            <a:r>
              <a:rPr lang="es-ES" sz="3100" dirty="0"/>
              <a:t> es menor que o</a:t>
            </a:r>
          </a:p>
          <a:p>
            <a:pPr lvl="1"/>
            <a:r>
              <a:rPr lang="es-ES" sz="3100" dirty="0"/>
              <a:t>0: si son iguales.</a:t>
            </a:r>
          </a:p>
          <a:p>
            <a:pPr lvl="1"/>
            <a:r>
              <a:rPr lang="es-ES" sz="3100" dirty="0"/>
              <a:t>un número positivo (</a:t>
            </a:r>
            <a:r>
              <a:rPr lang="es-ES" sz="3100" dirty="0" err="1"/>
              <a:t>p.ej</a:t>
            </a:r>
            <a:r>
              <a:rPr lang="es-ES" sz="3100" dirty="0"/>
              <a:t> 1): si </a:t>
            </a:r>
            <a:r>
              <a:rPr lang="es-ES" sz="3100" dirty="0" err="1"/>
              <a:t>this</a:t>
            </a:r>
            <a:r>
              <a:rPr lang="es-ES" sz="3100" dirty="0"/>
              <a:t> es mayor que o</a:t>
            </a:r>
          </a:p>
          <a:p>
            <a:r>
              <a:rPr lang="es-ES" sz="3600" dirty="0"/>
              <a:t>Es muy recomendable que “</a:t>
            </a:r>
            <a:r>
              <a:rPr lang="es-ES" sz="3600" dirty="0" err="1"/>
              <a:t>compareTo</a:t>
            </a:r>
            <a:r>
              <a:rPr lang="es-ES" sz="3600" dirty="0"/>
              <a:t>()” sea </a:t>
            </a:r>
            <a:r>
              <a:rPr lang="es-ES" sz="3600" b="1" dirty="0"/>
              <a:t>consistente</a:t>
            </a:r>
            <a:r>
              <a:rPr lang="es-ES" sz="3600" dirty="0"/>
              <a:t> con “</a:t>
            </a:r>
            <a:r>
              <a:rPr lang="es-ES" sz="3600" dirty="0" err="1"/>
              <a:t>equals</a:t>
            </a:r>
            <a:r>
              <a:rPr lang="es-ES" sz="3600" dirty="0"/>
              <a:t>()”, para no provocar comportamientos imprevisibles.</a:t>
            </a:r>
          </a:p>
          <a:p>
            <a:endParaRPr lang="es-ES" dirty="0"/>
          </a:p>
        </p:txBody>
      </p:sp>
    </p:spTree>
    <p:extLst>
      <p:ext uri="{BB962C8B-B14F-4D97-AF65-F5344CB8AC3E}">
        <p14:creationId xmlns:p14="http://schemas.microsoft.com/office/powerpoint/2010/main" val="4176165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AE5C8F-227B-F3CA-C1F8-B768A519B5F1}"/>
              </a:ext>
            </a:extLst>
          </p:cNvPr>
          <p:cNvSpPr>
            <a:spLocks noGrp="1"/>
          </p:cNvSpPr>
          <p:nvPr>
            <p:ph type="title"/>
          </p:nvPr>
        </p:nvSpPr>
        <p:spPr/>
        <p:txBody>
          <a:bodyPr/>
          <a:lstStyle/>
          <a:p>
            <a:r>
              <a:rPr lang="es-ES" dirty="0"/>
              <a:t>ejemplo</a:t>
            </a:r>
          </a:p>
        </p:txBody>
      </p:sp>
      <p:pic>
        <p:nvPicPr>
          <p:cNvPr id="5" name="Imagen 4">
            <a:extLst>
              <a:ext uri="{FF2B5EF4-FFF2-40B4-BE49-F238E27FC236}">
                <a16:creationId xmlns:a16="http://schemas.microsoft.com/office/drawing/2014/main" id="{CE06EAD8-E894-3B96-3C83-DEFC4A83C82A}"/>
              </a:ext>
            </a:extLst>
          </p:cNvPr>
          <p:cNvPicPr>
            <a:picLocks noChangeAspect="1"/>
          </p:cNvPicPr>
          <p:nvPr/>
        </p:nvPicPr>
        <p:blipFill>
          <a:blip r:embed="rId2"/>
          <a:stretch>
            <a:fillRect/>
          </a:stretch>
        </p:blipFill>
        <p:spPr>
          <a:xfrm>
            <a:off x="178585" y="1272134"/>
            <a:ext cx="4054728" cy="897063"/>
          </a:xfrm>
          <a:prstGeom prst="rect">
            <a:avLst/>
          </a:prstGeom>
        </p:spPr>
      </p:pic>
      <p:pic>
        <p:nvPicPr>
          <p:cNvPr id="7" name="Imagen 6">
            <a:extLst>
              <a:ext uri="{FF2B5EF4-FFF2-40B4-BE49-F238E27FC236}">
                <a16:creationId xmlns:a16="http://schemas.microsoft.com/office/drawing/2014/main" id="{C23CD20F-D8CA-4B6E-23AE-6B50972441B5}"/>
              </a:ext>
            </a:extLst>
          </p:cNvPr>
          <p:cNvPicPr>
            <a:picLocks noChangeAspect="1"/>
          </p:cNvPicPr>
          <p:nvPr/>
        </p:nvPicPr>
        <p:blipFill>
          <a:blip r:embed="rId3"/>
          <a:stretch>
            <a:fillRect/>
          </a:stretch>
        </p:blipFill>
        <p:spPr>
          <a:xfrm>
            <a:off x="67350" y="2862544"/>
            <a:ext cx="4784367" cy="1246740"/>
          </a:xfrm>
          <a:prstGeom prst="rect">
            <a:avLst/>
          </a:prstGeom>
        </p:spPr>
      </p:pic>
      <p:pic>
        <p:nvPicPr>
          <p:cNvPr id="9" name="Imagen 8">
            <a:extLst>
              <a:ext uri="{FF2B5EF4-FFF2-40B4-BE49-F238E27FC236}">
                <a16:creationId xmlns:a16="http://schemas.microsoft.com/office/drawing/2014/main" id="{B34C3B10-F86A-59D9-FFB6-26E805663EA4}"/>
              </a:ext>
            </a:extLst>
          </p:cNvPr>
          <p:cNvPicPr>
            <a:picLocks noChangeAspect="1"/>
          </p:cNvPicPr>
          <p:nvPr/>
        </p:nvPicPr>
        <p:blipFill>
          <a:blip r:embed="rId4"/>
          <a:stretch>
            <a:fillRect/>
          </a:stretch>
        </p:blipFill>
        <p:spPr>
          <a:xfrm>
            <a:off x="0" y="4598916"/>
            <a:ext cx="5090224" cy="1668080"/>
          </a:xfrm>
          <a:prstGeom prst="rect">
            <a:avLst/>
          </a:prstGeom>
        </p:spPr>
      </p:pic>
      <p:pic>
        <p:nvPicPr>
          <p:cNvPr id="11" name="Imagen 10">
            <a:extLst>
              <a:ext uri="{FF2B5EF4-FFF2-40B4-BE49-F238E27FC236}">
                <a16:creationId xmlns:a16="http://schemas.microsoft.com/office/drawing/2014/main" id="{87B38CF7-1FCC-4FBF-AF13-D5BC576BC84B}"/>
              </a:ext>
            </a:extLst>
          </p:cNvPr>
          <p:cNvPicPr>
            <a:picLocks noChangeAspect="1"/>
          </p:cNvPicPr>
          <p:nvPr/>
        </p:nvPicPr>
        <p:blipFill>
          <a:blip r:embed="rId5"/>
          <a:stretch>
            <a:fillRect/>
          </a:stretch>
        </p:blipFill>
        <p:spPr>
          <a:xfrm>
            <a:off x="5344674" y="196015"/>
            <a:ext cx="6779976" cy="5146949"/>
          </a:xfrm>
          <a:prstGeom prst="rect">
            <a:avLst/>
          </a:prstGeom>
        </p:spPr>
      </p:pic>
      <p:pic>
        <p:nvPicPr>
          <p:cNvPr id="13" name="Imagen 12">
            <a:extLst>
              <a:ext uri="{FF2B5EF4-FFF2-40B4-BE49-F238E27FC236}">
                <a16:creationId xmlns:a16="http://schemas.microsoft.com/office/drawing/2014/main" id="{1BD69C61-ADDF-35DF-DEAE-8EA26CB9F8DB}"/>
              </a:ext>
            </a:extLst>
          </p:cNvPr>
          <p:cNvPicPr>
            <a:picLocks noChangeAspect="1"/>
          </p:cNvPicPr>
          <p:nvPr/>
        </p:nvPicPr>
        <p:blipFill>
          <a:blip r:embed="rId6"/>
          <a:stretch>
            <a:fillRect/>
          </a:stretch>
        </p:blipFill>
        <p:spPr>
          <a:xfrm>
            <a:off x="8263350" y="5432956"/>
            <a:ext cx="942623" cy="1316116"/>
          </a:xfrm>
          <a:prstGeom prst="rect">
            <a:avLst/>
          </a:prstGeom>
        </p:spPr>
      </p:pic>
    </p:spTree>
    <p:extLst>
      <p:ext uri="{BB962C8B-B14F-4D97-AF65-F5344CB8AC3E}">
        <p14:creationId xmlns:p14="http://schemas.microsoft.com/office/powerpoint/2010/main" val="2991758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9B3572-1771-AA5B-CC38-7A722B1DB529}"/>
              </a:ext>
            </a:extLst>
          </p:cNvPr>
          <p:cNvSpPr>
            <a:spLocks noGrp="1"/>
          </p:cNvSpPr>
          <p:nvPr>
            <p:ph type="title"/>
          </p:nvPr>
        </p:nvSpPr>
        <p:spPr/>
        <p:txBody>
          <a:bodyPr/>
          <a:lstStyle/>
          <a:p>
            <a:r>
              <a:rPr lang="es-ES" dirty="0"/>
              <a:t>Métodos default en una interfaz</a:t>
            </a:r>
          </a:p>
        </p:txBody>
      </p:sp>
      <p:pic>
        <p:nvPicPr>
          <p:cNvPr id="5" name="Imagen 4">
            <a:extLst>
              <a:ext uri="{FF2B5EF4-FFF2-40B4-BE49-F238E27FC236}">
                <a16:creationId xmlns:a16="http://schemas.microsoft.com/office/drawing/2014/main" id="{A9143A3B-64CE-C4D6-483C-1A4B0D01D01F}"/>
              </a:ext>
            </a:extLst>
          </p:cNvPr>
          <p:cNvPicPr>
            <a:picLocks noChangeAspect="1"/>
          </p:cNvPicPr>
          <p:nvPr/>
        </p:nvPicPr>
        <p:blipFill>
          <a:blip r:embed="rId2"/>
          <a:stretch>
            <a:fillRect/>
          </a:stretch>
        </p:blipFill>
        <p:spPr>
          <a:xfrm>
            <a:off x="255540" y="876803"/>
            <a:ext cx="6153964" cy="1507808"/>
          </a:xfrm>
          <a:prstGeom prst="rect">
            <a:avLst/>
          </a:prstGeom>
        </p:spPr>
      </p:pic>
      <p:pic>
        <p:nvPicPr>
          <p:cNvPr id="6" name="Imagen 5">
            <a:extLst>
              <a:ext uri="{FF2B5EF4-FFF2-40B4-BE49-F238E27FC236}">
                <a16:creationId xmlns:a16="http://schemas.microsoft.com/office/drawing/2014/main" id="{196B1405-39E6-8DFC-4707-C8A9EC6C79ED}"/>
              </a:ext>
            </a:extLst>
          </p:cNvPr>
          <p:cNvPicPr>
            <a:picLocks noChangeAspect="1"/>
          </p:cNvPicPr>
          <p:nvPr/>
        </p:nvPicPr>
        <p:blipFill>
          <a:blip r:embed="rId3"/>
          <a:stretch>
            <a:fillRect/>
          </a:stretch>
        </p:blipFill>
        <p:spPr>
          <a:xfrm>
            <a:off x="667985" y="2680088"/>
            <a:ext cx="5127286" cy="1336100"/>
          </a:xfrm>
          <a:prstGeom prst="rect">
            <a:avLst/>
          </a:prstGeom>
        </p:spPr>
      </p:pic>
      <p:pic>
        <p:nvPicPr>
          <p:cNvPr id="8" name="Imagen 7">
            <a:extLst>
              <a:ext uri="{FF2B5EF4-FFF2-40B4-BE49-F238E27FC236}">
                <a16:creationId xmlns:a16="http://schemas.microsoft.com/office/drawing/2014/main" id="{937235A3-A5EF-9D12-4A12-04C3DBCEFBE4}"/>
              </a:ext>
            </a:extLst>
          </p:cNvPr>
          <p:cNvPicPr>
            <a:picLocks noChangeAspect="1"/>
          </p:cNvPicPr>
          <p:nvPr/>
        </p:nvPicPr>
        <p:blipFill>
          <a:blip r:embed="rId4"/>
          <a:stretch>
            <a:fillRect/>
          </a:stretch>
        </p:blipFill>
        <p:spPr>
          <a:xfrm>
            <a:off x="6611585" y="1050798"/>
            <a:ext cx="5487867" cy="2198403"/>
          </a:xfrm>
          <a:prstGeom prst="rect">
            <a:avLst/>
          </a:prstGeom>
        </p:spPr>
      </p:pic>
      <p:pic>
        <p:nvPicPr>
          <p:cNvPr id="10" name="Imagen 9">
            <a:extLst>
              <a:ext uri="{FF2B5EF4-FFF2-40B4-BE49-F238E27FC236}">
                <a16:creationId xmlns:a16="http://schemas.microsoft.com/office/drawing/2014/main" id="{BDC87813-5165-B1F9-64BD-21926C2361BC}"/>
              </a:ext>
            </a:extLst>
          </p:cNvPr>
          <p:cNvPicPr>
            <a:picLocks noChangeAspect="1"/>
          </p:cNvPicPr>
          <p:nvPr/>
        </p:nvPicPr>
        <p:blipFill>
          <a:blip r:embed="rId5"/>
          <a:stretch>
            <a:fillRect/>
          </a:stretch>
        </p:blipFill>
        <p:spPr>
          <a:xfrm>
            <a:off x="1985855" y="4572000"/>
            <a:ext cx="3921626" cy="1252286"/>
          </a:xfrm>
          <a:prstGeom prst="rect">
            <a:avLst/>
          </a:prstGeom>
        </p:spPr>
      </p:pic>
      <p:pic>
        <p:nvPicPr>
          <p:cNvPr id="12" name="Imagen 11">
            <a:extLst>
              <a:ext uri="{FF2B5EF4-FFF2-40B4-BE49-F238E27FC236}">
                <a16:creationId xmlns:a16="http://schemas.microsoft.com/office/drawing/2014/main" id="{67A3C655-AF58-A40B-2794-1FD7184AF309}"/>
              </a:ext>
            </a:extLst>
          </p:cNvPr>
          <p:cNvPicPr>
            <a:picLocks noChangeAspect="1"/>
          </p:cNvPicPr>
          <p:nvPr/>
        </p:nvPicPr>
        <p:blipFill>
          <a:blip r:embed="rId6"/>
          <a:stretch>
            <a:fillRect/>
          </a:stretch>
        </p:blipFill>
        <p:spPr>
          <a:xfrm>
            <a:off x="6938422" y="4708000"/>
            <a:ext cx="3978557" cy="1116286"/>
          </a:xfrm>
          <a:prstGeom prst="rect">
            <a:avLst/>
          </a:prstGeom>
        </p:spPr>
      </p:pic>
    </p:spTree>
    <p:extLst>
      <p:ext uri="{BB962C8B-B14F-4D97-AF65-F5344CB8AC3E}">
        <p14:creationId xmlns:p14="http://schemas.microsoft.com/office/powerpoint/2010/main" val="2420117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BF1CA5-9705-5CE1-7776-BFB8FDA7362B}"/>
              </a:ext>
            </a:extLst>
          </p:cNvPr>
          <p:cNvSpPr>
            <a:spLocks noGrp="1"/>
          </p:cNvSpPr>
          <p:nvPr>
            <p:ph type="title"/>
          </p:nvPr>
        </p:nvSpPr>
        <p:spPr/>
        <p:txBody>
          <a:bodyPr/>
          <a:lstStyle/>
          <a:p>
            <a:r>
              <a:rPr lang="es-ES" dirty="0"/>
              <a:t>Clases Abstractas VS Interfaces</a:t>
            </a:r>
          </a:p>
        </p:txBody>
      </p:sp>
      <p:sp>
        <p:nvSpPr>
          <p:cNvPr id="3" name="Marcador de contenido 2">
            <a:extLst>
              <a:ext uri="{FF2B5EF4-FFF2-40B4-BE49-F238E27FC236}">
                <a16:creationId xmlns:a16="http://schemas.microsoft.com/office/drawing/2014/main" id="{CC2FDA10-575F-7C50-25BC-3D1FA2698E64}"/>
              </a:ext>
            </a:extLst>
          </p:cNvPr>
          <p:cNvSpPr>
            <a:spLocks noGrp="1"/>
          </p:cNvSpPr>
          <p:nvPr>
            <p:ph idx="1"/>
          </p:nvPr>
        </p:nvSpPr>
        <p:spPr/>
        <p:txBody>
          <a:bodyPr>
            <a:normAutofit fontScale="92500"/>
          </a:bodyPr>
          <a:lstStyle/>
          <a:p>
            <a:r>
              <a:rPr lang="es-ES" sz="3200" dirty="0"/>
              <a:t>Propósito: Una clase abstracta se utiliza para proporcionar una estructura básica para una jerarquía de clases, mientras que una interfaz se utiliza para definir un contrato que debe cumplirse por una clase que implementa la interfaz.</a:t>
            </a:r>
          </a:p>
          <a:p>
            <a:r>
              <a:rPr lang="es-ES" sz="3200" dirty="0"/>
              <a:t>Implementación de métodos: Una clase abstracta puede proporcionar una implementación para algunos de sus métodos, mientras que las clases que la heredan deben implementar los métodos restantes. Por otro lado, en una interfaz, los métodos son solo declaraciones y no tienen una implementación, a menos que se utilice un método default.</a:t>
            </a:r>
          </a:p>
        </p:txBody>
      </p:sp>
    </p:spTree>
    <p:extLst>
      <p:ext uri="{BB962C8B-B14F-4D97-AF65-F5344CB8AC3E}">
        <p14:creationId xmlns:p14="http://schemas.microsoft.com/office/powerpoint/2010/main" val="3954389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527130-B134-FB94-B644-6775332A1AEF}"/>
              </a:ext>
            </a:extLst>
          </p:cNvPr>
          <p:cNvSpPr>
            <a:spLocks noGrp="1"/>
          </p:cNvSpPr>
          <p:nvPr>
            <p:ph type="title"/>
          </p:nvPr>
        </p:nvSpPr>
        <p:spPr/>
        <p:txBody>
          <a:bodyPr/>
          <a:lstStyle/>
          <a:p>
            <a:r>
              <a:rPr lang="es-ES" dirty="0"/>
              <a:t>Clases Abstractas </a:t>
            </a:r>
            <a:r>
              <a:rPr lang="es-ES"/>
              <a:t>vs Interfaces</a:t>
            </a:r>
          </a:p>
        </p:txBody>
      </p:sp>
      <p:sp>
        <p:nvSpPr>
          <p:cNvPr id="3" name="Marcador de contenido 2">
            <a:extLst>
              <a:ext uri="{FF2B5EF4-FFF2-40B4-BE49-F238E27FC236}">
                <a16:creationId xmlns:a16="http://schemas.microsoft.com/office/drawing/2014/main" id="{6082926E-CDEA-CE3B-3282-43EC07F1F447}"/>
              </a:ext>
            </a:extLst>
          </p:cNvPr>
          <p:cNvSpPr>
            <a:spLocks noGrp="1"/>
          </p:cNvSpPr>
          <p:nvPr>
            <p:ph idx="1"/>
          </p:nvPr>
        </p:nvSpPr>
        <p:spPr/>
        <p:txBody>
          <a:bodyPr>
            <a:normAutofit/>
          </a:bodyPr>
          <a:lstStyle/>
          <a:p>
            <a:r>
              <a:rPr lang="es-ES" sz="3200" dirty="0"/>
              <a:t>Herencia: Una clase puede extender solo una clase abstracta, pero puede implementar múltiples interfaces. Esto significa que una clase puede heredar las características de varios contratos diferentes al implementar múltiples interfaces.</a:t>
            </a:r>
          </a:p>
          <a:p>
            <a:r>
              <a:rPr lang="es-ES" sz="3200" dirty="0"/>
              <a:t>Variables: Las variables en una clase abstracta pueden ser estáticas o no estáticas, mientras que en una interfaz solo pueden ser estáticas y finales.</a:t>
            </a:r>
          </a:p>
        </p:txBody>
      </p:sp>
    </p:spTree>
    <p:extLst>
      <p:ext uri="{BB962C8B-B14F-4D97-AF65-F5344CB8AC3E}">
        <p14:creationId xmlns:p14="http://schemas.microsoft.com/office/powerpoint/2010/main" val="366240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4EE4DE-7582-8192-DEA5-70F76F4671AD}"/>
              </a:ext>
            </a:extLst>
          </p:cNvPr>
          <p:cNvSpPr>
            <a:spLocks noGrp="1"/>
          </p:cNvSpPr>
          <p:nvPr>
            <p:ph type="title"/>
          </p:nvPr>
        </p:nvSpPr>
        <p:spPr/>
        <p:txBody>
          <a:bodyPr/>
          <a:lstStyle/>
          <a:p>
            <a:r>
              <a:rPr lang="es-ES" dirty="0"/>
              <a:t>Interfaz funcional</a:t>
            </a:r>
          </a:p>
        </p:txBody>
      </p:sp>
      <p:sp>
        <p:nvSpPr>
          <p:cNvPr id="6" name="Rectangle 1">
            <a:extLst>
              <a:ext uri="{FF2B5EF4-FFF2-40B4-BE49-F238E27FC236}">
                <a16:creationId xmlns:a16="http://schemas.microsoft.com/office/drawing/2014/main" id="{5BDB9D70-DE32-AB0F-E379-CF5690B3C258}"/>
              </a:ext>
            </a:extLst>
          </p:cNvPr>
          <p:cNvSpPr>
            <a:spLocks noChangeArrowheads="1"/>
          </p:cNvSpPr>
          <p:nvPr/>
        </p:nvSpPr>
        <p:spPr bwMode="auto">
          <a:xfrm>
            <a:off x="1141413" y="1640160"/>
            <a:ext cx="1071889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Unicode MS"/>
              </a:rPr>
              <a:t>@FunctionalInterface </a:t>
            </a:r>
            <a:br>
              <a:rPr kumimoji="0" lang="en-US" altLang="en-US" sz="2400" b="0" i="0" u="none" strike="noStrike" cap="none" normalizeH="0" baseline="0" dirty="0">
                <a:ln>
                  <a:noFill/>
                </a:ln>
                <a:solidFill>
                  <a:schemeClr val="tx1"/>
                </a:solidFill>
                <a:effectLst/>
                <a:latin typeface="Arial Unicode MS"/>
              </a:rPr>
            </a:br>
            <a:r>
              <a:rPr kumimoji="0" lang="en-US" altLang="en-US" sz="2400" b="0" i="0" u="none" strike="noStrike" cap="none" normalizeH="0" baseline="0" dirty="0">
                <a:ln>
                  <a:noFill/>
                </a:ln>
                <a:solidFill>
                  <a:schemeClr val="tx1"/>
                </a:solidFill>
                <a:effectLst/>
                <a:latin typeface="Arial Unicode MS"/>
              </a:rPr>
              <a:t>interface </a:t>
            </a:r>
            <a:r>
              <a:rPr kumimoji="0" lang="en-US" altLang="en-US" sz="2400" b="0" i="0" u="none" strike="noStrike" cap="none" normalizeH="0" baseline="0" dirty="0" err="1">
                <a:ln>
                  <a:noFill/>
                </a:ln>
                <a:solidFill>
                  <a:schemeClr val="tx1"/>
                </a:solidFill>
                <a:effectLst/>
                <a:latin typeface="Arial Unicode MS"/>
              </a:rPr>
              <a:t>Operacion</a:t>
            </a:r>
            <a:r>
              <a:rPr kumimoji="0" lang="en-US" altLang="en-US" sz="2400" b="0" i="0" u="none" strike="noStrike" cap="none" normalizeH="0" baseline="0" dirty="0">
                <a:ln>
                  <a:noFill/>
                </a:ln>
                <a:solidFill>
                  <a:schemeClr val="tx1"/>
                </a:solidFill>
                <a:effectLst/>
                <a:latin typeface="Arial Unicode MS"/>
              </a:rPr>
              <a:t>{ int </a:t>
            </a:r>
            <a:r>
              <a:rPr kumimoji="0" lang="en-US" altLang="en-US" sz="2400" b="0" i="0" u="none" strike="noStrike" cap="none" normalizeH="0" baseline="0" dirty="0" err="1">
                <a:ln>
                  <a:noFill/>
                </a:ln>
                <a:solidFill>
                  <a:schemeClr val="tx1"/>
                </a:solidFill>
                <a:effectLst/>
                <a:latin typeface="Arial Unicode MS"/>
              </a:rPr>
              <a:t>ejecutar</a:t>
            </a:r>
            <a:r>
              <a:rPr kumimoji="0" lang="en-US" altLang="en-US" sz="2400" b="0" i="0" u="none" strike="noStrike" cap="none" normalizeH="0" baseline="0" dirty="0">
                <a:ln>
                  <a:noFill/>
                </a:ln>
                <a:solidFill>
                  <a:schemeClr val="tx1"/>
                </a:solidFill>
                <a:effectLst/>
                <a:latin typeface="Arial Unicode MS"/>
              </a:rPr>
              <a:t>(int a, int b);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Arial Unicode MS"/>
              </a:rPr>
              <a:t>Operacion</a:t>
            </a:r>
            <a:r>
              <a:rPr kumimoji="0" lang="en-US" altLang="en-US" sz="2400" b="0" i="0" u="none" strike="noStrike" cap="none" normalizeH="0" baseline="0" dirty="0">
                <a:ln>
                  <a:noFill/>
                </a:ln>
                <a:solidFill>
                  <a:schemeClr val="tx1"/>
                </a:solidFill>
                <a:effectLst/>
                <a:latin typeface="Arial Unicode MS"/>
              </a:rPr>
              <a:t> </a:t>
            </a:r>
            <a:r>
              <a:rPr kumimoji="0" lang="en-US" altLang="en-US" sz="2400" b="0" i="0" u="none" strike="noStrike" cap="none" normalizeH="0" baseline="0" dirty="0" err="1">
                <a:ln>
                  <a:noFill/>
                </a:ln>
                <a:solidFill>
                  <a:schemeClr val="tx1"/>
                </a:solidFill>
                <a:effectLst/>
                <a:latin typeface="Arial Unicode MS"/>
              </a:rPr>
              <a:t>suma</a:t>
            </a:r>
            <a:r>
              <a:rPr kumimoji="0" lang="en-US" altLang="en-US" sz="2400" b="0" i="0" u="none" strike="noStrike" cap="none" normalizeH="0" baseline="0" dirty="0">
                <a:ln>
                  <a:noFill/>
                </a:ln>
                <a:solidFill>
                  <a:schemeClr val="tx1"/>
                </a:solidFill>
                <a:effectLst/>
                <a:latin typeface="Arial Unicode MS"/>
              </a:rPr>
              <a:t> = (a, b) -&gt; a + b; </a:t>
            </a:r>
            <a:br>
              <a:rPr kumimoji="0" lang="en-US" altLang="en-US" sz="2400" b="0" i="0" u="none" strike="noStrike" cap="none" normalizeH="0" baseline="0" dirty="0">
                <a:ln>
                  <a:noFill/>
                </a:ln>
                <a:solidFill>
                  <a:schemeClr val="tx1"/>
                </a:solidFill>
                <a:effectLst/>
                <a:latin typeface="Arial Unicode MS"/>
              </a:rPr>
            </a:br>
            <a:r>
              <a:rPr kumimoji="0" lang="en-US" altLang="en-US" sz="2400" b="0" i="0" u="none" strike="noStrike" cap="none" normalizeH="0" baseline="0" dirty="0" err="1">
                <a:ln>
                  <a:noFill/>
                </a:ln>
                <a:solidFill>
                  <a:schemeClr val="tx1"/>
                </a:solidFill>
                <a:effectLst/>
                <a:latin typeface="Arial Unicode MS"/>
              </a:rPr>
              <a:t>Operacion</a:t>
            </a:r>
            <a:r>
              <a:rPr kumimoji="0" lang="en-US" altLang="en-US" sz="2400" b="0" i="0" u="none" strike="noStrike" cap="none" normalizeH="0" baseline="0" dirty="0">
                <a:ln>
                  <a:noFill/>
                </a:ln>
                <a:solidFill>
                  <a:schemeClr val="tx1"/>
                </a:solidFill>
                <a:effectLst/>
                <a:latin typeface="Arial Unicode MS"/>
              </a:rPr>
              <a:t> </a:t>
            </a:r>
            <a:r>
              <a:rPr kumimoji="0" lang="en-US" altLang="en-US" sz="2400" b="0" i="0" u="none" strike="noStrike" cap="none" normalizeH="0" baseline="0" dirty="0" err="1">
                <a:ln>
                  <a:noFill/>
                </a:ln>
                <a:solidFill>
                  <a:schemeClr val="tx1"/>
                </a:solidFill>
                <a:effectLst/>
                <a:latin typeface="Arial Unicode MS"/>
              </a:rPr>
              <a:t>multiplicacion</a:t>
            </a:r>
            <a:r>
              <a:rPr kumimoji="0" lang="en-US" altLang="en-US" sz="2400" b="0" i="0" u="none" strike="noStrike" cap="none" normalizeH="0" baseline="0" dirty="0">
                <a:ln>
                  <a:noFill/>
                </a:ln>
                <a:solidFill>
                  <a:schemeClr val="tx1"/>
                </a:solidFill>
                <a:effectLst/>
                <a:latin typeface="Arial Unicode MS"/>
              </a:rPr>
              <a:t> = (a, b) -&gt; a * b; </a:t>
            </a:r>
            <a:r>
              <a:rPr kumimoji="0" lang="en-US" altLang="en-US" sz="2400" b="0" i="0" u="none" strike="noStrike" cap="none" normalizeH="0" baseline="0" dirty="0" err="1">
                <a:ln>
                  <a:noFill/>
                </a:ln>
                <a:solidFill>
                  <a:schemeClr val="tx1"/>
                </a:solidFill>
                <a:effectLst/>
                <a:latin typeface="Arial Unicode MS"/>
              </a:rPr>
              <a:t>System.out.println</a:t>
            </a:r>
            <a:r>
              <a:rPr kumimoji="0" lang="en-US" altLang="en-US" sz="2400" b="0" i="0" u="none" strike="noStrike" cap="none" normalizeH="0" baseline="0" dirty="0">
                <a:ln>
                  <a:noFill/>
                </a:ln>
                <a:solidFill>
                  <a:schemeClr val="tx1"/>
                </a:solidFill>
                <a:effectLst/>
                <a:latin typeface="Arial Unicode MS"/>
              </a:rPr>
              <a:t>("La </a:t>
            </a:r>
            <a:r>
              <a:rPr kumimoji="0" lang="en-US" altLang="en-US" sz="2400" b="0" i="0" u="none" strike="noStrike" cap="none" normalizeH="0" baseline="0" dirty="0" err="1">
                <a:ln>
                  <a:noFill/>
                </a:ln>
                <a:solidFill>
                  <a:schemeClr val="tx1"/>
                </a:solidFill>
                <a:effectLst/>
                <a:latin typeface="Arial Unicode MS"/>
              </a:rPr>
              <a:t>suma</a:t>
            </a:r>
            <a:r>
              <a:rPr kumimoji="0" lang="en-US" altLang="en-US" sz="2400" b="0" i="0" u="none" strike="noStrike" cap="none" normalizeH="0" baseline="0" dirty="0">
                <a:ln>
                  <a:noFill/>
                </a:ln>
                <a:solidFill>
                  <a:schemeClr val="tx1"/>
                </a:solidFill>
                <a:effectLst/>
                <a:latin typeface="Arial Unicode MS"/>
              </a:rPr>
              <a:t> es: " + </a:t>
            </a:r>
            <a:r>
              <a:rPr kumimoji="0" lang="en-US" altLang="en-US" sz="2400" b="0" i="0" u="none" strike="noStrike" cap="none" normalizeH="0" baseline="0" dirty="0" err="1">
                <a:ln>
                  <a:noFill/>
                </a:ln>
                <a:solidFill>
                  <a:schemeClr val="tx1"/>
                </a:solidFill>
                <a:effectLst/>
                <a:latin typeface="Arial Unicode MS"/>
              </a:rPr>
              <a:t>suma.ejecutar</a:t>
            </a:r>
            <a:r>
              <a:rPr kumimoji="0" lang="en-US" altLang="en-US" sz="2400" b="0" i="0" u="none" strike="noStrike" cap="none" normalizeH="0" baseline="0" dirty="0">
                <a:ln>
                  <a:noFill/>
                </a:ln>
                <a:solidFill>
                  <a:schemeClr val="tx1"/>
                </a:solidFill>
                <a:effectLst/>
                <a:latin typeface="Arial Unicode MS"/>
              </a:rPr>
              <a:t>(3, 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a:ln>
                  <a:noFill/>
                </a:ln>
                <a:solidFill>
                  <a:schemeClr val="tx1"/>
                </a:solidFill>
                <a:effectLst/>
                <a:latin typeface="Arial Unicode MS"/>
              </a:rPr>
              <a:t>System.out.println</a:t>
            </a:r>
            <a:r>
              <a:rPr kumimoji="0" lang="en-US" altLang="en-US" sz="2400" b="0" i="0" u="none" strike="noStrike" cap="none" normalizeH="0" baseline="0" dirty="0">
                <a:ln>
                  <a:noFill/>
                </a:ln>
                <a:solidFill>
                  <a:schemeClr val="tx1"/>
                </a:solidFill>
                <a:effectLst/>
                <a:latin typeface="Arial Unicode MS"/>
              </a:rPr>
              <a:t>("La </a:t>
            </a:r>
            <a:r>
              <a:rPr kumimoji="0" lang="en-US" altLang="en-US" sz="2400" b="0" i="0" u="none" strike="noStrike" cap="none" normalizeH="0" baseline="0" dirty="0" err="1">
                <a:ln>
                  <a:noFill/>
                </a:ln>
                <a:solidFill>
                  <a:schemeClr val="tx1"/>
                </a:solidFill>
                <a:effectLst/>
                <a:latin typeface="Arial Unicode MS"/>
              </a:rPr>
              <a:t>multiplicación</a:t>
            </a:r>
            <a:r>
              <a:rPr kumimoji="0" lang="en-US" altLang="en-US" sz="2400" b="0" i="0" u="none" strike="noStrike" cap="none" normalizeH="0" baseline="0" dirty="0">
                <a:ln>
                  <a:noFill/>
                </a:ln>
                <a:solidFill>
                  <a:schemeClr val="tx1"/>
                </a:solidFill>
                <a:effectLst/>
                <a:latin typeface="Arial Unicode MS"/>
              </a:rPr>
              <a:t> es: " + </a:t>
            </a:r>
            <a:r>
              <a:rPr kumimoji="0" lang="en-US" altLang="en-US" sz="2400" b="0" i="0" u="none" strike="noStrike" cap="none" normalizeH="0" baseline="0" dirty="0" err="1">
                <a:ln>
                  <a:noFill/>
                </a:ln>
                <a:solidFill>
                  <a:schemeClr val="tx1"/>
                </a:solidFill>
                <a:effectLst/>
                <a:latin typeface="Arial Unicode MS"/>
              </a:rPr>
              <a:t>multiplicacion.ejecutar</a:t>
            </a:r>
            <a:r>
              <a:rPr kumimoji="0" lang="en-US" altLang="en-US" sz="2400" b="0" i="0" u="none" strike="noStrike" cap="none" normalizeH="0" baseline="0" dirty="0">
                <a:ln>
                  <a:noFill/>
                </a:ln>
                <a:solidFill>
                  <a:schemeClr val="tx1"/>
                </a:solidFill>
                <a:effectLst/>
                <a:latin typeface="Arial Unicode MS"/>
              </a:rPr>
              <a:t>(3, 5));</a:t>
            </a:r>
            <a:r>
              <a:rPr kumimoji="0" lang="en-US" altLang="en-US" sz="1400" b="0" i="0" u="none" strike="noStrike" cap="none" normalizeH="0" baseline="0" dirty="0">
                <a:ln>
                  <a:noFill/>
                </a:ln>
                <a:solidFill>
                  <a:schemeClr val="tx1"/>
                </a:solidFill>
                <a:effectLst/>
              </a:rPr>
              <a:t> </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99980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Circuito</Template>
  <TotalTime>2666</TotalTime>
  <Words>1287</Words>
  <Application>Microsoft Office PowerPoint</Application>
  <PresentationFormat>Panorámica</PresentationFormat>
  <Paragraphs>94</Paragraphs>
  <Slides>20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Arial Unicode MS</vt:lpstr>
      <vt:lpstr>Calibri</vt:lpstr>
      <vt:lpstr>Calibri Light</vt:lpstr>
      <vt:lpstr>Roboto</vt:lpstr>
      <vt:lpstr>Circuito</vt:lpstr>
      <vt:lpstr>Clases abstractas, polimorfismo e interfaces</vt:lpstr>
      <vt:lpstr>Clases abstractas</vt:lpstr>
      <vt:lpstr>Métodos abstractos</vt:lpstr>
      <vt:lpstr>UML: diagrama de clases</vt:lpstr>
      <vt:lpstr>Clases abstractas</vt:lpstr>
      <vt:lpstr>POlimorfismo</vt:lpstr>
      <vt:lpstr>polimorfismo</vt:lpstr>
      <vt:lpstr>Presentación de PowerPoint</vt:lpstr>
      <vt:lpstr>polimorfismo</vt:lpstr>
      <vt:lpstr>downcasting</vt:lpstr>
      <vt:lpstr>Interfaces</vt:lpstr>
      <vt:lpstr>interfaces</vt:lpstr>
      <vt:lpstr>Presentación de PowerPoint</vt:lpstr>
      <vt:lpstr>interfaces</vt:lpstr>
      <vt:lpstr>Interfaz Comparable</vt:lpstr>
      <vt:lpstr>ejemplo</vt:lpstr>
      <vt:lpstr>Métodos default en una interfaz</vt:lpstr>
      <vt:lpstr>Clases Abstractas VS Interfaces</vt:lpstr>
      <vt:lpstr>Clases Abstractas vs Interfaces</vt:lpstr>
      <vt:lpstr>Interfaz funcional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programación</dc:title>
  <dc:creator>SChiesa</dc:creator>
  <cp:lastModifiedBy>S Chiesa</cp:lastModifiedBy>
  <cp:revision>49</cp:revision>
  <dcterms:created xsi:type="dcterms:W3CDTF">2022-09-10T09:06:03Z</dcterms:created>
  <dcterms:modified xsi:type="dcterms:W3CDTF">2023-01-30T19:26:35Z</dcterms:modified>
</cp:coreProperties>
</file>