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9" r:id="rId16"/>
    <p:sldId id="280" r:id="rId17"/>
    <p:sldId id="281" r:id="rId18"/>
    <p:sldId id="282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83" r:id="rId28"/>
    <p:sldId id="284" r:id="rId29"/>
    <p:sldId id="278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A851865-6A2E-4E15-965B-7BD9BEB27286}">
          <p14:sldIdLst>
            <p14:sldId id="256"/>
            <p14:sldId id="257"/>
            <p14:sldId id="258"/>
            <p14:sldId id="259"/>
            <p14:sldId id="261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9"/>
            <p14:sldId id="280"/>
            <p14:sldId id="281"/>
            <p14:sldId id="282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83"/>
            <p14:sldId id="284"/>
            <p14:sldId id="278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791763-8DB6-462B-AC3F-6658AA94B4F7}" type="doc">
      <dgm:prSet loTypeId="urn:microsoft.com/office/officeart/2005/8/layout/hierarchy4" loCatId="hierarchy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es-ES"/>
        </a:p>
      </dgm:t>
    </dgm:pt>
    <dgm:pt modelId="{585F0A3D-8FDF-424D-B894-BD59D23CA75A}">
      <dgm:prSet phldrT="[Texto]"/>
      <dgm:spPr/>
      <dgm:t>
        <a:bodyPr/>
        <a:lstStyle/>
        <a:p>
          <a:r>
            <a:rPr lang="es-ES" dirty="0"/>
            <a:t>PERSONA</a:t>
          </a:r>
          <a:br>
            <a:rPr lang="es-ES" dirty="0"/>
          </a:br>
          <a:r>
            <a:rPr lang="es-ES" dirty="0" err="1"/>
            <a:t>String</a:t>
          </a:r>
          <a:r>
            <a:rPr lang="es-ES" dirty="0"/>
            <a:t> nombre</a:t>
          </a:r>
          <a:br>
            <a:rPr lang="es-ES" dirty="0"/>
          </a:br>
          <a:r>
            <a:rPr lang="es-ES" dirty="0" err="1"/>
            <a:t>int</a:t>
          </a:r>
          <a:r>
            <a:rPr lang="es-ES" dirty="0"/>
            <a:t> edad</a:t>
          </a:r>
        </a:p>
      </dgm:t>
    </dgm:pt>
    <dgm:pt modelId="{F6DF2DB5-4629-403F-9074-4B08D7A55515}" type="parTrans" cxnId="{2C4B9216-02C3-4939-9946-9EC36AD3C4A2}">
      <dgm:prSet/>
      <dgm:spPr/>
      <dgm:t>
        <a:bodyPr/>
        <a:lstStyle/>
        <a:p>
          <a:endParaRPr lang="es-ES"/>
        </a:p>
      </dgm:t>
    </dgm:pt>
    <dgm:pt modelId="{E2AB91E4-1BD9-4DFC-916B-39B37CAC3698}" type="sibTrans" cxnId="{2C4B9216-02C3-4939-9946-9EC36AD3C4A2}">
      <dgm:prSet/>
      <dgm:spPr/>
      <dgm:t>
        <a:bodyPr/>
        <a:lstStyle/>
        <a:p>
          <a:endParaRPr lang="es-ES"/>
        </a:p>
      </dgm:t>
    </dgm:pt>
    <dgm:pt modelId="{2177D0FD-8819-41EC-AE78-1DEFC0DE30EE}">
      <dgm:prSet phldrT="[Texto]" custT="1"/>
      <dgm:spPr/>
      <dgm:t>
        <a:bodyPr/>
        <a:lstStyle/>
        <a:p>
          <a:r>
            <a:rPr lang="es-ES" sz="2400" dirty="0"/>
            <a:t>PROFESOR</a:t>
          </a:r>
          <a:br>
            <a:rPr lang="es-ES" sz="2400" dirty="0"/>
          </a:br>
          <a:r>
            <a:rPr lang="es-ES" sz="2400" dirty="0"/>
            <a:t>tiene todo lo que tiene PERSONA y</a:t>
          </a:r>
          <a:br>
            <a:rPr lang="es-ES" sz="2400" dirty="0"/>
          </a:br>
          <a:r>
            <a:rPr lang="es-ES" sz="2400" dirty="0" err="1"/>
            <a:t>String</a:t>
          </a:r>
          <a:r>
            <a:rPr lang="es-ES" sz="2400" dirty="0"/>
            <a:t> [] </a:t>
          </a:r>
          <a:r>
            <a:rPr lang="es-ES" sz="2400" dirty="0" err="1"/>
            <a:t>asignaturasImpartidas</a:t>
          </a:r>
          <a:endParaRPr lang="es-ES" sz="2400" dirty="0"/>
        </a:p>
      </dgm:t>
    </dgm:pt>
    <dgm:pt modelId="{1F09765A-36F8-46D0-A3C5-FA9A3B1989C6}" type="parTrans" cxnId="{61D82688-CD6C-401F-9DF2-ABBF8E8B8562}">
      <dgm:prSet/>
      <dgm:spPr/>
      <dgm:t>
        <a:bodyPr/>
        <a:lstStyle/>
        <a:p>
          <a:endParaRPr lang="es-ES"/>
        </a:p>
      </dgm:t>
    </dgm:pt>
    <dgm:pt modelId="{44268671-5C13-400B-BD5A-F20F3D906F68}" type="sibTrans" cxnId="{61D82688-CD6C-401F-9DF2-ABBF8E8B8562}">
      <dgm:prSet/>
      <dgm:spPr/>
      <dgm:t>
        <a:bodyPr/>
        <a:lstStyle/>
        <a:p>
          <a:endParaRPr lang="es-ES"/>
        </a:p>
      </dgm:t>
    </dgm:pt>
    <dgm:pt modelId="{F2094F5C-17C4-4C7B-A335-4C34C6B6EBC3}">
      <dgm:prSet phldrT="[Texto]" custT="1"/>
      <dgm:spPr/>
      <dgm:t>
        <a:bodyPr/>
        <a:lstStyle/>
        <a:p>
          <a:r>
            <a:rPr lang="es-ES" sz="2400" dirty="0"/>
            <a:t>ESTUDIANTE</a:t>
          </a:r>
          <a:br>
            <a:rPr lang="es-ES" sz="2400" dirty="0"/>
          </a:br>
          <a:r>
            <a:rPr lang="es-ES" sz="2400" dirty="0"/>
            <a:t>tiene todo lo que tiene PERSONA y </a:t>
          </a:r>
          <a:br>
            <a:rPr lang="es-ES" sz="2400" dirty="0"/>
          </a:br>
          <a:r>
            <a:rPr lang="es-ES" sz="2400" dirty="0" err="1"/>
            <a:t>int</a:t>
          </a:r>
          <a:r>
            <a:rPr lang="es-ES" sz="2400" dirty="0"/>
            <a:t> [] notas</a:t>
          </a:r>
        </a:p>
      </dgm:t>
    </dgm:pt>
    <dgm:pt modelId="{9D986328-1111-4025-A99A-F8F63E67A694}" type="parTrans" cxnId="{C8F1EBBF-47B3-4382-95AD-85CFB73B6B1F}">
      <dgm:prSet/>
      <dgm:spPr/>
      <dgm:t>
        <a:bodyPr/>
        <a:lstStyle/>
        <a:p>
          <a:endParaRPr lang="es-ES"/>
        </a:p>
      </dgm:t>
    </dgm:pt>
    <dgm:pt modelId="{AE1EAF5B-33AE-40DB-A272-1DC0A390F27E}" type="sibTrans" cxnId="{C8F1EBBF-47B3-4382-95AD-85CFB73B6B1F}">
      <dgm:prSet/>
      <dgm:spPr/>
      <dgm:t>
        <a:bodyPr/>
        <a:lstStyle/>
        <a:p>
          <a:endParaRPr lang="es-ES"/>
        </a:p>
      </dgm:t>
    </dgm:pt>
    <dgm:pt modelId="{6858AC9E-EF5A-42C5-A7B3-4390980FED21}" type="pres">
      <dgm:prSet presAssocID="{79791763-8DB6-462B-AC3F-6658AA94B4F7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35B7CB-A978-4CBE-82A2-3AD7AF5B1FA9}" type="pres">
      <dgm:prSet presAssocID="{585F0A3D-8FDF-424D-B894-BD59D23CA75A}" presName="vertOne" presStyleCnt="0"/>
      <dgm:spPr/>
    </dgm:pt>
    <dgm:pt modelId="{FFFC0001-85E2-4E4D-A97B-3EA3BF2C6E7D}" type="pres">
      <dgm:prSet presAssocID="{585F0A3D-8FDF-424D-B894-BD59D23CA75A}" presName="txOne" presStyleLbl="node0" presStyleIdx="0" presStyleCnt="1" custLinFactNeighborX="319" custLinFactNeighborY="-48">
        <dgm:presLayoutVars>
          <dgm:chPref val="3"/>
        </dgm:presLayoutVars>
      </dgm:prSet>
      <dgm:spPr/>
    </dgm:pt>
    <dgm:pt modelId="{9D063380-DA44-43DA-928B-DB1A5CDA8DE1}" type="pres">
      <dgm:prSet presAssocID="{585F0A3D-8FDF-424D-B894-BD59D23CA75A}" presName="parTransOne" presStyleCnt="0"/>
      <dgm:spPr/>
    </dgm:pt>
    <dgm:pt modelId="{A673CF19-2FB6-4AE5-9E10-BDFC06724FFA}" type="pres">
      <dgm:prSet presAssocID="{585F0A3D-8FDF-424D-B894-BD59D23CA75A}" presName="horzOne" presStyleCnt="0"/>
      <dgm:spPr/>
    </dgm:pt>
    <dgm:pt modelId="{A47EB72A-937C-4FE5-AA2C-36F0ABD3DA8E}" type="pres">
      <dgm:prSet presAssocID="{2177D0FD-8819-41EC-AE78-1DEFC0DE30EE}" presName="vertTwo" presStyleCnt="0"/>
      <dgm:spPr/>
    </dgm:pt>
    <dgm:pt modelId="{9CBDD863-78C8-455F-BF32-D83FE839438F}" type="pres">
      <dgm:prSet presAssocID="{2177D0FD-8819-41EC-AE78-1DEFC0DE30EE}" presName="txTwo" presStyleLbl="node2" presStyleIdx="0" presStyleCnt="2">
        <dgm:presLayoutVars>
          <dgm:chPref val="3"/>
        </dgm:presLayoutVars>
      </dgm:prSet>
      <dgm:spPr/>
    </dgm:pt>
    <dgm:pt modelId="{00B8B981-DC07-4CFB-9248-1FCF7E257F42}" type="pres">
      <dgm:prSet presAssocID="{2177D0FD-8819-41EC-AE78-1DEFC0DE30EE}" presName="horzTwo" presStyleCnt="0"/>
      <dgm:spPr/>
    </dgm:pt>
    <dgm:pt modelId="{9B977AFB-4C70-4476-BE2B-894E9E81A488}" type="pres">
      <dgm:prSet presAssocID="{44268671-5C13-400B-BD5A-F20F3D906F68}" presName="sibSpaceTwo" presStyleCnt="0"/>
      <dgm:spPr/>
    </dgm:pt>
    <dgm:pt modelId="{22C9EA45-B74E-4CD4-9F49-964CEFDE6928}" type="pres">
      <dgm:prSet presAssocID="{F2094F5C-17C4-4C7B-A335-4C34C6B6EBC3}" presName="vertTwo" presStyleCnt="0"/>
      <dgm:spPr/>
    </dgm:pt>
    <dgm:pt modelId="{98BABE13-0D70-487D-B6C4-F892FA97C539}" type="pres">
      <dgm:prSet presAssocID="{F2094F5C-17C4-4C7B-A335-4C34C6B6EBC3}" presName="txTwo" presStyleLbl="node2" presStyleIdx="1" presStyleCnt="2">
        <dgm:presLayoutVars>
          <dgm:chPref val="3"/>
        </dgm:presLayoutVars>
      </dgm:prSet>
      <dgm:spPr/>
    </dgm:pt>
    <dgm:pt modelId="{E1B35A27-B6CC-4B2A-83D0-FA1473D96F9B}" type="pres">
      <dgm:prSet presAssocID="{F2094F5C-17C4-4C7B-A335-4C34C6B6EBC3}" presName="horzTwo" presStyleCnt="0"/>
      <dgm:spPr/>
    </dgm:pt>
  </dgm:ptLst>
  <dgm:cxnLst>
    <dgm:cxn modelId="{2C4B9216-02C3-4939-9946-9EC36AD3C4A2}" srcId="{79791763-8DB6-462B-AC3F-6658AA94B4F7}" destId="{585F0A3D-8FDF-424D-B894-BD59D23CA75A}" srcOrd="0" destOrd="0" parTransId="{F6DF2DB5-4629-403F-9074-4B08D7A55515}" sibTransId="{E2AB91E4-1BD9-4DFC-916B-39B37CAC3698}"/>
    <dgm:cxn modelId="{E27F687C-6987-4DFD-ADDA-D524FF5825DA}" type="presOf" srcId="{2177D0FD-8819-41EC-AE78-1DEFC0DE30EE}" destId="{9CBDD863-78C8-455F-BF32-D83FE839438F}" srcOrd="0" destOrd="0" presId="urn:microsoft.com/office/officeart/2005/8/layout/hierarchy4"/>
    <dgm:cxn modelId="{D4F69D80-7ACD-40A2-9CC9-BABBF8AFA714}" type="presOf" srcId="{79791763-8DB6-462B-AC3F-6658AA94B4F7}" destId="{6858AC9E-EF5A-42C5-A7B3-4390980FED21}" srcOrd="0" destOrd="0" presId="urn:microsoft.com/office/officeart/2005/8/layout/hierarchy4"/>
    <dgm:cxn modelId="{61D82688-CD6C-401F-9DF2-ABBF8E8B8562}" srcId="{585F0A3D-8FDF-424D-B894-BD59D23CA75A}" destId="{2177D0FD-8819-41EC-AE78-1DEFC0DE30EE}" srcOrd="0" destOrd="0" parTransId="{1F09765A-36F8-46D0-A3C5-FA9A3B1989C6}" sibTransId="{44268671-5C13-400B-BD5A-F20F3D906F68}"/>
    <dgm:cxn modelId="{08EE4895-B6D3-4EE2-AE1F-BE2A5261F0BA}" type="presOf" srcId="{585F0A3D-8FDF-424D-B894-BD59D23CA75A}" destId="{FFFC0001-85E2-4E4D-A97B-3EA3BF2C6E7D}" srcOrd="0" destOrd="0" presId="urn:microsoft.com/office/officeart/2005/8/layout/hierarchy4"/>
    <dgm:cxn modelId="{C8F1EBBF-47B3-4382-95AD-85CFB73B6B1F}" srcId="{585F0A3D-8FDF-424D-B894-BD59D23CA75A}" destId="{F2094F5C-17C4-4C7B-A335-4C34C6B6EBC3}" srcOrd="1" destOrd="0" parTransId="{9D986328-1111-4025-A99A-F8F63E67A694}" sibTransId="{AE1EAF5B-33AE-40DB-A272-1DC0A390F27E}"/>
    <dgm:cxn modelId="{173BD4FE-6FFA-4E07-AA34-C472ACC4945C}" type="presOf" srcId="{F2094F5C-17C4-4C7B-A335-4C34C6B6EBC3}" destId="{98BABE13-0D70-487D-B6C4-F892FA97C539}" srcOrd="0" destOrd="0" presId="urn:microsoft.com/office/officeart/2005/8/layout/hierarchy4"/>
    <dgm:cxn modelId="{F7D8030E-5F44-4232-8EA0-B41725A6B338}" type="presParOf" srcId="{6858AC9E-EF5A-42C5-A7B3-4390980FED21}" destId="{2435B7CB-A978-4CBE-82A2-3AD7AF5B1FA9}" srcOrd="0" destOrd="0" presId="urn:microsoft.com/office/officeart/2005/8/layout/hierarchy4"/>
    <dgm:cxn modelId="{82559994-E276-45E4-8614-138FFF4726FD}" type="presParOf" srcId="{2435B7CB-A978-4CBE-82A2-3AD7AF5B1FA9}" destId="{FFFC0001-85E2-4E4D-A97B-3EA3BF2C6E7D}" srcOrd="0" destOrd="0" presId="urn:microsoft.com/office/officeart/2005/8/layout/hierarchy4"/>
    <dgm:cxn modelId="{6BBD16A0-0367-4DC0-A5C4-6937FDA558A6}" type="presParOf" srcId="{2435B7CB-A978-4CBE-82A2-3AD7AF5B1FA9}" destId="{9D063380-DA44-43DA-928B-DB1A5CDA8DE1}" srcOrd="1" destOrd="0" presId="urn:microsoft.com/office/officeart/2005/8/layout/hierarchy4"/>
    <dgm:cxn modelId="{42EAAD35-1E86-46D2-A521-D3372EA829F0}" type="presParOf" srcId="{2435B7CB-A978-4CBE-82A2-3AD7AF5B1FA9}" destId="{A673CF19-2FB6-4AE5-9E10-BDFC06724FFA}" srcOrd="2" destOrd="0" presId="urn:microsoft.com/office/officeart/2005/8/layout/hierarchy4"/>
    <dgm:cxn modelId="{0789DE49-CBDA-420E-9F57-1A8078FA5CB6}" type="presParOf" srcId="{A673CF19-2FB6-4AE5-9E10-BDFC06724FFA}" destId="{A47EB72A-937C-4FE5-AA2C-36F0ABD3DA8E}" srcOrd="0" destOrd="0" presId="urn:microsoft.com/office/officeart/2005/8/layout/hierarchy4"/>
    <dgm:cxn modelId="{AE9A4B75-58C4-4BFD-A5CC-B1CCE98E6A36}" type="presParOf" srcId="{A47EB72A-937C-4FE5-AA2C-36F0ABD3DA8E}" destId="{9CBDD863-78C8-455F-BF32-D83FE839438F}" srcOrd="0" destOrd="0" presId="urn:microsoft.com/office/officeart/2005/8/layout/hierarchy4"/>
    <dgm:cxn modelId="{31FBF462-5241-4B3C-ABD7-23A3A5C738B3}" type="presParOf" srcId="{A47EB72A-937C-4FE5-AA2C-36F0ABD3DA8E}" destId="{00B8B981-DC07-4CFB-9248-1FCF7E257F42}" srcOrd="1" destOrd="0" presId="urn:microsoft.com/office/officeart/2005/8/layout/hierarchy4"/>
    <dgm:cxn modelId="{2A42F78B-7DC7-44B1-954E-BA232B03256D}" type="presParOf" srcId="{A673CF19-2FB6-4AE5-9E10-BDFC06724FFA}" destId="{9B977AFB-4C70-4476-BE2B-894E9E81A488}" srcOrd="1" destOrd="0" presId="urn:microsoft.com/office/officeart/2005/8/layout/hierarchy4"/>
    <dgm:cxn modelId="{32CF9EB8-FAB1-4036-AEC0-E9002BDAB8C5}" type="presParOf" srcId="{A673CF19-2FB6-4AE5-9E10-BDFC06724FFA}" destId="{22C9EA45-B74E-4CD4-9F49-964CEFDE6928}" srcOrd="2" destOrd="0" presId="urn:microsoft.com/office/officeart/2005/8/layout/hierarchy4"/>
    <dgm:cxn modelId="{E826D72C-8B3E-48B6-9E70-DD2EFD824190}" type="presParOf" srcId="{22C9EA45-B74E-4CD4-9F49-964CEFDE6928}" destId="{98BABE13-0D70-487D-B6C4-F892FA97C539}" srcOrd="0" destOrd="0" presId="urn:microsoft.com/office/officeart/2005/8/layout/hierarchy4"/>
    <dgm:cxn modelId="{9B3D4498-D120-4FFA-873A-92414480D4BC}" type="presParOf" srcId="{22C9EA45-B74E-4CD4-9F49-964CEFDE6928}" destId="{E1B35A27-B6CC-4B2A-83D0-FA1473D96F9B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FC0001-85E2-4E4D-A97B-3EA3BF2C6E7D}">
      <dsp:nvSpPr>
        <dsp:cNvPr id="0" name=""/>
        <dsp:cNvSpPr/>
      </dsp:nvSpPr>
      <dsp:spPr>
        <a:xfrm>
          <a:off x="6755" y="1318"/>
          <a:ext cx="9143508" cy="154411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PERSONA</a:t>
          </a:r>
          <a:br>
            <a:rPr lang="es-ES" sz="2900" kern="1200" dirty="0"/>
          </a:br>
          <a:r>
            <a:rPr lang="es-ES" sz="2900" kern="1200" dirty="0" err="1"/>
            <a:t>String</a:t>
          </a:r>
          <a:r>
            <a:rPr lang="es-ES" sz="2900" kern="1200" dirty="0"/>
            <a:t> nombre</a:t>
          </a:r>
          <a:br>
            <a:rPr lang="es-ES" sz="2900" kern="1200" dirty="0"/>
          </a:br>
          <a:r>
            <a:rPr lang="es-ES" sz="2900" kern="1200" dirty="0" err="1"/>
            <a:t>int</a:t>
          </a:r>
          <a:r>
            <a:rPr lang="es-ES" sz="2900" kern="1200" dirty="0"/>
            <a:t> edad</a:t>
          </a:r>
        </a:p>
      </dsp:txBody>
      <dsp:txXfrm>
        <a:off x="51981" y="46544"/>
        <a:ext cx="9053056" cy="1453665"/>
      </dsp:txXfrm>
    </dsp:sp>
    <dsp:sp modelId="{9CBDD863-78C8-455F-BF32-D83FE839438F}">
      <dsp:nvSpPr>
        <dsp:cNvPr id="0" name=""/>
        <dsp:cNvSpPr/>
      </dsp:nvSpPr>
      <dsp:spPr>
        <a:xfrm>
          <a:off x="3377" y="1783242"/>
          <a:ext cx="4387480" cy="154411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PROFESOR</a:t>
          </a:r>
          <a:br>
            <a:rPr lang="es-ES" sz="2400" kern="1200" dirty="0"/>
          </a:br>
          <a:r>
            <a:rPr lang="es-ES" sz="2400" kern="1200" dirty="0"/>
            <a:t>tiene todo lo que tiene PERSONA y</a:t>
          </a:r>
          <a:br>
            <a:rPr lang="es-ES" sz="2400" kern="1200" dirty="0"/>
          </a:br>
          <a:r>
            <a:rPr lang="es-ES" sz="2400" kern="1200" dirty="0" err="1"/>
            <a:t>String</a:t>
          </a:r>
          <a:r>
            <a:rPr lang="es-ES" sz="2400" kern="1200" dirty="0"/>
            <a:t> [] </a:t>
          </a:r>
          <a:r>
            <a:rPr lang="es-ES" sz="2400" kern="1200" dirty="0" err="1"/>
            <a:t>asignaturasImpartidas</a:t>
          </a:r>
          <a:endParaRPr lang="es-ES" sz="2400" kern="1200" dirty="0"/>
        </a:p>
      </dsp:txBody>
      <dsp:txXfrm>
        <a:off x="48603" y="1828468"/>
        <a:ext cx="4297028" cy="1453665"/>
      </dsp:txXfrm>
    </dsp:sp>
    <dsp:sp modelId="{98BABE13-0D70-487D-B6C4-F892FA97C539}">
      <dsp:nvSpPr>
        <dsp:cNvPr id="0" name=""/>
        <dsp:cNvSpPr/>
      </dsp:nvSpPr>
      <dsp:spPr>
        <a:xfrm>
          <a:off x="4759406" y="1783242"/>
          <a:ext cx="4387480" cy="1544117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ESTUDIANTE</a:t>
          </a:r>
          <a:br>
            <a:rPr lang="es-ES" sz="2400" kern="1200" dirty="0"/>
          </a:br>
          <a:r>
            <a:rPr lang="es-ES" sz="2400" kern="1200" dirty="0"/>
            <a:t>tiene todo lo que tiene PERSONA y </a:t>
          </a:r>
          <a:br>
            <a:rPr lang="es-ES" sz="2400" kern="1200" dirty="0"/>
          </a:br>
          <a:r>
            <a:rPr lang="es-ES" sz="2400" kern="1200" dirty="0" err="1"/>
            <a:t>int</a:t>
          </a:r>
          <a:r>
            <a:rPr lang="es-ES" sz="2400" kern="1200" dirty="0"/>
            <a:t> [] notas</a:t>
          </a:r>
        </a:p>
      </dsp:txBody>
      <dsp:txXfrm>
        <a:off x="4804632" y="1828468"/>
        <a:ext cx="4297028" cy="14536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C63E5-E612-4798-83B5-FEE8583B8D85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7B384-FB42-438C-97CA-E8E7726287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092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317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52753"/>
            <a:ext cx="9905998" cy="62718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762000"/>
            <a:ext cx="9905999" cy="5678122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2105" y="6440122"/>
            <a:ext cx="2743200" cy="365125"/>
          </a:xfrm>
        </p:spPr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83149" y="6440122"/>
            <a:ext cx="6239309" cy="365125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4598" y="6482007"/>
            <a:ext cx="771089" cy="365125"/>
          </a:xfrm>
        </p:spPr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908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754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44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1135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219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491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88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170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826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955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35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3496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423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0999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792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026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0D341-7D63-4718-93BC-7EE0D41121A0}" type="datetimeFigureOut">
              <a:rPr lang="es-ES" smtClean="0"/>
              <a:t>23/01/2023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464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F8FD9-B607-0741-7085-1F122FA01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867341" cy="2387600"/>
          </a:xfrm>
        </p:spPr>
        <p:txBody>
          <a:bodyPr/>
          <a:lstStyle/>
          <a:p>
            <a:r>
              <a:rPr lang="es-ES" dirty="0"/>
              <a:t>Herencia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A8AE28-4B06-3AF7-6438-0933E99DBB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IES Rosa </a:t>
            </a:r>
            <a:r>
              <a:rPr lang="es-ES" dirty="0" err="1"/>
              <a:t>chacel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427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A4D4C7-6776-38D0-F0D7-D7749E12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80A456-5EF3-F252-79EC-55D067F6F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Es un mecanismo para la reutilización de software</a:t>
            </a:r>
          </a:p>
          <a:p>
            <a:endParaRPr lang="es-ES" dirty="0"/>
          </a:p>
          <a:p>
            <a:r>
              <a:rPr lang="es-ES" dirty="0"/>
              <a:t>Permite definir a partir de una clase otras clases que reutilicen todo o parte de los atributos o métodos de la clase de la que heredan</a:t>
            </a:r>
          </a:p>
          <a:p>
            <a:endParaRPr lang="es-ES" dirty="0"/>
          </a:p>
          <a:p>
            <a:r>
              <a:rPr lang="es-ES" dirty="0"/>
              <a:t>Ejemplo: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E44F26A-7F04-3121-6A7E-919C9BAEED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11467"/>
              </p:ext>
            </p:extLst>
          </p:nvPr>
        </p:nvGraphicFramePr>
        <p:xfrm>
          <a:off x="2755725" y="3429000"/>
          <a:ext cx="9150264" cy="3328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6832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D94A3-5664-2A9D-C7B5-7EA664440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3B04B2-2FC1-3C13-A431-AE7916024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07304"/>
            <a:ext cx="9905999" cy="5932818"/>
          </a:xfrm>
        </p:spPr>
        <p:txBody>
          <a:bodyPr>
            <a:normAutofit/>
          </a:bodyPr>
          <a:lstStyle/>
          <a:p>
            <a:r>
              <a:rPr lang="es-ES" dirty="0"/>
              <a:t>La herencia se puede usar para lograr:</a:t>
            </a:r>
          </a:p>
          <a:p>
            <a:pPr lvl="1"/>
            <a:r>
              <a:rPr lang="es-ES" sz="2400" b="1" dirty="0"/>
              <a:t>Especialización</a:t>
            </a:r>
            <a:r>
              <a:rPr lang="es-ES" sz="2400" dirty="0"/>
              <a:t> (la clase Coche como especialización de Vehículo)</a:t>
            </a:r>
            <a:br>
              <a:rPr lang="es-ES" sz="2400" dirty="0"/>
            </a:br>
            <a:r>
              <a:rPr lang="es-ES" sz="2400" u="sng" dirty="0"/>
              <a:t>Escenario</a:t>
            </a:r>
            <a:r>
              <a:rPr lang="es-ES" sz="2400" dirty="0"/>
              <a:t>: Tenemos que desarrollar una nueva clase que se parece mucho a una que tenemos pero necesita información (características y comportamiento) adicional.</a:t>
            </a:r>
            <a:br>
              <a:rPr lang="es-ES" sz="2400" dirty="0"/>
            </a:br>
            <a:r>
              <a:rPr lang="es-ES" sz="2400" u="sng" dirty="0"/>
              <a:t>Solución</a:t>
            </a:r>
            <a:r>
              <a:rPr lang="es-ES" sz="2400" dirty="0"/>
              <a:t> (subclase, clase hija o clase derivada): Creamos una clase derivada y añadimos nueva funcionalidad sin tener que reescribir el código común.</a:t>
            </a:r>
          </a:p>
          <a:p>
            <a:pPr lvl="1"/>
            <a:r>
              <a:rPr lang="es-ES" sz="2400" b="1" dirty="0"/>
              <a:t>Generalización</a:t>
            </a:r>
            <a:r>
              <a:rPr lang="es-ES" sz="2400" dirty="0"/>
              <a:t> (la clase Vehículo como generalización de coche).</a:t>
            </a:r>
            <a:br>
              <a:rPr lang="es-ES" sz="2400" dirty="0"/>
            </a:br>
            <a:r>
              <a:rPr lang="es-ES" sz="2400" u="sng" dirty="0"/>
              <a:t>Escenario</a:t>
            </a:r>
            <a:r>
              <a:rPr lang="es-ES" sz="2400" dirty="0"/>
              <a:t>: Tenemos un conjunto numeroso de clases muy similares con código que se repite y es difícil de actualizar y mantener</a:t>
            </a:r>
            <a:br>
              <a:rPr lang="es-ES" sz="2400" dirty="0"/>
            </a:br>
            <a:r>
              <a:rPr lang="es-ES" sz="2400" u="sng" dirty="0"/>
              <a:t>Solución</a:t>
            </a:r>
            <a:r>
              <a:rPr lang="es-ES" sz="2400" dirty="0"/>
              <a:t> (superclase, clase padre o clase base): Movemos el código que se repite a un único sitio</a:t>
            </a:r>
          </a:p>
        </p:txBody>
      </p:sp>
    </p:spTree>
    <p:extLst>
      <p:ext uri="{BB962C8B-B14F-4D97-AF65-F5344CB8AC3E}">
        <p14:creationId xmlns:p14="http://schemas.microsoft.com/office/powerpoint/2010/main" val="1096647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CEB69-47F0-BA49-42AE-EA0A536B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AFD839-7029-3DEC-490D-E06652B47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5110619"/>
            <a:ext cx="10094434" cy="1694627"/>
          </a:xfrm>
        </p:spPr>
        <p:txBody>
          <a:bodyPr>
            <a:normAutofit/>
          </a:bodyPr>
          <a:lstStyle/>
          <a:p>
            <a:r>
              <a:rPr lang="es-E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Los atributos y métodos que aparecen en azul en la clase padre se repiten en las clases hijas [Izquierda] </a:t>
            </a:r>
          </a:p>
          <a:p>
            <a:r>
              <a:rPr lang="es-E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No es necesario repetir el código, basta con decir que una clase </a:t>
            </a:r>
            <a:r>
              <a:rPr lang="es-ES" sz="2000" b="0" i="0" u="none" strike="noStrike" baseline="0" dirty="0">
                <a:solidFill>
                  <a:srgbClr val="3030CC"/>
                </a:solidFill>
                <a:latin typeface="Times New Roman" panose="02020603050405020304" pitchFamily="18" charset="0"/>
              </a:rPr>
              <a:t>extiende </a:t>
            </a:r>
            <a:r>
              <a:rPr lang="es-E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la otra o </a:t>
            </a:r>
            <a:r>
              <a:rPr lang="es-ES" sz="2000" b="0" i="0" u="none" strike="noStrike" baseline="0" dirty="0">
                <a:solidFill>
                  <a:srgbClr val="3030CC"/>
                </a:solidFill>
                <a:latin typeface="Times New Roman" panose="02020603050405020304" pitchFamily="18" charset="0"/>
              </a:rPr>
              <a:t>hereda </a:t>
            </a:r>
            <a:r>
              <a:rPr lang="es-E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 ella. [Derecha] </a:t>
            </a:r>
            <a:endParaRPr lang="es-ES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90199D-9390-F01A-B1D1-EA9FB69F5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48" y="558364"/>
            <a:ext cx="11498280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0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F2237-58D7-EAAB-1E8D-69A302795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2753"/>
            <a:ext cx="9905998" cy="442025"/>
          </a:xfrm>
        </p:spPr>
        <p:txBody>
          <a:bodyPr>
            <a:normAutofit fontScale="90000"/>
          </a:bodyPr>
          <a:lstStyle/>
          <a:p>
            <a:r>
              <a:rPr lang="es-ES" dirty="0"/>
              <a:t>Herencia: nomenclatura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0C5B6C-E985-6455-47B3-B272AE42E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137" y="432149"/>
            <a:ext cx="10565704" cy="6425852"/>
          </a:xfrm>
        </p:spPr>
        <p:txBody>
          <a:bodyPr>
            <a:normAutofit lnSpcReduction="10000"/>
          </a:bodyPr>
          <a:lstStyle/>
          <a:p>
            <a:r>
              <a:rPr lang="es-ES" sz="3200" dirty="0"/>
              <a:t>Si definimos la clase Taxi a partir de la clase Vehículo se dice que:</a:t>
            </a:r>
          </a:p>
          <a:p>
            <a:pPr lvl="1"/>
            <a:r>
              <a:rPr lang="es-ES" sz="2800" dirty="0"/>
              <a:t>" Taxi " </a:t>
            </a:r>
            <a:r>
              <a:rPr lang="es-ES" sz="2800" b="1" dirty="0"/>
              <a:t>hereda</a:t>
            </a:r>
            <a:r>
              <a:rPr lang="es-ES" sz="2800" dirty="0"/>
              <a:t> las variables y métodos de "</a:t>
            </a:r>
            <a:r>
              <a:rPr lang="es-ES" sz="2800" dirty="0" err="1"/>
              <a:t>Vehiculo</a:t>
            </a:r>
            <a:r>
              <a:rPr lang="es-ES" sz="2800" dirty="0"/>
              <a:t>" </a:t>
            </a:r>
            <a:br>
              <a:rPr lang="es-ES" sz="2800" dirty="0"/>
            </a:br>
            <a:r>
              <a:rPr lang="es-ES" sz="2800" dirty="0"/>
              <a:t>" Taxi " </a:t>
            </a:r>
            <a:r>
              <a:rPr lang="es-ES" sz="2800" b="1" dirty="0"/>
              <a:t>extiende</a:t>
            </a:r>
            <a:r>
              <a:rPr lang="es-ES" sz="2800" dirty="0"/>
              <a:t> "</a:t>
            </a:r>
            <a:r>
              <a:rPr lang="es-ES" sz="2800" dirty="0" err="1"/>
              <a:t>Vehiculo</a:t>
            </a:r>
            <a:r>
              <a:rPr lang="es-ES" sz="2800" dirty="0"/>
              <a:t>"</a:t>
            </a:r>
          </a:p>
          <a:p>
            <a:pPr lvl="1"/>
            <a:r>
              <a:rPr lang="es-ES" sz="2800" dirty="0"/>
              <a:t>" Taxi " es </a:t>
            </a:r>
            <a:r>
              <a:rPr lang="es-ES" sz="2800" b="1" dirty="0"/>
              <a:t>subclase</a:t>
            </a:r>
            <a:r>
              <a:rPr lang="es-ES" sz="2800" dirty="0"/>
              <a:t> de "</a:t>
            </a:r>
            <a:r>
              <a:rPr lang="es-ES" sz="2800" dirty="0" err="1"/>
              <a:t>Vehiculo</a:t>
            </a:r>
            <a:r>
              <a:rPr lang="es-ES" sz="2800" dirty="0"/>
              <a:t>“</a:t>
            </a:r>
            <a:br>
              <a:rPr lang="es-ES" sz="2800" dirty="0"/>
            </a:br>
            <a:r>
              <a:rPr lang="es-ES" sz="2800" dirty="0"/>
              <a:t>" Taxi " es </a:t>
            </a:r>
            <a:r>
              <a:rPr lang="es-ES" sz="2800" b="1" dirty="0"/>
              <a:t>clase derivada </a:t>
            </a:r>
            <a:r>
              <a:rPr lang="es-ES" sz="2800" dirty="0"/>
              <a:t>de "</a:t>
            </a:r>
            <a:r>
              <a:rPr lang="es-ES" sz="2800" dirty="0" err="1"/>
              <a:t>Vehiculo</a:t>
            </a:r>
            <a:r>
              <a:rPr lang="es-ES" sz="2800" dirty="0"/>
              <a:t>“</a:t>
            </a:r>
            <a:br>
              <a:rPr lang="es-ES" sz="2800" dirty="0"/>
            </a:br>
            <a:r>
              <a:rPr lang="es-ES" sz="2800" dirty="0"/>
              <a:t>" Taxi " es </a:t>
            </a:r>
            <a:r>
              <a:rPr lang="es-ES" sz="2800" b="1" dirty="0"/>
              <a:t>clase hija </a:t>
            </a:r>
            <a:r>
              <a:rPr lang="es-ES" sz="2800" dirty="0"/>
              <a:t>de "</a:t>
            </a:r>
            <a:r>
              <a:rPr lang="es-ES" sz="2800" dirty="0" err="1"/>
              <a:t>Vehiculo</a:t>
            </a:r>
            <a:r>
              <a:rPr lang="es-ES" sz="2800" dirty="0"/>
              <a:t>"</a:t>
            </a:r>
          </a:p>
          <a:p>
            <a:pPr lvl="1"/>
            <a:r>
              <a:rPr lang="es-ES" sz="2800" dirty="0"/>
              <a:t>"</a:t>
            </a:r>
            <a:r>
              <a:rPr lang="es-ES" sz="2800" dirty="0" err="1"/>
              <a:t>Vehiculo</a:t>
            </a:r>
            <a:r>
              <a:rPr lang="es-ES" sz="2800" dirty="0"/>
              <a:t>" es </a:t>
            </a:r>
            <a:r>
              <a:rPr lang="es-ES" sz="2800" b="1" dirty="0"/>
              <a:t>superclase</a:t>
            </a:r>
            <a:r>
              <a:rPr lang="es-ES" sz="2800" dirty="0"/>
              <a:t> de " Taxi " </a:t>
            </a:r>
            <a:br>
              <a:rPr lang="es-ES" sz="2800" dirty="0"/>
            </a:br>
            <a:r>
              <a:rPr lang="es-ES" sz="2800" dirty="0"/>
              <a:t>"</a:t>
            </a:r>
            <a:r>
              <a:rPr lang="es-ES" sz="2800" dirty="0" err="1"/>
              <a:t>Vehiculo</a:t>
            </a:r>
            <a:r>
              <a:rPr lang="es-ES" sz="2800" dirty="0"/>
              <a:t>" es </a:t>
            </a:r>
            <a:r>
              <a:rPr lang="es-ES" sz="2800" b="1" dirty="0"/>
              <a:t>clase base </a:t>
            </a:r>
            <a:r>
              <a:rPr lang="es-ES" sz="2800" dirty="0"/>
              <a:t>de " Taxi "</a:t>
            </a:r>
            <a:br>
              <a:rPr lang="es-ES" sz="2800" dirty="0"/>
            </a:br>
            <a:r>
              <a:rPr lang="es-ES" sz="2800" dirty="0"/>
              <a:t>"</a:t>
            </a:r>
            <a:r>
              <a:rPr lang="es-ES" sz="2800" dirty="0" err="1"/>
              <a:t>Vehiculo</a:t>
            </a:r>
            <a:r>
              <a:rPr lang="es-ES" sz="2800" dirty="0"/>
              <a:t>" es </a:t>
            </a:r>
            <a:r>
              <a:rPr lang="es-ES" sz="2800" b="1" dirty="0"/>
              <a:t>clase padre </a:t>
            </a:r>
            <a:r>
              <a:rPr lang="es-ES" sz="2800" dirty="0"/>
              <a:t>de " Taxi "</a:t>
            </a:r>
          </a:p>
          <a:p>
            <a:r>
              <a:rPr lang="es-ES" sz="3200" dirty="0"/>
              <a:t>La herencia realiza la relación es-un</a:t>
            </a:r>
          </a:p>
          <a:p>
            <a:pPr lvl="1"/>
            <a:r>
              <a:rPr lang="es-ES" sz="2800" dirty="0"/>
              <a:t>Un Taxi </a:t>
            </a:r>
            <a:r>
              <a:rPr lang="es-ES" sz="2800" b="1" dirty="0"/>
              <a:t>es-un</a:t>
            </a:r>
            <a:r>
              <a:rPr lang="es-ES" sz="2800" dirty="0"/>
              <a:t> vehículo; un perro </a:t>
            </a:r>
            <a:r>
              <a:rPr lang="es-ES" sz="2800" b="1" dirty="0"/>
              <a:t>es-un</a:t>
            </a:r>
            <a:r>
              <a:rPr lang="es-ES" sz="2800" dirty="0"/>
              <a:t> mamífero, etc.</a:t>
            </a:r>
          </a:p>
        </p:txBody>
      </p:sp>
      <p:pic>
        <p:nvPicPr>
          <p:cNvPr id="4" name="Google Shape;101;p18">
            <a:extLst>
              <a:ext uri="{FF2B5EF4-FFF2-40B4-BE49-F238E27FC236}">
                <a16:creationId xmlns:a16="http://schemas.microsoft.com/office/drawing/2014/main" id="{94AFEA18-1D1F-D07F-FB93-6FB4CED09D4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16825" y="2307366"/>
            <a:ext cx="4675175" cy="3272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3534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218F1-2F15-178C-40B4-BD081B75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HERENCIA: sintaxis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C5B1B4-F699-F781-19F1-AB0CE3135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3600" dirty="0"/>
              <a:t>En Java para indicar que una clase hereda de otras se emplea la palabra reservada </a:t>
            </a:r>
            <a:r>
              <a:rPr lang="es-ES" sz="3600" dirty="0" err="1"/>
              <a:t>extends</a:t>
            </a:r>
            <a:r>
              <a:rPr lang="es-ES" sz="3600" dirty="0"/>
              <a:t>, la sintaxis es:</a:t>
            </a:r>
          </a:p>
          <a:p>
            <a:endParaRPr lang="es-ES" sz="3600" dirty="0"/>
          </a:p>
          <a:p>
            <a:r>
              <a:rPr lang="es-ES" sz="3600" dirty="0"/>
              <a:t> [Modificador] </a:t>
            </a:r>
            <a:r>
              <a:rPr lang="es-ES" sz="3600" dirty="0" err="1"/>
              <a:t>class</a:t>
            </a:r>
            <a:r>
              <a:rPr lang="es-ES" sz="3600" dirty="0"/>
              <a:t> </a:t>
            </a:r>
            <a:r>
              <a:rPr lang="es-ES" sz="3600" dirty="0" err="1"/>
              <a:t>ClaseHija</a:t>
            </a:r>
            <a:r>
              <a:rPr lang="es-ES" sz="3600" dirty="0"/>
              <a:t> </a:t>
            </a:r>
            <a:r>
              <a:rPr lang="es-ES" sz="3600" b="1" dirty="0" err="1"/>
              <a:t>extends</a:t>
            </a:r>
            <a:r>
              <a:rPr lang="es-ES" sz="3600" dirty="0"/>
              <a:t> </a:t>
            </a:r>
            <a:r>
              <a:rPr lang="es-ES" sz="3600" dirty="0" err="1"/>
              <a:t>ClasePadre</a:t>
            </a:r>
            <a:r>
              <a:rPr lang="es-ES" sz="3600" dirty="0"/>
              <a:t> {...}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743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29AE8-F57A-2C1E-8F17-7B7B7ABC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Declaración de clases derivadas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6DF3D9-CC7C-0BC6-C93B-CCCDA1D59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205" y="1114816"/>
            <a:ext cx="6136211" cy="5300254"/>
          </a:xfrm>
        </p:spPr>
        <p:txBody>
          <a:bodyPr>
            <a:normAutofit/>
          </a:bodyPr>
          <a:lstStyle/>
          <a:p>
            <a:r>
              <a:rPr lang="en-US" sz="2800" dirty="0"/>
              <a:t>public class Persona </a:t>
            </a:r>
            <a:br>
              <a:rPr lang="en-US" sz="2800" dirty="0"/>
            </a:br>
            <a:r>
              <a:rPr lang="en-US" sz="2800" dirty="0"/>
              <a:t>{ }</a:t>
            </a:r>
          </a:p>
          <a:p>
            <a:r>
              <a:rPr lang="en-US" sz="2800" dirty="0"/>
              <a:t>public class </a:t>
            </a:r>
            <a:r>
              <a:rPr lang="en-US" sz="2800" dirty="0" err="1"/>
              <a:t>Alumno</a:t>
            </a:r>
            <a:r>
              <a:rPr lang="en-US" sz="2800" dirty="0"/>
              <a:t> extends Persona </a:t>
            </a:r>
            <a:br>
              <a:rPr lang="en-US" sz="2800" dirty="0"/>
            </a:br>
            <a:r>
              <a:rPr lang="en-US" sz="2800" dirty="0"/>
              <a:t>{ }</a:t>
            </a:r>
          </a:p>
          <a:p>
            <a:r>
              <a:rPr lang="en-US" sz="2800" dirty="0"/>
              <a:t>public class </a:t>
            </a:r>
            <a:r>
              <a:rPr lang="en-US" sz="2800" dirty="0" err="1"/>
              <a:t>Empleado</a:t>
            </a:r>
            <a:r>
              <a:rPr lang="en-US" sz="2800" dirty="0"/>
              <a:t> extends Persona { }</a:t>
            </a:r>
          </a:p>
          <a:p>
            <a:r>
              <a:rPr lang="en-US" sz="2800" dirty="0"/>
              <a:t>public class </a:t>
            </a:r>
            <a:r>
              <a:rPr lang="en-US" sz="2800" dirty="0" err="1"/>
              <a:t>Profesor</a:t>
            </a:r>
            <a:r>
              <a:rPr lang="en-US" sz="2800" dirty="0"/>
              <a:t> extends </a:t>
            </a:r>
            <a:r>
              <a:rPr lang="en-US" sz="2800" dirty="0" err="1"/>
              <a:t>Empleado</a:t>
            </a:r>
            <a:r>
              <a:rPr lang="en-US" sz="2800" dirty="0"/>
              <a:t> { }</a:t>
            </a:r>
          </a:p>
          <a:p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EE9A83B-E6DF-3411-C2DA-CE500B9B1BA2}"/>
              </a:ext>
            </a:extLst>
          </p:cNvPr>
          <p:cNvSpPr/>
          <p:nvPr/>
        </p:nvSpPr>
        <p:spPr>
          <a:xfrm>
            <a:off x="1488239" y="970768"/>
            <a:ext cx="2561572" cy="7891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PERSONA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BC775DD-D0A4-E170-5CA9-792FD895F531}"/>
              </a:ext>
            </a:extLst>
          </p:cNvPr>
          <p:cNvSpPr/>
          <p:nvPr/>
        </p:nvSpPr>
        <p:spPr>
          <a:xfrm>
            <a:off x="2862970" y="2516286"/>
            <a:ext cx="2561572" cy="7891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ALUMNO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4CD9FB6-2A07-E22B-9884-D43E11EE4D5D}"/>
              </a:ext>
            </a:extLst>
          </p:cNvPr>
          <p:cNvSpPr/>
          <p:nvPr/>
        </p:nvSpPr>
        <p:spPr>
          <a:xfrm>
            <a:off x="80376" y="2516286"/>
            <a:ext cx="2561572" cy="7891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EMPLEADO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0EEBA72-DB05-9F8C-D414-F411EE2AE7B7}"/>
              </a:ext>
            </a:extLst>
          </p:cNvPr>
          <p:cNvSpPr/>
          <p:nvPr/>
        </p:nvSpPr>
        <p:spPr>
          <a:xfrm>
            <a:off x="90543" y="4152379"/>
            <a:ext cx="2561572" cy="7891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PROFESOR</a:t>
            </a: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80926C81-C561-8C49-5704-983EB48D6564}"/>
              </a:ext>
            </a:extLst>
          </p:cNvPr>
          <p:cNvCxnSpPr>
            <a:stCxn id="7" idx="0"/>
            <a:endCxn id="5" idx="2"/>
          </p:cNvCxnSpPr>
          <p:nvPr/>
        </p:nvCxnSpPr>
        <p:spPr>
          <a:xfrm rot="5400000" flipH="1" flipV="1">
            <a:off x="1686904" y="1434166"/>
            <a:ext cx="756378" cy="140786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80B7EF5D-88E3-BF7C-0CFF-B2761046DD7B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16200000" flipV="1">
            <a:off x="3078202" y="1450731"/>
            <a:ext cx="756378" cy="13747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3EE6029-EBF4-7B49-5506-6846C684F141}"/>
              </a:ext>
            </a:extLst>
          </p:cNvPr>
          <p:cNvCxnSpPr>
            <a:stCxn id="8" idx="0"/>
            <a:endCxn id="7" idx="2"/>
          </p:cNvCxnSpPr>
          <p:nvPr/>
        </p:nvCxnSpPr>
        <p:spPr>
          <a:xfrm flipH="1" flipV="1">
            <a:off x="1361162" y="3305426"/>
            <a:ext cx="10167" cy="8469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70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1EF19-8489-938F-55A8-96D79FBF7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Subclase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ED1056-9994-5CDD-6EB6-E8D0A6CC9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49" y="547285"/>
            <a:ext cx="4667901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0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2BC62-DAD7-8208-06FA-10347BA4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080322-F230-65D0-B706-6CFC932DB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510"/>
            <a:ext cx="8536488" cy="51393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D5985A8-0EB6-2D3E-D6AA-2F0C02346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511" y="1166121"/>
            <a:ext cx="3665489" cy="4525757"/>
          </a:xfrm>
          <a:prstGeom prst="rect">
            <a:avLst/>
          </a:prstGeom>
        </p:spPr>
      </p:pic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FCA24788-0BCB-197E-8820-C675B3D60BC6}"/>
              </a:ext>
            </a:extLst>
          </p:cNvPr>
          <p:cNvSpPr/>
          <p:nvPr/>
        </p:nvSpPr>
        <p:spPr>
          <a:xfrm rot="3918713">
            <a:off x="4970691" y="220407"/>
            <a:ext cx="538619" cy="189143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7944766-8814-2E13-EA61-F0C9CD95A076}"/>
              </a:ext>
            </a:extLst>
          </p:cNvPr>
          <p:cNvSpPr/>
          <p:nvPr/>
        </p:nvSpPr>
        <p:spPr>
          <a:xfrm>
            <a:off x="5999967" y="145250"/>
            <a:ext cx="2386208" cy="102087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 err="1"/>
              <a:t>protected</a:t>
            </a:r>
            <a:br>
              <a:rPr lang="es-ES" dirty="0"/>
            </a:br>
            <a:r>
              <a:rPr lang="es-ES" dirty="0"/>
              <a:t>accesibles desde las </a:t>
            </a:r>
            <a:r>
              <a:rPr lang="es-ES" dirty="0" err="1"/>
              <a:t>sublases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44286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D5985A8-0EB6-2D3E-D6AA-2F0C02346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94" y="3200400"/>
            <a:ext cx="3016206" cy="372409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E7A565E-390F-770B-79AB-B4AA59A24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59665" cy="68713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C2BC62-DAD7-8208-06FA-10347BA4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3522" y="52754"/>
            <a:ext cx="2956143" cy="730124"/>
          </a:xfrm>
        </p:spPr>
        <p:txBody>
          <a:bodyPr/>
          <a:lstStyle/>
          <a:p>
            <a:r>
              <a:rPr lang="es-ES" dirty="0"/>
              <a:t>ejemplo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216661F-FA72-03BB-140B-6B4997C2FACB}"/>
              </a:ext>
            </a:extLst>
          </p:cNvPr>
          <p:cNvSpPr/>
          <p:nvPr/>
        </p:nvSpPr>
        <p:spPr>
          <a:xfrm>
            <a:off x="7874133" y="105692"/>
            <a:ext cx="3400816" cy="157081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/>
              <a:t>super()</a:t>
            </a:r>
            <a:br>
              <a:rPr lang="es-ES" dirty="0"/>
            </a:br>
            <a:r>
              <a:rPr lang="es-ES" dirty="0"/>
              <a:t>accedo a constructores o métodos de la superclase</a:t>
            </a:r>
          </a:p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591D8F2-A254-05A2-9830-1336B66132D0}"/>
              </a:ext>
            </a:extLst>
          </p:cNvPr>
          <p:cNvSpPr txBox="1"/>
          <p:nvPr/>
        </p:nvSpPr>
        <p:spPr>
          <a:xfrm>
            <a:off x="6077692" y="1782199"/>
            <a:ext cx="6103306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s-ES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public</a:t>
            </a:r>
            <a:r>
              <a:rPr lang="es-E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  <a:r>
              <a:rPr lang="es-ES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Alumno(</a:t>
            </a:r>
            <a:r>
              <a:rPr lang="es-ES" sz="1800" u="sng" dirty="0" err="1">
                <a:solidFill>
                  <a:srgbClr val="3F7F5F"/>
                </a:solidFill>
                <a:latin typeface="Courier New" panose="02070309020205020404" pitchFamily="49" charset="0"/>
              </a:rPr>
              <a:t>String</a:t>
            </a:r>
            <a:r>
              <a:rPr lang="es-ES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 nombre, </a:t>
            </a:r>
            <a:r>
              <a:rPr lang="es-ES" sz="1800" u="sng" dirty="0" err="1">
                <a:solidFill>
                  <a:srgbClr val="3F7F5F"/>
                </a:solidFill>
                <a:latin typeface="Courier New" panose="02070309020205020404" pitchFamily="49" charset="0"/>
              </a:rPr>
              <a:t>String</a:t>
            </a:r>
            <a:r>
              <a:rPr lang="es-ES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 apellidos, </a:t>
            </a:r>
            <a:r>
              <a:rPr lang="es-ES" sz="1800" u="sng" dirty="0" err="1">
                <a:solidFill>
                  <a:srgbClr val="3F7F5F"/>
                </a:solidFill>
                <a:latin typeface="Courier New" panose="02070309020205020404" pitchFamily="49" charset="0"/>
              </a:rPr>
              <a:t>int</a:t>
            </a:r>
            <a:r>
              <a:rPr lang="es-ES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  <a:r>
              <a:rPr lang="es-ES" sz="1800" u="sng" dirty="0" err="1">
                <a:solidFill>
                  <a:srgbClr val="3F7F5F"/>
                </a:solidFill>
                <a:latin typeface="Courier New" panose="02070309020205020404" pitchFamily="49" charset="0"/>
              </a:rPr>
              <a:t>anyoNacimiento</a:t>
            </a:r>
            <a:r>
              <a:rPr lang="es-ES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) {</a:t>
            </a:r>
          </a:p>
          <a:p>
            <a:pPr algn="l"/>
            <a:r>
              <a:rPr lang="es-E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this.nombre</a:t>
            </a:r>
            <a:r>
              <a:rPr lang="es-E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 = </a:t>
            </a:r>
            <a:r>
              <a:rPr lang="es-ES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nombre; </a:t>
            </a:r>
          </a:p>
          <a:p>
            <a:pPr algn="l"/>
            <a:r>
              <a:rPr lang="es-E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this.apellidos</a:t>
            </a:r>
            <a:r>
              <a:rPr lang="es-E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 = </a:t>
            </a:r>
            <a:r>
              <a:rPr lang="es-ES" sz="1800" u="sng" dirty="0">
                <a:solidFill>
                  <a:srgbClr val="3F7F5F"/>
                </a:solidFill>
                <a:latin typeface="Courier New" panose="02070309020205020404" pitchFamily="49" charset="0"/>
              </a:rPr>
              <a:t>apellidos; </a:t>
            </a:r>
          </a:p>
          <a:p>
            <a:pPr algn="l"/>
            <a:r>
              <a:rPr lang="es-E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 </a:t>
            </a:r>
            <a:r>
              <a:rPr lang="es-ES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this.anyoNacimiento</a:t>
            </a:r>
            <a:r>
              <a:rPr lang="es-E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 =</a:t>
            </a:r>
            <a:r>
              <a:rPr lang="es-ES" sz="1800" dirty="0" err="1">
                <a:solidFill>
                  <a:srgbClr val="3F7F5F"/>
                </a:solidFill>
                <a:latin typeface="Courier New" panose="02070309020205020404" pitchFamily="49" charset="0"/>
              </a:rPr>
              <a:t>anyoNacimiento</a:t>
            </a:r>
            <a:r>
              <a:rPr lang="es-ES" sz="1800" dirty="0">
                <a:solidFill>
                  <a:srgbClr val="3F7F5F"/>
                </a:solidFill>
                <a:latin typeface="Courier New" panose="02070309020205020404" pitchFamily="49" charset="0"/>
              </a:rPr>
              <a:t>; }</a:t>
            </a:r>
            <a:endParaRPr lang="es-ES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6561408-CCEE-EC8D-C6B7-5AD3A70F481C}"/>
              </a:ext>
            </a:extLst>
          </p:cNvPr>
          <p:cNvCxnSpPr/>
          <p:nvPr/>
        </p:nvCxnSpPr>
        <p:spPr>
          <a:xfrm flipH="1" flipV="1">
            <a:off x="5367403" y="1922745"/>
            <a:ext cx="710289" cy="3632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894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EA7B2-CDDD-FC53-A7F4-A37F2491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Prueba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0C8F93-FE32-E8F7-E582-6199D25BE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810" y="924078"/>
            <a:ext cx="9933864" cy="309497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5D1FE5D-7F77-D78E-3E6D-818428EDF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821" y="4851511"/>
            <a:ext cx="7183150" cy="15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09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F88E3-3A61-D6F3-F12C-5CE6063CD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pasaría si…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BADCEE-36A4-766F-A67A-D4A83C9D0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762001"/>
            <a:ext cx="6167524" cy="903962"/>
          </a:xfrm>
        </p:spPr>
        <p:txBody>
          <a:bodyPr/>
          <a:lstStyle/>
          <a:p>
            <a:r>
              <a:rPr lang="es-ES" dirty="0"/>
              <a:t>…el atributo nombre fuera declarado </a:t>
            </a:r>
            <a:r>
              <a:rPr lang="es-ES" dirty="0" err="1"/>
              <a:t>private</a:t>
            </a:r>
            <a:r>
              <a:rPr lang="es-ES" dirty="0"/>
              <a:t>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A24031-78A0-544F-C384-F0988E1E6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249" y="126485"/>
            <a:ext cx="4364369" cy="11069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2F52C46-2381-4EA6-A823-F68FF67D4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4" y="2482642"/>
            <a:ext cx="5798607" cy="143423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D9B1F61-A145-5396-CCE3-5A3A051F9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535" y="2322095"/>
            <a:ext cx="6261465" cy="1206636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A436986F-C2D5-A550-B9B4-65EF6D7BFA19}"/>
              </a:ext>
            </a:extLst>
          </p:cNvPr>
          <p:cNvSpPr txBox="1">
            <a:spLocks/>
          </p:cNvSpPr>
          <p:nvPr/>
        </p:nvSpPr>
        <p:spPr>
          <a:xfrm>
            <a:off x="510936" y="3810401"/>
            <a:ext cx="4712417" cy="1982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dirty="0"/>
              <a:t>¡NO FUNCIONA!</a:t>
            </a:r>
          </a:p>
          <a:p>
            <a:pPr marL="0" indent="0">
              <a:buNone/>
            </a:pPr>
            <a:r>
              <a:rPr lang="es-ES" dirty="0"/>
              <a:t>Al intentar acceder a </a:t>
            </a:r>
            <a:r>
              <a:rPr lang="es-ES" dirty="0" err="1"/>
              <a:t>this.nombre</a:t>
            </a:r>
            <a:r>
              <a:rPr lang="es-ES" dirty="0"/>
              <a:t> sale el error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EB17CE0-8931-2D15-896F-E7B57F534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936" y="5393905"/>
            <a:ext cx="4201848" cy="395690"/>
          </a:xfrm>
          <a:prstGeom prst="rect">
            <a:avLst/>
          </a:prstGeom>
        </p:spPr>
      </p:pic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405F102-9F1F-0B5F-B6A6-BEA336ECA6A0}"/>
              </a:ext>
            </a:extLst>
          </p:cNvPr>
          <p:cNvSpPr txBox="1">
            <a:spLocks/>
          </p:cNvSpPr>
          <p:nvPr/>
        </p:nvSpPr>
        <p:spPr>
          <a:xfrm>
            <a:off x="6506728" y="3806708"/>
            <a:ext cx="4712417" cy="2825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dirty="0"/>
              <a:t>¡SÍ FUNCIONA!</a:t>
            </a:r>
          </a:p>
          <a:p>
            <a:pPr marL="0" indent="0">
              <a:buNone/>
            </a:pPr>
            <a:r>
              <a:rPr lang="es-ES" dirty="0"/>
              <a:t>No accedo directamente al campo privado, sino llamo el constructor de la superclase (que podría incluir controles adicionales sobre el campo que he declarado </a:t>
            </a:r>
            <a:r>
              <a:rPr lang="es-ES" dirty="0" err="1"/>
              <a:t>private</a:t>
            </a:r>
            <a:r>
              <a:rPr lang="es-ES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2561577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860B1-3526-56FE-40B2-B3E44D921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Un ejercicio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18B33710-746D-8DA9-F9C4-EAEF7E402F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470998"/>
              </p:ext>
            </p:extLst>
          </p:nvPr>
        </p:nvGraphicFramePr>
        <p:xfrm>
          <a:off x="5156005" y="52753"/>
          <a:ext cx="2547502" cy="3153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7502">
                  <a:extLst>
                    <a:ext uri="{9D8B030D-6E8A-4147-A177-3AD203B41FA5}">
                      <a16:colId xmlns:a16="http://schemas.microsoft.com/office/drawing/2014/main" val="1806255986"/>
                    </a:ext>
                  </a:extLst>
                </a:gridCol>
              </a:tblGrid>
              <a:tr h="431903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Dispositivo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6398"/>
                  </a:ext>
                </a:extLst>
              </a:tr>
              <a:tr h="710054">
                <a:tc>
                  <a:txBody>
                    <a:bodyPr/>
                    <a:lstStyle/>
                    <a:p>
                      <a:r>
                        <a:rPr lang="es-ES" dirty="0" err="1"/>
                        <a:t>String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numeroSerial</a:t>
                      </a:r>
                      <a:endParaRPr lang="es-ES" dirty="0"/>
                    </a:p>
                    <a:p>
                      <a:r>
                        <a:rPr lang="es-ES" dirty="0" err="1"/>
                        <a:t>Boolean</a:t>
                      </a:r>
                      <a:r>
                        <a:rPr lang="es-ES" dirty="0"/>
                        <a:t> encendido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550053"/>
                  </a:ext>
                </a:extLst>
              </a:tr>
              <a:tr h="757639">
                <a:tc>
                  <a:txBody>
                    <a:bodyPr/>
                    <a:lstStyle/>
                    <a:p>
                      <a:r>
                        <a:rPr lang="es-ES" dirty="0"/>
                        <a:t>enciende():enciende el dispositivo</a:t>
                      </a:r>
                      <a:br>
                        <a:rPr lang="es-ES" dirty="0"/>
                      </a:br>
                      <a:r>
                        <a:rPr lang="es-ES" dirty="0"/>
                        <a:t>apaga():apaga el dispositivo</a:t>
                      </a:r>
                      <a:br>
                        <a:rPr lang="es-ES" dirty="0"/>
                      </a:br>
                      <a:r>
                        <a:rPr lang="es-ES" dirty="0"/>
                        <a:t>estado(): escribe “&lt;</a:t>
                      </a:r>
                      <a:r>
                        <a:rPr lang="es-ES" dirty="0" err="1"/>
                        <a:t>numeroSerial</a:t>
                      </a:r>
                      <a:r>
                        <a:rPr lang="es-ES" dirty="0"/>
                        <a:t>&gt; está encendido/apagado”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2177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9B570A5-ED63-8111-9422-67A1CAD739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7013000"/>
              </p:ext>
            </p:extLst>
          </p:nvPr>
        </p:nvGraphicFramePr>
        <p:xfrm>
          <a:off x="1141413" y="3624759"/>
          <a:ext cx="2547502" cy="28793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7502">
                  <a:extLst>
                    <a:ext uri="{9D8B030D-6E8A-4147-A177-3AD203B41FA5}">
                      <a16:colId xmlns:a16="http://schemas.microsoft.com/office/drawing/2014/main" val="1806255986"/>
                    </a:ext>
                  </a:extLst>
                </a:gridCol>
              </a:tblGrid>
              <a:tr h="431903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Movil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6398"/>
                  </a:ext>
                </a:extLst>
              </a:tr>
              <a:tr h="710054">
                <a:tc>
                  <a:txBody>
                    <a:bodyPr/>
                    <a:lstStyle/>
                    <a:p>
                      <a:r>
                        <a:rPr lang="es-ES" dirty="0" err="1"/>
                        <a:t>long</a:t>
                      </a:r>
                      <a:r>
                        <a:rPr lang="es-ES" dirty="0"/>
                        <a:t> numero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550053"/>
                  </a:ext>
                </a:extLst>
              </a:tr>
              <a:tr h="757639">
                <a:tc>
                  <a:txBody>
                    <a:bodyPr/>
                    <a:lstStyle/>
                    <a:p>
                      <a:r>
                        <a:rPr lang="es-ES" dirty="0" err="1"/>
                        <a:t>estadoMovil</a:t>
                      </a:r>
                      <a:r>
                        <a:rPr lang="es-ES" dirty="0"/>
                        <a:t>():escribe “el móvil con numero &lt;numero&gt; y numero serial &lt;</a:t>
                      </a:r>
                      <a:r>
                        <a:rPr lang="es-ES" dirty="0" err="1"/>
                        <a:t>numeroSerial</a:t>
                      </a:r>
                      <a:r>
                        <a:rPr lang="es-ES" dirty="0"/>
                        <a:t>&gt; está encendido/apagado”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21774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E2DF83D-E6BA-B13A-006F-C4F8F3483D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8694823"/>
              </p:ext>
            </p:extLst>
          </p:nvPr>
        </p:nvGraphicFramePr>
        <p:xfrm>
          <a:off x="8952206" y="3745210"/>
          <a:ext cx="2547502" cy="26306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47502">
                  <a:extLst>
                    <a:ext uri="{9D8B030D-6E8A-4147-A177-3AD203B41FA5}">
                      <a16:colId xmlns:a16="http://schemas.microsoft.com/office/drawing/2014/main" val="1806255986"/>
                    </a:ext>
                  </a:extLst>
                </a:gridCol>
              </a:tblGrid>
              <a:tr h="45751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Ordenador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6398"/>
                  </a:ext>
                </a:extLst>
              </a:tr>
              <a:tr h="710054">
                <a:tc>
                  <a:txBody>
                    <a:bodyPr/>
                    <a:lstStyle/>
                    <a:p>
                      <a:r>
                        <a:rPr lang="es-ES" dirty="0" err="1"/>
                        <a:t>String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ip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550053"/>
                  </a:ext>
                </a:extLst>
              </a:tr>
              <a:tr h="757639">
                <a:tc>
                  <a:txBody>
                    <a:bodyPr/>
                    <a:lstStyle/>
                    <a:p>
                      <a:r>
                        <a:rPr lang="es-ES" dirty="0" err="1"/>
                        <a:t>estadoOrdenador</a:t>
                      </a:r>
                      <a:r>
                        <a:rPr lang="es-ES" dirty="0"/>
                        <a:t>():escribe “el móvil con </a:t>
                      </a:r>
                      <a:r>
                        <a:rPr lang="es-ES" dirty="0" err="1"/>
                        <a:t>ip</a:t>
                      </a:r>
                      <a:r>
                        <a:rPr lang="es-ES" dirty="0"/>
                        <a:t> &lt;</a:t>
                      </a:r>
                      <a:r>
                        <a:rPr lang="es-ES" dirty="0" err="1"/>
                        <a:t>ip</a:t>
                      </a:r>
                      <a:r>
                        <a:rPr lang="es-ES" dirty="0"/>
                        <a:t>&gt; y numero serial &lt;</a:t>
                      </a:r>
                      <a:r>
                        <a:rPr lang="es-ES" dirty="0" err="1"/>
                        <a:t>numeroSerial</a:t>
                      </a:r>
                      <a:r>
                        <a:rPr lang="es-ES" dirty="0"/>
                        <a:t>&gt; está encendido/apagado”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021774"/>
                  </a:ext>
                </a:extLst>
              </a:tr>
            </a:tbl>
          </a:graphicData>
        </a:graphic>
      </p:graphicFrame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94799291-8A43-DEAF-3FB0-556E5984A099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rot="10800000">
            <a:off x="6429756" y="3206391"/>
            <a:ext cx="2522450" cy="18541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8A558EA6-660F-94AA-3B39-D543FA2349F6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3688915" y="3206390"/>
            <a:ext cx="2740841" cy="18580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88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6F89A-529D-47ED-F169-72786D03A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2754"/>
            <a:ext cx="9905998" cy="460814"/>
          </a:xfrm>
        </p:spPr>
        <p:txBody>
          <a:bodyPr>
            <a:normAutofit fontScale="90000"/>
          </a:bodyPr>
          <a:lstStyle/>
          <a:p>
            <a:r>
              <a:rPr lang="es-ES" dirty="0"/>
              <a:t>Jerarquía de herencia en java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AB5F5E-30D5-69C9-4E67-61C4B6829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419" y="432148"/>
            <a:ext cx="10589220" cy="5744927"/>
          </a:xfrm>
        </p:spPr>
        <p:txBody>
          <a:bodyPr/>
          <a:lstStyle/>
          <a:p>
            <a:r>
              <a:rPr lang="es-ES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En Java, todas las clases están relacionadas en una única jerarquía de herencia</a:t>
            </a:r>
          </a:p>
          <a:p>
            <a:r>
              <a:rPr lang="es-ES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Una clase puede:</a:t>
            </a:r>
          </a:p>
          <a:p>
            <a:pPr lvl="1"/>
            <a:r>
              <a:rPr lang="es-ES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heredar explícitamente de otra clase</a:t>
            </a:r>
          </a:p>
          <a:p>
            <a:pPr lvl="1"/>
            <a:r>
              <a:rPr lang="es-ES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o bien heredar implícitamente de la clase</a:t>
            </a:r>
            <a:br>
              <a:rPr lang="es-ES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s-ES" sz="28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Object</a:t>
            </a:r>
            <a:r>
              <a:rPr lang="es-ES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(definida en el núcleo de Java)</a:t>
            </a:r>
          </a:p>
          <a:p>
            <a:r>
              <a:rPr lang="es-ES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Esto se cumple tanto para las clases predefinidas como para las clases definidas por el usuario</a:t>
            </a:r>
            <a:endParaRPr lang="es-ES" sz="3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89F275-F5F1-6584-148B-D0B0681032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32"/>
          <a:stretch/>
        </p:blipFill>
        <p:spPr>
          <a:xfrm>
            <a:off x="764418" y="4584526"/>
            <a:ext cx="10212225" cy="222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829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EAC10-1FAA-19AD-92D6-EF01CEA1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Constructores y herencia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D1233A-AB14-9A7F-4D09-5312D4555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la creación de un objeto:</a:t>
            </a:r>
          </a:p>
          <a:p>
            <a:pPr marL="0" indent="0">
              <a:buNone/>
            </a:pPr>
            <a:r>
              <a:rPr lang="es-ES" dirty="0"/>
              <a:t>	1. Se crea su parte base</a:t>
            </a:r>
          </a:p>
          <a:p>
            <a:pPr marL="0" indent="0">
              <a:buNone/>
            </a:pPr>
            <a:r>
              <a:rPr lang="es-ES" dirty="0"/>
              <a:t>	2. Se añade su parte derivada</a:t>
            </a:r>
          </a:p>
          <a:p>
            <a:r>
              <a:rPr lang="es-ES" dirty="0"/>
              <a:t>Si la clase base del objeto hereda a su vez de otra, en el paso 1 se aplica el mismo orden de creación, hasta llegar a </a:t>
            </a:r>
            <a:r>
              <a:rPr lang="es-ES" b="1" dirty="0" err="1"/>
              <a:t>Object</a:t>
            </a:r>
            <a:endParaRPr lang="es-ES" b="1" dirty="0"/>
          </a:p>
          <a:p>
            <a:r>
              <a:rPr lang="es-ES" dirty="0"/>
              <a:t>En la creación de un objeto </a:t>
            </a:r>
            <a:r>
              <a:rPr lang="es-ES" b="1" dirty="0"/>
              <a:t>Alumno</a:t>
            </a:r>
            <a:r>
              <a:rPr lang="es-ES" dirty="0"/>
              <a:t> que hereda de </a:t>
            </a:r>
            <a:r>
              <a:rPr lang="es-ES" b="1" dirty="0"/>
              <a:t>Persona</a:t>
            </a:r>
            <a:r>
              <a:rPr lang="es-ES" dirty="0"/>
              <a:t>, los pasos son:</a:t>
            </a:r>
          </a:p>
          <a:p>
            <a:pPr marL="0" indent="0">
              <a:buNone/>
            </a:pPr>
            <a:r>
              <a:rPr lang="es-ES" dirty="0"/>
              <a:t>	1. Se crea la parte correspondiente a </a:t>
            </a:r>
            <a:r>
              <a:rPr lang="es-ES" b="1" dirty="0"/>
              <a:t>Persona</a:t>
            </a:r>
            <a:r>
              <a:rPr lang="es-ES" dirty="0"/>
              <a:t>. Para ello</a:t>
            </a:r>
          </a:p>
          <a:p>
            <a:pPr marL="0" indent="0">
              <a:buNone/>
            </a:pPr>
            <a:r>
              <a:rPr lang="es-ES" dirty="0"/>
              <a:t>		1. Se crea la parte correspondiente a </a:t>
            </a:r>
            <a:r>
              <a:rPr lang="es-ES" b="1" dirty="0" err="1"/>
              <a:t>Object</a:t>
            </a:r>
            <a:endParaRPr lang="es-ES" b="1" dirty="0"/>
          </a:p>
          <a:p>
            <a:pPr marL="0" indent="0">
              <a:buNone/>
            </a:pPr>
            <a:r>
              <a:rPr lang="es-ES" dirty="0"/>
              <a:t>		2. Se añaden los elementos de </a:t>
            </a:r>
            <a:r>
              <a:rPr lang="es-ES" b="1" dirty="0"/>
              <a:t>Persona</a:t>
            </a:r>
          </a:p>
          <a:p>
            <a:pPr marL="0" indent="0">
              <a:buNone/>
            </a:pPr>
            <a:r>
              <a:rPr lang="es-ES" dirty="0"/>
              <a:t>	2. Se añaden los elementos de </a:t>
            </a:r>
            <a:r>
              <a:rPr lang="es-ES" b="1" dirty="0"/>
              <a:t>Alumno</a:t>
            </a:r>
          </a:p>
        </p:txBody>
      </p:sp>
    </p:spTree>
    <p:extLst>
      <p:ext uri="{BB962C8B-B14F-4D97-AF65-F5344CB8AC3E}">
        <p14:creationId xmlns:p14="http://schemas.microsoft.com/office/powerpoint/2010/main" val="280516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F9AFC-15CE-3732-74F9-B36ED0CA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Constructores y herencia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29FF26-FE0B-2CF0-A74D-1FF213982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sz="3600" dirty="0"/>
              <a:t>En el constructor de la clase derivada se realiza </a:t>
            </a:r>
            <a:r>
              <a:rPr lang="es-ES" sz="3600" b="1" dirty="0"/>
              <a:t>siempre</a:t>
            </a:r>
            <a:r>
              <a:rPr lang="es-ES" sz="3600" dirty="0"/>
              <a:t> una llamada al </a:t>
            </a:r>
            <a:r>
              <a:rPr lang="es-ES" sz="3600" b="1" dirty="0"/>
              <a:t>constructor de la clase base</a:t>
            </a:r>
          </a:p>
          <a:p>
            <a:r>
              <a:rPr lang="es-ES" sz="3600" dirty="0"/>
              <a:t>Ésta es la primera acción del constructor (aparece en la primera línea)</a:t>
            </a:r>
          </a:p>
          <a:p>
            <a:r>
              <a:rPr lang="es-ES" sz="3600" dirty="0"/>
              <a:t>Hay dos posibilidades:</a:t>
            </a:r>
          </a:p>
          <a:p>
            <a:pPr lvl="1"/>
            <a:r>
              <a:rPr lang="es-ES" sz="3200" dirty="0"/>
              <a:t>No indicarlo explícitamente</a:t>
            </a:r>
          </a:p>
          <a:p>
            <a:pPr lvl="1"/>
            <a:r>
              <a:rPr lang="es-ES" sz="3200" dirty="0"/>
              <a:t>Indicarlo explícitamente (</a:t>
            </a:r>
            <a:r>
              <a:rPr lang="es-ES" sz="3200" b="1" dirty="0"/>
              <a:t>obligatoriamente en la primera línea</a:t>
            </a:r>
            <a:r>
              <a:rPr lang="es-E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40218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73AE9-8F01-4A7D-A396-6039A95F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Constructores y herencia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FD71D2-38AB-03D5-806B-8A1ECAECA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dirty="0"/>
              <a:t>1. Si no se indica explícitamente, Java inserta automáticamente una llamada a super() en la primera línea del constructor de la clase derivada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58E762-C71D-09F0-9F27-63BF7EE40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14" y="2753908"/>
            <a:ext cx="10401394" cy="376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303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06900-1599-F76C-9A43-C109104E1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Constructores y herencia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B23310-E57F-8DB4-A698-138EE232D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4000" dirty="0"/>
              <a:t>2. Indicándolo explícitamente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E706E9-77C1-61AE-D69D-2665B95D3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92" y="3041372"/>
            <a:ext cx="10698219" cy="339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700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2581A-1083-DF1F-D395-944F037C7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Shadowing</a:t>
            </a:r>
            <a:r>
              <a:rPr lang="es-ES" dirty="0"/>
              <a:t> y </a:t>
            </a:r>
            <a:r>
              <a:rPr lang="es-ES" dirty="0" err="1"/>
              <a:t>overriding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629965-5945-002E-228F-73C6580C0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Modificación de los elementos de la clase base dentro de la clase derivada “reescribiendo” una parte del código</a:t>
            </a:r>
          </a:p>
          <a:p>
            <a:r>
              <a:rPr lang="es-ES" sz="3200" dirty="0"/>
              <a:t>La clase derivada puede definir:</a:t>
            </a:r>
          </a:p>
          <a:p>
            <a:pPr lvl="1"/>
            <a:r>
              <a:rPr lang="es-ES" sz="2800" dirty="0"/>
              <a:t>Un atributo con el mismo nombre que uno de la clase base → Ocultación de atributos (</a:t>
            </a:r>
            <a:r>
              <a:rPr lang="es-ES" sz="2800" dirty="0" err="1"/>
              <a:t>shadowing</a:t>
            </a:r>
            <a:r>
              <a:rPr lang="es-ES" sz="2800" dirty="0"/>
              <a:t>)</a:t>
            </a:r>
          </a:p>
          <a:p>
            <a:pPr lvl="1"/>
            <a:r>
              <a:rPr lang="es-ES" sz="2800" dirty="0"/>
              <a:t>Un método con la misma signatura que uno de la clase base → Redefinición de métodos (</a:t>
            </a:r>
            <a:r>
              <a:rPr lang="es-ES" sz="2800" dirty="0" err="1"/>
              <a:t>overriding</a:t>
            </a:r>
            <a:r>
              <a:rPr lang="es-ES" sz="2800" dirty="0"/>
              <a:t>)</a:t>
            </a:r>
          </a:p>
          <a:p>
            <a:r>
              <a:rPr lang="es-ES" sz="3200" dirty="0"/>
              <a:t>Lo más usual cuando se produce reescritura es que se reescriba un método</a:t>
            </a:r>
          </a:p>
        </p:txBody>
      </p:sp>
    </p:spTree>
    <p:extLst>
      <p:ext uri="{BB962C8B-B14F-4D97-AF65-F5344CB8AC3E}">
        <p14:creationId xmlns:p14="http://schemas.microsoft.com/office/powerpoint/2010/main" val="1541452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5260AD-53F3-016C-0ECB-807620DE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shadowing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82731F1-0EF3-9DE9-6A99-7138EF035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123" y="762000"/>
            <a:ext cx="9346579" cy="5678488"/>
          </a:xfrm>
        </p:spPr>
      </p:pic>
    </p:spTree>
    <p:extLst>
      <p:ext uri="{BB962C8B-B14F-4D97-AF65-F5344CB8AC3E}">
        <p14:creationId xmlns:p14="http://schemas.microsoft.com/office/powerpoint/2010/main" val="3091630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02DFB-D913-5F75-BC53-285351B6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shadowing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667546-43D4-AEB2-9DBD-D18263A6F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Si definimos en una subclase un atributo del mismo nombre y tipo que en la superclase, la de la superclase queda oculta.</a:t>
            </a:r>
          </a:p>
          <a:p>
            <a:r>
              <a:rPr lang="es-ES" sz="4000" dirty="0"/>
              <a:t>Podemos acceder a la variable de la subclase o de la superclase utilizando </a:t>
            </a:r>
            <a:r>
              <a:rPr lang="es-ES" sz="4000" dirty="0" err="1"/>
              <a:t>this</a:t>
            </a:r>
            <a:r>
              <a:rPr lang="es-ES" sz="4000" dirty="0"/>
              <a:t> y super.</a:t>
            </a:r>
          </a:p>
        </p:txBody>
      </p:sp>
    </p:spTree>
    <p:extLst>
      <p:ext uri="{BB962C8B-B14F-4D97-AF65-F5344CB8AC3E}">
        <p14:creationId xmlns:p14="http://schemas.microsoft.com/office/powerpoint/2010/main" val="3427567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827BE-59DB-9FD0-D5E7-A1BE0B4C9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shadowing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270B667-6D3B-41DE-91D4-5AC460EA0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964270"/>
            <a:ext cx="9906000" cy="5273947"/>
          </a:xfrm>
        </p:spPr>
      </p:pic>
    </p:spTree>
    <p:extLst>
      <p:ext uri="{BB962C8B-B14F-4D97-AF65-F5344CB8AC3E}">
        <p14:creationId xmlns:p14="http://schemas.microsoft.com/office/powerpoint/2010/main" val="667100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F9EE0-DDD0-E31C-6A8A-C7307CCCF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overriding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A198B1-3C4B-AB52-E0EE-6BBDC42DE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reescritura de métodos es útil para</a:t>
            </a:r>
          </a:p>
          <a:p>
            <a:pPr lvl="1"/>
            <a:r>
              <a:rPr lang="es-ES" dirty="0"/>
              <a:t>Ampliar la funcionalidad de un método</a:t>
            </a:r>
          </a:p>
          <a:p>
            <a:pPr lvl="1"/>
            <a:r>
              <a:rPr lang="es-ES" dirty="0"/>
              <a:t>Particularizar la funcionalidad de un método a la clase derivada</a:t>
            </a:r>
          </a:p>
          <a:p>
            <a:r>
              <a:rPr lang="es-ES" dirty="0"/>
              <a:t>Si definimos en una subclase un método con la misma signatura (nombre + tipo y número de parámetros) que en la superclase el de la superclase queda oculto.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AFE03F9-C4A2-6AB9-51F2-F892B70A1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3996879"/>
            <a:ext cx="9373908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59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9AEAE-E6AD-5294-28A5-F2D2C8BD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overriding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0521C6-18FA-BA98-4A05-1A52CCA50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4BDCC6-B6EE-1022-7924-8BFEA41C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72" y="762000"/>
            <a:ext cx="10872256" cy="615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3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DD497-411F-F525-F803-36865D87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overriding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DDDBEF-8869-5592-DA6A-910C55BCF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4000" dirty="0"/>
              <a:t>Al mandar un mensaje a un objeto, el método seleccionado:</a:t>
            </a:r>
          </a:p>
          <a:p>
            <a:pPr lvl="1"/>
            <a:r>
              <a:rPr lang="es-ES" sz="3600" dirty="0"/>
              <a:t>Depende de la clase real de la que el objeto es una instancia</a:t>
            </a:r>
          </a:p>
          <a:p>
            <a:pPr lvl="1"/>
            <a:r>
              <a:rPr lang="es-ES" sz="3600" dirty="0"/>
              <a:t>No de la clase de referencia a la que esté asignado, como en el caso de los atributos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18667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C0F50-8139-8CD1-D31E-E34425AC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overriding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5A7E9C-F7D2-8504-80EF-FD3A8A69F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623" y="679938"/>
            <a:ext cx="9221487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10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B84FB-1978-0B67-661B-96A66A8B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super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C8DF83-D6F7-4E01-16B5-BA432527A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009" y="749474"/>
            <a:ext cx="9905999" cy="5678122"/>
          </a:xfrm>
        </p:spPr>
        <p:txBody>
          <a:bodyPr/>
          <a:lstStyle/>
          <a:p>
            <a:r>
              <a:rPr lang="es-ES" dirty="0"/>
              <a:t>referencia al objeto actual como si fuera una instancia de su superclase</a:t>
            </a:r>
          </a:p>
          <a:p>
            <a:r>
              <a:rPr lang="es-ES" dirty="0"/>
              <a:t>A través de la referencia a super se puede acceder explícitamente a métodos de la superclase</a:t>
            </a:r>
          </a:p>
          <a:p>
            <a:r>
              <a:rPr lang="es-ES" dirty="0"/>
              <a:t>Para reescribir métodos (no sólo el constructor), puede ser útil usar la referencia a super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2B3E372-E847-EB5B-D82E-8F8543500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09" y="3351444"/>
            <a:ext cx="10333190" cy="299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81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C24F1-FAB6-A730-32A1-14858B89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Super  (resumen)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9F925C-72DF-AB49-556F-32EC272CD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super() o super(param1,param2,…)</a:t>
            </a:r>
          </a:p>
          <a:p>
            <a:pPr lvl="1"/>
            <a:r>
              <a:rPr lang="es-ES" sz="2800" dirty="0"/>
              <a:t>Tiene que ir en la primera línea del constructor</a:t>
            </a:r>
          </a:p>
          <a:p>
            <a:pPr lvl="1"/>
            <a:r>
              <a:rPr lang="es-ES" sz="2800" dirty="0"/>
              <a:t>Si no se pone nada, se ejecuta </a:t>
            </a:r>
            <a:r>
              <a:rPr lang="es-ES" sz="2800" dirty="0" err="1"/>
              <a:t>implictamente</a:t>
            </a:r>
            <a:r>
              <a:rPr lang="es-ES" sz="2800" dirty="0"/>
              <a:t> super()</a:t>
            </a:r>
          </a:p>
          <a:p>
            <a:r>
              <a:rPr lang="es-ES" sz="3200" dirty="0"/>
              <a:t>Super como referencia (parecido al “</a:t>
            </a:r>
            <a:r>
              <a:rPr lang="es-ES" sz="3200" dirty="0" err="1"/>
              <a:t>this</a:t>
            </a:r>
            <a:r>
              <a:rPr lang="es-ES" sz="3200" dirty="0"/>
              <a:t>” pero para la superclase)</a:t>
            </a:r>
          </a:p>
          <a:p>
            <a:pPr lvl="1"/>
            <a:r>
              <a:rPr lang="es-ES" sz="2800" dirty="0" err="1"/>
              <a:t>super.metodo</a:t>
            </a:r>
            <a:r>
              <a:rPr lang="es-ES" sz="2800" dirty="0"/>
              <a:t>() para acceder explícitamente a un método de la superclase</a:t>
            </a:r>
          </a:p>
          <a:p>
            <a:pPr lvl="1"/>
            <a:r>
              <a:rPr lang="es-ES" sz="2800" dirty="0" err="1"/>
              <a:t>super.atributo</a:t>
            </a:r>
            <a:r>
              <a:rPr lang="es-ES" sz="2800" dirty="0"/>
              <a:t> para acceder explícitamente a un atributo de la superclase</a:t>
            </a:r>
          </a:p>
        </p:txBody>
      </p:sp>
    </p:spTree>
    <p:extLst>
      <p:ext uri="{BB962C8B-B14F-4D97-AF65-F5344CB8AC3E}">
        <p14:creationId xmlns:p14="http://schemas.microsoft.com/office/powerpoint/2010/main" val="1066585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BD320-677E-0BAF-A803-235CD134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Overriding</a:t>
            </a:r>
            <a:r>
              <a:rPr lang="es-ES" dirty="0"/>
              <a:t> vs </a:t>
            </a:r>
            <a:r>
              <a:rPr lang="es-ES" dirty="0" err="1"/>
              <a:t>overloading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06199B-E7E6-A092-E05C-E60CCFA0B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 err="1"/>
              <a:t>Overriding</a:t>
            </a:r>
            <a:r>
              <a:rPr lang="es-ES" sz="3200" dirty="0"/>
              <a:t>: La subclase sustituye la implementación de un método de la superclase</a:t>
            </a:r>
          </a:p>
          <a:p>
            <a:pPr lvl="1"/>
            <a:r>
              <a:rPr lang="es-ES" sz="2800" dirty="0"/>
              <a:t>Ambos métodos tienen que tener la misma signatura</a:t>
            </a:r>
          </a:p>
          <a:p>
            <a:pPr lvl="1"/>
            <a:endParaRPr lang="es-ES" sz="2800" dirty="0"/>
          </a:p>
          <a:p>
            <a:r>
              <a:rPr lang="es-ES" sz="3200" dirty="0" err="1"/>
              <a:t>Overloading</a:t>
            </a:r>
            <a:r>
              <a:rPr lang="es-ES" sz="3200" dirty="0"/>
              <a:t>: Existe más de un método con el mismo nombre pero distinta signatura</a:t>
            </a:r>
          </a:p>
          <a:p>
            <a:pPr lvl="1"/>
            <a:r>
              <a:rPr lang="es-ES" sz="2800" dirty="0"/>
              <a:t>Los métodos sobrecargados pueden definirse en la misma clase o en distintas clases de la jerarquía de herencia</a:t>
            </a:r>
          </a:p>
        </p:txBody>
      </p:sp>
    </p:spTree>
    <p:extLst>
      <p:ext uri="{BB962C8B-B14F-4D97-AF65-F5344CB8AC3E}">
        <p14:creationId xmlns:p14="http://schemas.microsoft.com/office/powerpoint/2010/main" val="40142116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B4DC85-9BAD-CEE5-7E2F-E6E1C2B0E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instanceof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C930C3-1958-AF7B-929A-8A9E687EA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762000"/>
            <a:ext cx="11402568" cy="5678122"/>
          </a:xfrm>
        </p:spPr>
        <p:txBody>
          <a:bodyPr/>
          <a:lstStyle/>
          <a:p>
            <a:r>
              <a:rPr lang="es-ES" dirty="0"/>
              <a:t>Puedo usar el operador </a:t>
            </a:r>
            <a:r>
              <a:rPr lang="es-ES" dirty="0" err="1"/>
              <a:t>instanceof</a:t>
            </a:r>
            <a:r>
              <a:rPr lang="es-ES" dirty="0"/>
              <a:t> para saber si un objeto es una instancia de una clase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75DC54-35B9-7AA8-ABAC-D2C73B811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02" y="1489747"/>
            <a:ext cx="10507980" cy="452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472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2300</TotalTime>
  <Words>1309</Words>
  <Application>Microsoft Office PowerPoint</Application>
  <PresentationFormat>Panorámica</PresentationFormat>
  <Paragraphs>134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Times New Roman</vt:lpstr>
      <vt:lpstr>Circuito</vt:lpstr>
      <vt:lpstr>Herencia</vt:lpstr>
      <vt:lpstr>HERENCIA</vt:lpstr>
      <vt:lpstr>herencia</vt:lpstr>
      <vt:lpstr>HERENCIA</vt:lpstr>
      <vt:lpstr>Herencia: nomenclatura</vt:lpstr>
      <vt:lpstr>HERENCIA: sintaxis</vt:lpstr>
      <vt:lpstr>Declaración de clases derivadas</vt:lpstr>
      <vt:lpstr>Subclase</vt:lpstr>
      <vt:lpstr>ejemplo</vt:lpstr>
      <vt:lpstr>ejemplo</vt:lpstr>
      <vt:lpstr>Prueba</vt:lpstr>
      <vt:lpstr>¿qué pasaría si…</vt:lpstr>
      <vt:lpstr>Un ejercicio</vt:lpstr>
      <vt:lpstr>Jerarquía de herencia en java</vt:lpstr>
      <vt:lpstr>Constructores y herencia</vt:lpstr>
      <vt:lpstr>Constructores y herencia</vt:lpstr>
      <vt:lpstr>Constructores y herencia</vt:lpstr>
      <vt:lpstr>Constructores y herencia</vt:lpstr>
      <vt:lpstr>Shadowing y overriding</vt:lpstr>
      <vt:lpstr>shadowing</vt:lpstr>
      <vt:lpstr>shadowing</vt:lpstr>
      <vt:lpstr>shadowing</vt:lpstr>
      <vt:lpstr>overriding</vt:lpstr>
      <vt:lpstr>overriding</vt:lpstr>
      <vt:lpstr>overriding</vt:lpstr>
      <vt:lpstr>overriding</vt:lpstr>
      <vt:lpstr>super</vt:lpstr>
      <vt:lpstr>Super  (resumen)</vt:lpstr>
      <vt:lpstr>Overriding vs overloading</vt:lpstr>
      <vt:lpstr>instanceof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</dc:title>
  <dc:creator>SChiesa</dc:creator>
  <cp:lastModifiedBy>Alumno</cp:lastModifiedBy>
  <cp:revision>44</cp:revision>
  <dcterms:created xsi:type="dcterms:W3CDTF">2022-09-10T09:06:03Z</dcterms:created>
  <dcterms:modified xsi:type="dcterms:W3CDTF">2023-01-23T10:51:19Z</dcterms:modified>
</cp:coreProperties>
</file>