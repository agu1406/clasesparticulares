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A851865-6A2E-4E15-965B-7BD9BEB272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4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C63E5-E612-4798-83B5-FEE8583B8D85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7B384-FB42-438C-97CA-E8E7726287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092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317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52753"/>
            <a:ext cx="9905998" cy="62718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62000"/>
            <a:ext cx="9905999" cy="5678122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2105" y="6440122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83149" y="6440122"/>
            <a:ext cx="6239309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4598" y="6482007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908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754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4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113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1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491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88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70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826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955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35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349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42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099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92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026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464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F8FD9-B607-0741-7085-1F122FA01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867341" cy="2387600"/>
          </a:xfrm>
        </p:spPr>
        <p:txBody>
          <a:bodyPr/>
          <a:lstStyle/>
          <a:p>
            <a:r>
              <a:rPr lang="es-ES" dirty="0"/>
              <a:t>Programación orientada a objetos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A8AE28-4B06-3AF7-6438-0933E99DB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IES Rosa </a:t>
            </a:r>
            <a:r>
              <a:rPr lang="es-ES" dirty="0" err="1"/>
              <a:t>chacel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427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D4A74-430B-5A73-8D5F-93F4B83F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9899"/>
            <a:ext cx="9905998" cy="890868"/>
          </a:xfrm>
        </p:spPr>
        <p:txBody>
          <a:bodyPr/>
          <a:lstStyle/>
          <a:p>
            <a:r>
              <a:rPr lang="es-ES" dirty="0"/>
              <a:t>Programación Orientada a Objetos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8E5420-67F5-1EC7-B756-AF51C79CB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186" y="789140"/>
            <a:ext cx="9995225" cy="598896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La </a:t>
            </a:r>
            <a:r>
              <a:rPr lang="en-US" sz="2800" dirty="0" err="1">
                <a:solidFill>
                  <a:srgbClr val="000000"/>
                </a:solidFill>
              </a:rPr>
              <a:t>programación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orientada</a:t>
            </a:r>
            <a:r>
              <a:rPr lang="en-US" sz="2800" dirty="0">
                <a:solidFill>
                  <a:srgbClr val="000000"/>
                </a:solidFill>
              </a:rPr>
              <a:t> a </a:t>
            </a:r>
            <a:r>
              <a:rPr lang="en-US" sz="2800" dirty="0" err="1">
                <a:solidFill>
                  <a:srgbClr val="000000"/>
                </a:solidFill>
              </a:rPr>
              <a:t>objetos</a:t>
            </a:r>
            <a:r>
              <a:rPr lang="en-US" sz="2800" dirty="0">
                <a:solidFill>
                  <a:srgbClr val="000000"/>
                </a:solidFill>
              </a:rPr>
              <a:t> (POO ú OOP </a:t>
            </a:r>
            <a:r>
              <a:rPr lang="en-US" sz="2800" dirty="0" err="1">
                <a:solidFill>
                  <a:srgbClr val="000000"/>
                </a:solidFill>
              </a:rPr>
              <a:t>en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inglés</a:t>
            </a:r>
            <a:r>
              <a:rPr lang="en-US" sz="2800" dirty="0">
                <a:solidFill>
                  <a:srgbClr val="000000"/>
                </a:solidFill>
              </a:rPr>
              <a:t>), es un </a:t>
            </a:r>
            <a:r>
              <a:rPr lang="en-US" sz="2800" dirty="0" err="1">
                <a:solidFill>
                  <a:srgbClr val="000000"/>
                </a:solidFill>
              </a:rPr>
              <a:t>paradigma</a:t>
            </a:r>
            <a:r>
              <a:rPr lang="en-US" sz="2800" dirty="0">
                <a:solidFill>
                  <a:srgbClr val="000000"/>
                </a:solidFill>
              </a:rPr>
              <a:t> de </a:t>
            </a:r>
            <a:r>
              <a:rPr lang="en-US" sz="2800" dirty="0" err="1">
                <a:solidFill>
                  <a:srgbClr val="000000"/>
                </a:solidFill>
              </a:rPr>
              <a:t>programación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cuyo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elemento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estructural</a:t>
            </a:r>
            <a:r>
              <a:rPr lang="en-US" sz="2800" dirty="0">
                <a:solidFill>
                  <a:srgbClr val="000000"/>
                </a:solidFill>
              </a:rPr>
              <a:t> principal es </a:t>
            </a:r>
            <a:r>
              <a:rPr lang="en-US" sz="2800" dirty="0" err="1">
                <a:solidFill>
                  <a:srgbClr val="000000"/>
                </a:solidFill>
              </a:rPr>
              <a:t>el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b="1" u="sng" dirty="0" err="1">
                <a:solidFill>
                  <a:srgbClr val="000000"/>
                </a:solidFill>
              </a:rPr>
              <a:t>objeto</a:t>
            </a:r>
            <a:endParaRPr lang="en-US" sz="2800" b="1" u="sng" dirty="0">
              <a:solidFill>
                <a:srgbClr val="000000"/>
              </a:solidFill>
            </a:endParaRPr>
          </a:p>
          <a:p>
            <a:r>
              <a:rPr lang="en-US" sz="2800" dirty="0">
                <a:solidFill>
                  <a:srgbClr val="000000"/>
                </a:solidFill>
              </a:rPr>
              <a:t>El </a:t>
            </a:r>
            <a:r>
              <a:rPr lang="en-US" sz="2800" dirty="0" err="1">
                <a:solidFill>
                  <a:srgbClr val="000000"/>
                </a:solidFill>
              </a:rPr>
              <a:t>elemento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estructural</a:t>
            </a:r>
            <a:r>
              <a:rPr lang="en-US" sz="2800" dirty="0">
                <a:solidFill>
                  <a:srgbClr val="000000"/>
                </a:solidFill>
              </a:rPr>
              <a:t> principal </a:t>
            </a:r>
            <a:r>
              <a:rPr lang="en-US" sz="2800" dirty="0" err="1">
                <a:solidFill>
                  <a:srgbClr val="000000"/>
                </a:solidFill>
              </a:rPr>
              <a:t>en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el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paradigma</a:t>
            </a:r>
            <a:r>
              <a:rPr lang="en-US" sz="2800" dirty="0">
                <a:solidFill>
                  <a:srgbClr val="000000"/>
                </a:solidFill>
              </a:rPr>
              <a:t> de </a:t>
            </a:r>
            <a:r>
              <a:rPr lang="en-US" sz="2800" dirty="0" err="1">
                <a:solidFill>
                  <a:srgbClr val="000000"/>
                </a:solidFill>
              </a:rPr>
              <a:t>programación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imperativo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estructurado</a:t>
            </a:r>
            <a:r>
              <a:rPr lang="en-US" sz="2800" dirty="0">
                <a:solidFill>
                  <a:srgbClr val="000000"/>
                </a:solidFill>
              </a:rPr>
              <a:t> era la </a:t>
            </a:r>
            <a:r>
              <a:rPr lang="en-US" sz="2800" u="sng" dirty="0" err="1">
                <a:solidFill>
                  <a:srgbClr val="000000"/>
                </a:solidFill>
              </a:rPr>
              <a:t>función</a:t>
            </a:r>
            <a:r>
              <a:rPr lang="en-US" sz="2800" dirty="0">
                <a:solidFill>
                  <a:srgbClr val="000000"/>
                </a:solidFill>
              </a:rPr>
              <a:t>.</a:t>
            </a:r>
            <a:endParaRPr lang="en-US" sz="2800" b="1" u="sng" dirty="0">
              <a:solidFill>
                <a:srgbClr val="000000"/>
              </a:solidFill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Las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mejoras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que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aporta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la POO son:</a:t>
            </a:r>
          </a:p>
          <a:p>
            <a:pPr marL="914400" marR="0" lvl="1" indent="-381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/>
              <a:buChar char="o"/>
              <a:tabLst/>
              <a:defRPr/>
            </a:pPr>
            <a:r>
              <a:rPr kumimoji="0" lang="en-US" sz="28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Análisis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: la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mente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humana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piensa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más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fácilmente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en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objetos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que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en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procesos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y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datos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de forma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separada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.</a:t>
            </a:r>
          </a:p>
          <a:p>
            <a:pPr marL="914400" marR="0" lvl="1" indent="-381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/>
              <a:buChar char="o"/>
              <a:tabLst/>
              <a:defRPr/>
            </a:pPr>
            <a:r>
              <a:rPr kumimoji="0" lang="en-US" sz="28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Escalabilidad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: es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más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fácil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añadir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nuevas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funcionalidades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o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ampliar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las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ya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existentes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.</a:t>
            </a:r>
          </a:p>
          <a:p>
            <a:pPr marL="914400" marR="0" lvl="1" indent="-381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/>
              <a:buChar char="o"/>
              <a:tabLst/>
              <a:defRPr/>
            </a:pPr>
            <a:r>
              <a:rPr kumimoji="0" lang="en-US" sz="28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Reutilización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del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código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: es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más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fácil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utilizar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código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antiguo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, y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evitar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reinventar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 la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rueda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  <a:rtl val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41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BC249-5219-5AB6-6F11-DA2D16B8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Características de la P.O.O.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F4AA1-E878-1C22-4ECE-0E1F5F38A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62000"/>
            <a:ext cx="4514089" cy="5678122"/>
          </a:xfrm>
        </p:spPr>
        <p:txBody>
          <a:bodyPr>
            <a:normAutofit lnSpcReduction="10000"/>
          </a:bodyPr>
          <a:lstStyle/>
          <a:p>
            <a:r>
              <a:rPr lang="es-ES" dirty="0"/>
              <a:t>Creamos clases que definen unos datos y un comportamiento, y crearemos objetos de estas clases.</a:t>
            </a:r>
          </a:p>
          <a:p>
            <a:r>
              <a:rPr lang="es-ES" dirty="0"/>
              <a:t>Los objetos colaboran entre ellos para conseguir algo. </a:t>
            </a:r>
          </a:p>
          <a:p>
            <a:r>
              <a:rPr lang="es-ES" dirty="0"/>
              <a:t>Entre objetos la forma de colaborar es pasándose mensajes (haciendo llamadas a métodos)</a:t>
            </a:r>
          </a:p>
          <a:p>
            <a:r>
              <a:rPr lang="es-ES" dirty="0"/>
              <a:t>Cada clase va a ocuparse de lo que es su responsabilidad. </a:t>
            </a:r>
          </a:p>
          <a:p>
            <a:endParaRPr lang="es-ES" dirty="0"/>
          </a:p>
        </p:txBody>
      </p:sp>
      <p:sp>
        <p:nvSpPr>
          <p:cNvPr id="6" name="Google Shape;79;p15">
            <a:extLst>
              <a:ext uri="{FF2B5EF4-FFF2-40B4-BE49-F238E27FC236}">
                <a16:creationId xmlns:a16="http://schemas.microsoft.com/office/drawing/2014/main" id="{D5409351-E011-8334-6754-74FBCAEE062F}"/>
              </a:ext>
            </a:extLst>
          </p:cNvPr>
          <p:cNvSpPr txBox="1">
            <a:spLocks/>
          </p:cNvSpPr>
          <p:nvPr/>
        </p:nvSpPr>
        <p:spPr>
          <a:xfrm>
            <a:off x="6094412" y="898188"/>
            <a:ext cx="5592372" cy="50078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dirty="0"/>
              <a:t>Un coche puede ser un ejemplo de clase, con unas características y una funcionalidad propias.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dirty="0"/>
              <a:t>Un coche puede tener como características el color, la marca, el modelo, la matrícula. 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dirty="0"/>
              <a:t>Su funcionalidad puede ser desplazarse o parar.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dirty="0"/>
              <a:t>Una clase coche se responsabilizará de manejar todo aquello que tenga que ver con el coche. Un </a:t>
            </a:r>
            <a:r>
              <a:rPr lang="es-ES" dirty="0" err="1"/>
              <a:t>garage</a:t>
            </a:r>
            <a:r>
              <a:rPr lang="es-ES" dirty="0"/>
              <a:t> con muchos coches puede hacer uso de ella o un conductor también.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ES" dirty="0"/>
              <a:t>Cuando queramos que un coche se desplace, en un </a:t>
            </a:r>
            <a:r>
              <a:rPr lang="es-ES" dirty="0" err="1"/>
              <a:t>garage</a:t>
            </a:r>
            <a:r>
              <a:rPr lang="es-ES" dirty="0"/>
              <a:t>, tendremos que comunicarnos con el coche específico y darle la dirección a la que queremos que se desplace.</a:t>
            </a:r>
          </a:p>
        </p:txBody>
      </p:sp>
    </p:spTree>
    <p:extLst>
      <p:ext uri="{BB962C8B-B14F-4D97-AF65-F5344CB8AC3E}">
        <p14:creationId xmlns:p14="http://schemas.microsoft.com/office/powerpoint/2010/main" val="148744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F1DB-3DA7-A48C-1DF8-B69FAA01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7AE37D-31BB-3EC1-1579-2BA5F1709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200" dirty="0"/>
              <a:t>Una clase es lo que en el lenguaje de programación nos va a permitir definir o construir uno o varios objetos.</a:t>
            </a:r>
          </a:p>
          <a:p>
            <a:endParaRPr lang="es-ES" sz="3200" dirty="0"/>
          </a:p>
          <a:p>
            <a:r>
              <a:rPr lang="es-ES" sz="3200" dirty="0"/>
              <a:t>Podemos decir que son moldes para construir objetos. Estos moldes tienen que ser escritos o programados y cada molde va a tener unas características:</a:t>
            </a:r>
          </a:p>
          <a:p>
            <a:pPr lvl="1"/>
            <a:r>
              <a:rPr lang="es-ES" sz="2800" dirty="0"/>
              <a:t>nombre</a:t>
            </a:r>
          </a:p>
          <a:p>
            <a:pPr lvl="1"/>
            <a:r>
              <a:rPr lang="es-ES" sz="2800" dirty="0"/>
              <a:t>atributos</a:t>
            </a:r>
          </a:p>
          <a:p>
            <a:pPr lvl="1"/>
            <a:r>
              <a:rPr lang="es-ES" sz="2800" dirty="0"/>
              <a:t>métodos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355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D2495-E8AB-F261-74C3-2789D6D5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D10AEE-6938-99E7-6750-916E1B38C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Java una clase (</a:t>
            </a:r>
            <a:r>
              <a:rPr lang="es-ES" dirty="0" err="1"/>
              <a:t>ej</a:t>
            </a:r>
            <a:r>
              <a:rPr lang="es-ES" dirty="0"/>
              <a:t>: Persona) se define en un fichero que tiene el mismo nombre y extensión .java (</a:t>
            </a:r>
            <a:r>
              <a:rPr lang="es-ES" dirty="0" err="1"/>
              <a:t>ej:Persona.java</a:t>
            </a:r>
            <a:r>
              <a:rPr lang="es-ES" dirty="0"/>
              <a:t>).</a:t>
            </a:r>
          </a:p>
          <a:p>
            <a:r>
              <a:rPr lang="es-ES" dirty="0"/>
              <a:t>La palabra reservada “</a:t>
            </a:r>
            <a:r>
              <a:rPr lang="es-ES" dirty="0" err="1"/>
              <a:t>class</a:t>
            </a:r>
            <a:r>
              <a:rPr lang="es-ES" dirty="0"/>
              <a:t>” define una clase</a:t>
            </a:r>
          </a:p>
          <a:p>
            <a:r>
              <a:rPr lang="es-ES" dirty="0"/>
              <a:t>Definimos los atributos (datos relevantes) y los métodos (comportamiento) de la clase</a:t>
            </a:r>
          </a:p>
          <a:p>
            <a:r>
              <a:rPr lang="es-ES" dirty="0"/>
              <a:t>UML para definirla:</a:t>
            </a:r>
          </a:p>
        </p:txBody>
      </p:sp>
      <p:pic>
        <p:nvPicPr>
          <p:cNvPr id="4" name="Google Shape;92;p17">
            <a:extLst>
              <a:ext uri="{FF2B5EF4-FFF2-40B4-BE49-F238E27FC236}">
                <a16:creationId xmlns:a16="http://schemas.microsoft.com/office/drawing/2014/main" id="{11B0910E-80EB-4BCB-ED02-EDF7B294945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7270" y="3725748"/>
            <a:ext cx="4804035" cy="279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7">
            <a:extLst>
              <a:ext uri="{FF2B5EF4-FFF2-40B4-BE49-F238E27FC236}">
                <a16:creationId xmlns:a16="http://schemas.microsoft.com/office/drawing/2014/main" id="{FCB14B12-9E4F-F196-BF09-487576F759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592" y="3097457"/>
            <a:ext cx="4982967" cy="3707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646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33A68-DDD5-1EBA-FF87-7825F33B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C0BC7D-5C22-6C75-3C64-DFA3C997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dirty="0"/>
          </a:p>
          <a:p>
            <a:r>
              <a:rPr lang="es-ES" sz="2800" dirty="0"/>
              <a:t>En un archivo sólo puede haber una clase </a:t>
            </a:r>
            <a:r>
              <a:rPr lang="es-ES" sz="2800" dirty="0" err="1"/>
              <a:t>public</a:t>
            </a:r>
            <a:r>
              <a:rPr lang="es-ES" sz="2800" dirty="0"/>
              <a:t>. Puede haber otras contenidas pero no accesibles desde el exterior</a:t>
            </a:r>
          </a:p>
          <a:p>
            <a:endParaRPr lang="es-ES" sz="2800" dirty="0"/>
          </a:p>
          <a:p>
            <a:endParaRPr lang="es-ES" sz="2800" dirty="0"/>
          </a:p>
          <a:p>
            <a:r>
              <a:rPr lang="es-ES" sz="2800" dirty="0"/>
              <a:t>Los atributos de una clase son propios de la misma y se podrán consultar internamente por parte de los métodos de la misma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855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4F7F7-743C-983B-980A-A91025E8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3B816-658E-2916-92F4-22111D570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" sz="3200" dirty="0"/>
              <a:t>Un objeto es un elemento concreto de la clase definida, una instancia de clase</a:t>
            </a:r>
          </a:p>
          <a:p>
            <a:r>
              <a:rPr lang="es-ES" sz="3200" dirty="0"/>
              <a:t>En el </a:t>
            </a:r>
            <a:r>
              <a:rPr lang="es-ES" sz="3200" b="1" dirty="0"/>
              <a:t>momento de la ejecución</a:t>
            </a:r>
            <a:r>
              <a:rPr lang="es-ES" sz="3200" dirty="0"/>
              <a:t> se crean los objetos de las clases para las cuales hemos escrito código. Cada objeto tendrá un nombre para poder utilizarlo en nuestro programa.</a:t>
            </a:r>
          </a:p>
          <a:p>
            <a:r>
              <a:rPr lang="es-ES" sz="3200" dirty="0"/>
              <a:t>Un objeto va a tener:</a:t>
            </a:r>
          </a:p>
          <a:p>
            <a:pPr lvl="1"/>
            <a:r>
              <a:rPr lang="es-ES" sz="2800" dirty="0"/>
              <a:t>Identidad (individualidad) </a:t>
            </a:r>
          </a:p>
          <a:p>
            <a:pPr lvl="1"/>
            <a:r>
              <a:rPr lang="es-ES" sz="2800" dirty="0"/>
              <a:t>Atributos (estado) </a:t>
            </a:r>
          </a:p>
          <a:p>
            <a:pPr lvl="1"/>
            <a:r>
              <a:rPr lang="es-ES" sz="2800" dirty="0"/>
              <a:t>Métodos (comportamiento)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370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E1A1E-54D5-2D61-C96F-05F429960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IDENTIDAD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D416EE-D4B4-86FE-2B7C-F62D931E5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objetos se crean en la memoria RAM</a:t>
            </a:r>
          </a:p>
          <a:p>
            <a:r>
              <a:rPr lang="es-ES" dirty="0"/>
              <a:t>Su identidad se definirá con un valor de referencia único del objeto</a:t>
            </a:r>
          </a:p>
          <a:p>
            <a:r>
              <a:rPr lang="es-ES" dirty="0"/>
              <a:t>En java no se trabaja con direcciones de memoria. Se usa un concepto más abstracto: nombres simbólicos que identifican un objeto</a:t>
            </a:r>
          </a:p>
          <a:p>
            <a:r>
              <a:rPr lang="es-ES" dirty="0"/>
              <a:t>Un objeto es un valor que se puede asignar a una variable cuyo tipo es la clase. La clase define el tipo. El objeto es un valor específico de ese tipo.</a:t>
            </a:r>
          </a:p>
          <a:p>
            <a:endParaRPr lang="es-ES" dirty="0"/>
          </a:p>
          <a:p>
            <a:r>
              <a:rPr lang="es-ES" dirty="0"/>
              <a:t>Si queremos crear un objeto de tipo Persona, le daremos un identificador para poder trabajar con él:</a:t>
            </a:r>
            <a:br>
              <a:rPr lang="es-ES" dirty="0"/>
            </a:br>
            <a:r>
              <a:rPr lang="es-ES" dirty="0"/>
              <a:t>Persona alumno;</a:t>
            </a:r>
          </a:p>
        </p:txBody>
      </p:sp>
    </p:spTree>
    <p:extLst>
      <p:ext uri="{BB962C8B-B14F-4D97-AF65-F5344CB8AC3E}">
        <p14:creationId xmlns:p14="http://schemas.microsoft.com/office/powerpoint/2010/main" val="197460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33E98-474F-5FA2-D29E-1367285E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Atributos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4D7AE0-1615-0691-9773-6FBCC0F9D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92" y="762000"/>
            <a:ext cx="10233219" cy="5678122"/>
          </a:xfrm>
        </p:spPr>
        <p:txBody>
          <a:bodyPr>
            <a:normAutofit lnSpcReduction="10000"/>
          </a:bodyPr>
          <a:lstStyle/>
          <a:p>
            <a:r>
              <a:rPr lang="es-ES" dirty="0"/>
              <a:t>Son las características que definen a un objeto</a:t>
            </a:r>
          </a:p>
          <a:p>
            <a:r>
              <a:rPr lang="es-ES" dirty="0"/>
              <a:t>Cada atributo tiene:</a:t>
            </a:r>
          </a:p>
          <a:p>
            <a:pPr lvl="1"/>
            <a:r>
              <a:rPr lang="es-ES" dirty="0"/>
              <a:t>Visibilidad (</a:t>
            </a:r>
            <a:r>
              <a:rPr lang="es-ES" dirty="0" err="1"/>
              <a:t>public</a:t>
            </a:r>
            <a:r>
              <a:rPr lang="es-ES" dirty="0"/>
              <a:t>, </a:t>
            </a:r>
            <a:r>
              <a:rPr lang="es-ES" dirty="0" err="1"/>
              <a:t>private</a:t>
            </a:r>
            <a:r>
              <a:rPr lang="es-ES" dirty="0"/>
              <a:t>, </a:t>
            </a:r>
            <a:r>
              <a:rPr lang="es-ES" dirty="0" err="1"/>
              <a:t>protected</a:t>
            </a:r>
            <a:r>
              <a:rPr lang="es-ES" dirty="0"/>
              <a:t>..)</a:t>
            </a:r>
          </a:p>
          <a:p>
            <a:pPr lvl="1"/>
            <a:r>
              <a:rPr lang="es-ES" dirty="0"/>
              <a:t>Tipo:</a:t>
            </a:r>
          </a:p>
          <a:p>
            <a:pPr lvl="2"/>
            <a:r>
              <a:rPr lang="es-ES" dirty="0"/>
              <a:t>Primitivo</a:t>
            </a:r>
          </a:p>
          <a:p>
            <a:pPr lvl="2"/>
            <a:r>
              <a:rPr lang="es-ES" dirty="0"/>
              <a:t>Otra clase</a:t>
            </a:r>
          </a:p>
          <a:p>
            <a:pPr lvl="1"/>
            <a:r>
              <a:rPr lang="es-ES" dirty="0"/>
              <a:t>Identificador del atributo</a:t>
            </a:r>
          </a:p>
          <a:p>
            <a:r>
              <a:rPr lang="es-ES" dirty="0"/>
              <a:t>Por ejemplo Persona tiene nombre y edad como atributos. </a:t>
            </a:r>
            <a:br>
              <a:rPr lang="es-ES" dirty="0"/>
            </a:br>
            <a:r>
              <a:rPr lang="es-ES" dirty="0"/>
              <a:t>nombre es de tipo </a:t>
            </a:r>
            <a:r>
              <a:rPr lang="es-ES" dirty="0" err="1"/>
              <a:t>String</a:t>
            </a:r>
            <a:r>
              <a:rPr lang="es-ES" dirty="0"/>
              <a:t> (una clase)</a:t>
            </a:r>
            <a:br>
              <a:rPr lang="es-ES" dirty="0"/>
            </a:br>
            <a:r>
              <a:rPr lang="es-ES" dirty="0"/>
              <a:t>edad es de tipo </a:t>
            </a:r>
            <a:r>
              <a:rPr lang="es-ES" dirty="0" err="1"/>
              <a:t>int</a:t>
            </a:r>
            <a:r>
              <a:rPr lang="es-ES" dirty="0"/>
              <a:t> (primitivo)</a:t>
            </a:r>
          </a:p>
          <a:p>
            <a:r>
              <a:rPr lang="es-ES" dirty="0"/>
              <a:t>El estado de un objeto está definido por los valores de sus atributos en un momento concreto. El estado puede variar al cambiar los valores de los atributos.</a:t>
            </a:r>
          </a:p>
        </p:txBody>
      </p:sp>
    </p:spTree>
    <p:extLst>
      <p:ext uri="{BB962C8B-B14F-4D97-AF65-F5344CB8AC3E}">
        <p14:creationId xmlns:p14="http://schemas.microsoft.com/office/powerpoint/2010/main" val="1960990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DA04F-7101-DDAC-1BBB-77CDB969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5DBE4F-D70D-C39C-8745-CCB68204A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Los objetos pueden proporcionar unos “servicios” a otros objetos</a:t>
            </a:r>
          </a:p>
          <a:p>
            <a:r>
              <a:rPr lang="es-ES" dirty="0"/>
              <a:t>Cada uno de esos “servicios”(o acciones o comportamientos…) se le denomina método</a:t>
            </a:r>
          </a:p>
          <a:p>
            <a:r>
              <a:rPr lang="es-ES" dirty="0"/>
              <a:t>Un método suele tener</a:t>
            </a:r>
          </a:p>
          <a:p>
            <a:pPr lvl="1"/>
            <a:r>
              <a:rPr lang="es-ES" dirty="0"/>
              <a:t>Un nombre</a:t>
            </a:r>
          </a:p>
          <a:p>
            <a:pPr lvl="1"/>
            <a:r>
              <a:rPr lang="es-ES" dirty="0"/>
              <a:t>Unos parámetros (puede no tener)</a:t>
            </a:r>
          </a:p>
          <a:p>
            <a:pPr lvl="1"/>
            <a:r>
              <a:rPr lang="es-ES" dirty="0"/>
              <a:t>Un valor que se devuelve a quien ha llamado el método (puede no devolver nada)</a:t>
            </a:r>
          </a:p>
          <a:p>
            <a:r>
              <a:rPr lang="es-ES" dirty="0"/>
              <a:t>Es importante saber qué métodos implementa una clase, qué parámetros tienen los métodos y qué devuelven para que otros programas puedan usar esos métodos.</a:t>
            </a:r>
            <a:br>
              <a:rPr lang="es-ES" dirty="0"/>
            </a:br>
            <a:r>
              <a:rPr lang="es-ES" dirty="0"/>
              <a:t>No es importante como hace las cosas, sino qué cosas puede hacer y como le puedo pedir que las haga</a:t>
            </a:r>
          </a:p>
        </p:txBody>
      </p:sp>
    </p:spTree>
    <p:extLst>
      <p:ext uri="{BB962C8B-B14F-4D97-AF65-F5344CB8AC3E}">
        <p14:creationId xmlns:p14="http://schemas.microsoft.com/office/powerpoint/2010/main" val="267359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B5B31-56B1-9800-E34A-0BF5CDA9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Creamos una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91E0E0-BA3D-9533-3287-4577853CD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62000"/>
            <a:ext cx="3768791" cy="5678122"/>
          </a:xfrm>
        </p:spPr>
        <p:txBody>
          <a:bodyPr/>
          <a:lstStyle/>
          <a:p>
            <a:r>
              <a:rPr lang="es-ES" dirty="0"/>
              <a:t>Los atributos de una clase, suelen ser responsabilidad de esa misma clase. Por eso, si quiero permitir que se lean o se modifiquen, la clase debería implementar métodos adecuados para ello: los </a:t>
            </a:r>
            <a:r>
              <a:rPr lang="es-ES" dirty="0" err="1"/>
              <a:t>getter</a:t>
            </a:r>
            <a:r>
              <a:rPr lang="es-ES" dirty="0"/>
              <a:t> y setter.</a:t>
            </a:r>
          </a:p>
        </p:txBody>
      </p:sp>
      <p:pic>
        <p:nvPicPr>
          <p:cNvPr id="4" name="Google Shape;133;p23">
            <a:extLst>
              <a:ext uri="{FF2B5EF4-FFF2-40B4-BE49-F238E27FC236}">
                <a16:creationId xmlns:a16="http://schemas.microsoft.com/office/drawing/2014/main" id="{BCD386AA-E59E-7401-7AD1-3DDB62D583F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61309" y="874096"/>
            <a:ext cx="5687272" cy="5476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9502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7282B-0868-7712-B0F1-2A03CB15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se crea un objeto: constructores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0B639C-4BB9-F8FE-1B19-8CF05BBA8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Además una clase proporciona unos métodos especiales que se llaman “constructores” que son los que se encargan de crear nuevos objectos de esa clase.</a:t>
            </a:r>
          </a:p>
          <a:p>
            <a:pPr lvl="1"/>
            <a:r>
              <a:rPr lang="es-ES" dirty="0"/>
              <a:t>Se tienen que llamar exactamente igual que la clase</a:t>
            </a:r>
          </a:p>
          <a:p>
            <a:pPr lvl="1"/>
            <a:r>
              <a:rPr lang="es-ES" dirty="0"/>
              <a:t>Los métodos constructores no devuelven nada (en realidad devuelven un objeto…)</a:t>
            </a:r>
          </a:p>
          <a:p>
            <a:pPr lvl="1"/>
            <a:r>
              <a:rPr lang="es-ES" dirty="0"/>
              <a:t>Se ejecutan al momento de la creación del objeto</a:t>
            </a:r>
          </a:p>
          <a:p>
            <a:pPr lvl="1"/>
            <a:r>
              <a:rPr lang="es-ES" dirty="0"/>
              <a:t>Para usar un constructor tengo que usar el comando “new”</a:t>
            </a:r>
          </a:p>
          <a:p>
            <a:pPr lvl="1"/>
            <a:r>
              <a:rPr lang="es-ES" dirty="0"/>
              <a:t>El código contenido en los constructores se suele usar para inicializar los atributos del objeto</a:t>
            </a:r>
          </a:p>
        </p:txBody>
      </p:sp>
    </p:spTree>
    <p:extLst>
      <p:ext uri="{BB962C8B-B14F-4D97-AF65-F5344CB8AC3E}">
        <p14:creationId xmlns:p14="http://schemas.microsoft.com/office/powerpoint/2010/main" val="606005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B00C2-8268-DC1C-4F1C-F87D6FCF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236377-5403-C4CD-670F-A62715342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no defino ningún constructor, existe un constructor por defecto que crea un objeto nuevo inicializando los atributos con valores por defecto (0 si son </a:t>
            </a:r>
            <a:r>
              <a:rPr lang="es-ES" dirty="0" err="1"/>
              <a:t>númericos</a:t>
            </a:r>
            <a:r>
              <a:rPr lang="es-ES" dirty="0"/>
              <a:t>, false si </a:t>
            </a:r>
            <a:r>
              <a:rPr lang="es-ES" dirty="0" err="1"/>
              <a:t>boolean</a:t>
            </a:r>
            <a:r>
              <a:rPr lang="es-ES" dirty="0"/>
              <a:t>, </a:t>
            </a:r>
            <a:r>
              <a:rPr lang="es-ES" dirty="0" err="1"/>
              <a:t>null</a:t>
            </a:r>
            <a:r>
              <a:rPr lang="es-ES" dirty="0"/>
              <a:t> si son objetos…)</a:t>
            </a:r>
          </a:p>
          <a:p>
            <a:r>
              <a:rPr lang="es-ES" dirty="0"/>
              <a:t>Si defino un constructor yo, el constructor por defecto deja de existir.</a:t>
            </a:r>
          </a:p>
          <a:p>
            <a:r>
              <a:rPr lang="es-ES" dirty="0"/>
              <a:t>Se pueden definir distintos constructores. Por ejemplo:</a:t>
            </a:r>
          </a:p>
          <a:p>
            <a:pPr lvl="1"/>
            <a:r>
              <a:rPr lang="es-ES" dirty="0"/>
              <a:t>Un constructor que crea una Persona con su nombre y edad</a:t>
            </a:r>
          </a:p>
          <a:p>
            <a:pPr lvl="1"/>
            <a:r>
              <a:rPr lang="es-ES" dirty="0"/>
              <a:t>Un constructor que crea una Persona solo con su nombre (porque no sé la edad)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7265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B989F-6DBB-14C5-AFFE-0F6F9433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</a:t>
            </a:r>
          </a:p>
        </p:txBody>
      </p:sp>
      <p:sp>
        <p:nvSpPr>
          <p:cNvPr id="4" name="Google Shape;148;p25">
            <a:extLst>
              <a:ext uri="{FF2B5EF4-FFF2-40B4-BE49-F238E27FC236}">
                <a16:creationId xmlns:a16="http://schemas.microsoft.com/office/drawing/2014/main" id="{E9C1ECB2-3C61-5902-25F0-C7CBC2DE8B9F}"/>
              </a:ext>
            </a:extLst>
          </p:cNvPr>
          <p:cNvSpPr txBox="1">
            <a:spLocks/>
          </p:cNvSpPr>
          <p:nvPr/>
        </p:nvSpPr>
        <p:spPr>
          <a:xfrm>
            <a:off x="351389" y="798061"/>
            <a:ext cx="5247745" cy="4224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/>
              <a:t>Creamos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método</a:t>
            </a:r>
            <a:r>
              <a:rPr lang="en-US" dirty="0"/>
              <a:t> constructor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clase</a:t>
            </a:r>
            <a:r>
              <a:rPr lang="en-US" dirty="0"/>
              <a:t>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public class Persona(){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	private String </a:t>
            </a:r>
            <a:r>
              <a:rPr lang="en-US" sz="14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nombre</a:t>
            </a: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;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	private int </a:t>
            </a:r>
            <a:r>
              <a:rPr lang="en-US" sz="14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edad</a:t>
            </a: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;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	public Persona(String nom, int e){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		</a:t>
            </a:r>
            <a:r>
              <a:rPr lang="en-US" sz="14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nombre</a:t>
            </a: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=nom;</a:t>
            </a:r>
          </a:p>
          <a:p>
            <a:pPr marL="45720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edad</a:t>
            </a: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=e;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	public Persona(String nom){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		</a:t>
            </a:r>
            <a:r>
              <a:rPr lang="en-US" sz="14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nombre</a:t>
            </a: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=nom;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Google Shape;147;p25">
            <a:extLst>
              <a:ext uri="{FF2B5EF4-FFF2-40B4-BE49-F238E27FC236}">
                <a16:creationId xmlns:a16="http://schemas.microsoft.com/office/drawing/2014/main" id="{A9835018-6EB6-558F-5985-4196F745DC61}"/>
              </a:ext>
            </a:extLst>
          </p:cNvPr>
          <p:cNvSpPr txBox="1">
            <a:spLocks/>
          </p:cNvSpPr>
          <p:nvPr/>
        </p:nvSpPr>
        <p:spPr>
          <a:xfrm>
            <a:off x="5905542" y="730944"/>
            <a:ext cx="5806294" cy="4479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dirty="0"/>
              <a:t>Una vez creada la clase, tenemos que crear objetos de esa clase invocando al método constructor de la misma: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000" dirty="0" err="1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NombreClase</a:t>
            </a:r>
            <a:r>
              <a:rPr lang="es-ES" sz="2000" dirty="0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s-ES" sz="2000" dirty="0" err="1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var</a:t>
            </a:r>
            <a:r>
              <a:rPr lang="es-ES" sz="2000" dirty="0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=new </a:t>
            </a:r>
            <a:r>
              <a:rPr lang="es-ES" sz="2000" dirty="0" err="1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NombreClase</a:t>
            </a:r>
            <a:r>
              <a:rPr lang="es-ES" sz="2000" dirty="0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(parámetros);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s-ES" sz="20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public</a:t>
            </a: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s-ES" sz="20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static</a:t>
            </a: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s-ES" sz="20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void</a:t>
            </a: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s-ES" sz="20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main</a:t>
            </a: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(</a:t>
            </a:r>
            <a:r>
              <a:rPr lang="es-ES" sz="20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String</a:t>
            </a: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[] </a:t>
            </a:r>
            <a:r>
              <a:rPr lang="es-ES" sz="2000" dirty="0" err="1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args</a:t>
            </a: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) {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Persona persona1=new Persona("Lola", 30); 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Persona persona2=new Persona("Pepe", 25);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     Persona persona3=new Persona(“Paco");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2000" dirty="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}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0740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050A7-F757-4A5C-008F-321D21E4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Sobrecarga de métodos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2D5492-8618-D254-CD88-45997E07E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la misma clase, pueden haber más métodos que se llaman con el mismo nombre, pero que difieren en los parámetros que reciben</a:t>
            </a:r>
          </a:p>
          <a:p>
            <a:r>
              <a:rPr lang="es-ES" dirty="0"/>
              <a:t>Por ejemplo puede haber estos métodos:</a:t>
            </a:r>
            <a:br>
              <a:rPr lang="es-ES" dirty="0"/>
            </a:br>
            <a:endParaRPr lang="es-ES" dirty="0"/>
          </a:p>
          <a:p>
            <a:pPr marL="0" indent="0">
              <a:buNone/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escribe (</a:t>
            </a:r>
            <a:r>
              <a:rPr lang="es-ES" dirty="0" err="1"/>
              <a:t>String</a:t>
            </a:r>
            <a:r>
              <a:rPr lang="es-ES" dirty="0"/>
              <a:t> s){ </a:t>
            </a:r>
            <a:r>
              <a:rPr lang="es-ES" dirty="0" err="1"/>
              <a:t>System.out.println</a:t>
            </a:r>
            <a:r>
              <a:rPr lang="es-ES" dirty="0"/>
              <a:t>(s);}</a:t>
            </a:r>
            <a:br>
              <a:rPr lang="es-ES" dirty="0"/>
            </a:b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escribe (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){ </a:t>
            </a:r>
            <a:r>
              <a:rPr lang="es-ES" dirty="0" err="1"/>
              <a:t>System.out.println</a:t>
            </a:r>
            <a:r>
              <a:rPr lang="es-ES" dirty="0"/>
              <a:t>(</a:t>
            </a:r>
            <a:r>
              <a:rPr lang="es-ES" dirty="0" err="1"/>
              <a:t>num</a:t>
            </a:r>
            <a:r>
              <a:rPr lang="es-ES" dirty="0"/>
              <a:t>);}</a:t>
            </a:r>
            <a:br>
              <a:rPr lang="es-ES" dirty="0"/>
            </a:b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escribe (</a:t>
            </a:r>
            <a:r>
              <a:rPr lang="es-ES" dirty="0" err="1"/>
              <a:t>String</a:t>
            </a:r>
            <a:r>
              <a:rPr lang="es-ES" dirty="0"/>
              <a:t> s, </a:t>
            </a:r>
            <a:r>
              <a:rPr lang="es-ES" dirty="0" err="1"/>
              <a:t>int</a:t>
            </a:r>
            <a:r>
              <a:rPr lang="es-ES" dirty="0"/>
              <a:t> i){ </a:t>
            </a:r>
            <a:r>
              <a:rPr lang="es-ES" dirty="0" err="1"/>
              <a:t>System.out.println</a:t>
            </a:r>
            <a:r>
              <a:rPr lang="es-ES" dirty="0"/>
              <a:t>(s+” “+i);}</a:t>
            </a:r>
          </a:p>
          <a:p>
            <a:endParaRPr lang="es-ES" dirty="0"/>
          </a:p>
          <a:p>
            <a:r>
              <a:rPr lang="es-ES" dirty="0"/>
              <a:t>Al llamar el método escribe, dependiendo de cuántos parámetros uso y el tipo de los parámetros, aplicaré una implementación u otra</a:t>
            </a:r>
          </a:p>
        </p:txBody>
      </p:sp>
    </p:spTree>
    <p:extLst>
      <p:ext uri="{BB962C8B-B14F-4D97-AF65-F5344CB8AC3E}">
        <p14:creationId xmlns:p14="http://schemas.microsoft.com/office/powerpoint/2010/main" val="2950358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7153D-4938-453D-F8E1-F14C3725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This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B00D78-4391-C9A2-3086-EC9DDBE68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Para </a:t>
            </a:r>
            <a:r>
              <a:rPr lang="en-US" sz="2400" dirty="0" err="1">
                <a:solidFill>
                  <a:srgbClr val="000000"/>
                </a:solidFill>
              </a:rPr>
              <a:t>invocar</a:t>
            </a:r>
            <a:r>
              <a:rPr lang="en-US" sz="2400" dirty="0">
                <a:solidFill>
                  <a:srgbClr val="000000"/>
                </a:solidFill>
              </a:rPr>
              <a:t> la </a:t>
            </a:r>
            <a:r>
              <a:rPr lang="en-US" sz="2400" dirty="0" err="1">
                <a:solidFill>
                  <a:srgbClr val="000000"/>
                </a:solidFill>
              </a:rPr>
              <a:t>ejecución</a:t>
            </a:r>
            <a:r>
              <a:rPr lang="en-US" sz="2400" dirty="0">
                <a:solidFill>
                  <a:srgbClr val="000000"/>
                </a:solidFill>
              </a:rPr>
              <a:t> de un </a:t>
            </a:r>
            <a:r>
              <a:rPr lang="en-US" sz="2400" dirty="0" err="1">
                <a:solidFill>
                  <a:srgbClr val="000000"/>
                </a:solidFill>
              </a:rPr>
              <a:t>método</a:t>
            </a:r>
            <a:r>
              <a:rPr lang="en-US" sz="2400" dirty="0">
                <a:solidFill>
                  <a:srgbClr val="000000"/>
                </a:solidFill>
              </a:rPr>
              <a:t> de un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es </a:t>
            </a:r>
            <a:r>
              <a:rPr lang="en-US" sz="2400" dirty="0" err="1">
                <a:solidFill>
                  <a:srgbClr val="000000"/>
                </a:solidFill>
              </a:rPr>
              <a:t>imprescindible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conocer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dirección</a:t>
            </a:r>
            <a:r>
              <a:rPr lang="en-US" sz="2400" dirty="0">
                <a:solidFill>
                  <a:srgbClr val="000000"/>
                </a:solidFill>
              </a:rPr>
              <a:t> (</a:t>
            </a:r>
            <a:r>
              <a:rPr lang="en-US" sz="2400" dirty="0" err="1">
                <a:solidFill>
                  <a:srgbClr val="000000"/>
                </a:solidFill>
              </a:rPr>
              <a:t>almacenada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una</a:t>
            </a:r>
            <a:r>
              <a:rPr lang="en-US" sz="2400" dirty="0">
                <a:solidFill>
                  <a:srgbClr val="000000"/>
                </a:solidFill>
              </a:rPr>
              <a:t> variable </a:t>
            </a:r>
            <a:r>
              <a:rPr lang="en-US" sz="2400" dirty="0" err="1">
                <a:solidFill>
                  <a:srgbClr val="000000"/>
                </a:solidFill>
              </a:rPr>
              <a:t>tipo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referencia</a:t>
            </a:r>
            <a:r>
              <a:rPr lang="en-US" sz="2400" dirty="0">
                <a:solidFill>
                  <a:srgbClr val="000000"/>
                </a:solidFill>
              </a:rPr>
              <a:t>).</a:t>
            </a:r>
          </a:p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Char char="●"/>
            </a:pPr>
            <a:r>
              <a:rPr lang="en-US" sz="2400" dirty="0" err="1">
                <a:solidFill>
                  <a:srgbClr val="000000"/>
                </a:solidFill>
              </a:rPr>
              <a:t>Esta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dirección</a:t>
            </a:r>
            <a:r>
              <a:rPr lang="en-US" sz="2400" dirty="0">
                <a:solidFill>
                  <a:srgbClr val="000000"/>
                </a:solidFill>
              </a:rPr>
              <a:t> la ha de </a:t>
            </a:r>
            <a:r>
              <a:rPr lang="en-US" sz="2400" dirty="0" err="1">
                <a:solidFill>
                  <a:srgbClr val="000000"/>
                </a:solidFill>
              </a:rPr>
              <a:t>guardar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primera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instancia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aquel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código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el</a:t>
            </a:r>
            <a:r>
              <a:rPr lang="en-US" sz="2400" dirty="0">
                <a:solidFill>
                  <a:srgbClr val="000000"/>
                </a:solidFill>
              </a:rPr>
              <a:t> que se </a:t>
            </a:r>
            <a:r>
              <a:rPr lang="en-US" sz="2400" dirty="0" err="1">
                <a:solidFill>
                  <a:srgbClr val="000000"/>
                </a:solidFill>
              </a:rPr>
              <a:t>haga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el</a:t>
            </a:r>
            <a:r>
              <a:rPr lang="en-US" sz="2400" dirty="0">
                <a:solidFill>
                  <a:srgbClr val="000000"/>
                </a:solidFill>
              </a:rPr>
              <a:t> “new”, y </a:t>
            </a:r>
            <a:r>
              <a:rPr lang="en-US" sz="2400" dirty="0" err="1">
                <a:solidFill>
                  <a:srgbClr val="000000"/>
                </a:solidFill>
              </a:rPr>
              <a:t>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algún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otro</a:t>
            </a:r>
            <a:r>
              <a:rPr lang="en-US" sz="2400" dirty="0">
                <a:solidFill>
                  <a:srgbClr val="000000"/>
                </a:solidFill>
              </a:rPr>
              <a:t> ha de </a:t>
            </a:r>
            <a:r>
              <a:rPr lang="en-US" sz="2400" dirty="0" err="1">
                <a:solidFill>
                  <a:srgbClr val="000000"/>
                </a:solidFill>
              </a:rPr>
              <a:t>conocerla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éste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creador</a:t>
            </a:r>
            <a:r>
              <a:rPr lang="en-US" sz="2400" dirty="0">
                <a:solidFill>
                  <a:srgbClr val="000000"/>
                </a:solidFill>
              </a:rPr>
              <a:t> se la ha de </a:t>
            </a:r>
            <a:r>
              <a:rPr lang="en-US" sz="2400" dirty="0" err="1">
                <a:solidFill>
                  <a:srgbClr val="000000"/>
                </a:solidFill>
              </a:rPr>
              <a:t>proporcionar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Hay </a:t>
            </a:r>
            <a:r>
              <a:rPr lang="en-US" sz="2400" dirty="0" err="1">
                <a:solidFill>
                  <a:srgbClr val="000000"/>
                </a:solidFill>
              </a:rPr>
              <a:t>una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excepción</a:t>
            </a:r>
            <a:r>
              <a:rPr lang="en-US" sz="2400" dirty="0">
                <a:solidFill>
                  <a:srgbClr val="000000"/>
                </a:solidFill>
              </a:rPr>
              <a:t> para </a:t>
            </a:r>
            <a:r>
              <a:rPr lang="en-US" sz="2400" dirty="0" err="1">
                <a:solidFill>
                  <a:srgbClr val="000000"/>
                </a:solidFill>
              </a:rPr>
              <a:t>esta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regla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ya</a:t>
            </a:r>
            <a:r>
              <a:rPr lang="en-US" sz="2400" dirty="0">
                <a:solidFill>
                  <a:srgbClr val="000000"/>
                </a:solidFill>
              </a:rPr>
              <a:t> que </a:t>
            </a:r>
            <a:r>
              <a:rPr lang="en-US" sz="2400" dirty="0" err="1">
                <a:solidFill>
                  <a:srgbClr val="000000"/>
                </a:solidFill>
              </a:rPr>
              <a:t>si</a:t>
            </a:r>
            <a:r>
              <a:rPr lang="en-US" sz="2400" dirty="0">
                <a:solidFill>
                  <a:srgbClr val="000000"/>
                </a:solidFill>
              </a:rPr>
              <a:t> un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quiere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ejecutar</a:t>
            </a:r>
            <a:r>
              <a:rPr lang="en-US" sz="2400" dirty="0">
                <a:solidFill>
                  <a:srgbClr val="000000"/>
                </a:solidFill>
              </a:rPr>
              <a:t> un </a:t>
            </a:r>
            <a:r>
              <a:rPr lang="en-US" sz="2400" dirty="0" err="1">
                <a:solidFill>
                  <a:srgbClr val="000000"/>
                </a:solidFill>
              </a:rPr>
              <a:t>método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propio</a:t>
            </a:r>
            <a:r>
              <a:rPr lang="en-US" sz="2400" dirty="0">
                <a:solidFill>
                  <a:srgbClr val="000000"/>
                </a:solidFill>
              </a:rPr>
              <a:t> (lo </a:t>
            </a:r>
            <a:r>
              <a:rPr lang="en-US" sz="2400" dirty="0" err="1">
                <a:solidFill>
                  <a:srgbClr val="000000"/>
                </a:solidFill>
              </a:rPr>
              <a:t>cual</a:t>
            </a:r>
            <a:r>
              <a:rPr lang="en-US" sz="2400" dirty="0">
                <a:solidFill>
                  <a:srgbClr val="000000"/>
                </a:solidFill>
              </a:rPr>
              <a:t> es </a:t>
            </a:r>
            <a:r>
              <a:rPr lang="en-US" sz="2400" dirty="0" err="1">
                <a:solidFill>
                  <a:srgbClr val="000000"/>
                </a:solidFill>
              </a:rPr>
              <a:t>bastante</a:t>
            </a:r>
            <a:r>
              <a:rPr lang="en-US" sz="2400" dirty="0">
                <a:solidFill>
                  <a:srgbClr val="000000"/>
                </a:solidFill>
              </a:rPr>
              <a:t> habitual) </a:t>
            </a:r>
            <a:r>
              <a:rPr lang="en-US" sz="2400" dirty="0" err="1">
                <a:solidFill>
                  <a:srgbClr val="000000"/>
                </a:solidFill>
              </a:rPr>
              <a:t>necesita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conocer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propia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dirección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Para </a:t>
            </a:r>
            <a:r>
              <a:rPr lang="en-US" sz="2400" dirty="0" err="1">
                <a:solidFill>
                  <a:srgbClr val="000000"/>
                </a:solidFill>
              </a:rPr>
              <a:t>solventar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este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problema</a:t>
            </a:r>
            <a:r>
              <a:rPr lang="en-US" sz="2400" dirty="0">
                <a:solidFill>
                  <a:srgbClr val="000000"/>
                </a:solidFill>
              </a:rPr>
              <a:t>, JAVA </a:t>
            </a:r>
            <a:r>
              <a:rPr lang="en-US" sz="2400" dirty="0" err="1">
                <a:solidFill>
                  <a:srgbClr val="000000"/>
                </a:solidFill>
              </a:rPr>
              <a:t>proporciona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automática</a:t>
            </a:r>
            <a:r>
              <a:rPr lang="en-US" sz="2400" dirty="0">
                <a:solidFill>
                  <a:srgbClr val="000000"/>
                </a:solidFill>
              </a:rPr>
              <a:t> e </a:t>
            </a:r>
            <a:r>
              <a:rPr lang="en-US" sz="2400" dirty="0" err="1">
                <a:solidFill>
                  <a:srgbClr val="000000"/>
                </a:solidFill>
              </a:rPr>
              <a:t>implícitamente</a:t>
            </a:r>
            <a:r>
              <a:rPr lang="en-US" sz="2400" dirty="0">
                <a:solidFill>
                  <a:srgbClr val="000000"/>
                </a:solidFill>
              </a:rPr>
              <a:t> la </a:t>
            </a:r>
            <a:r>
              <a:rPr lang="en-US" sz="2400" dirty="0" err="1">
                <a:solidFill>
                  <a:srgbClr val="000000"/>
                </a:solidFill>
              </a:rPr>
              <a:t>referencia</a:t>
            </a:r>
            <a:r>
              <a:rPr lang="en-US" sz="2400" dirty="0">
                <a:solidFill>
                  <a:srgbClr val="000000"/>
                </a:solidFill>
              </a:rPr>
              <a:t> “this”, que es </a:t>
            </a:r>
            <a:r>
              <a:rPr lang="en-US" sz="2400" dirty="0" err="1">
                <a:solidFill>
                  <a:srgbClr val="000000"/>
                </a:solidFill>
              </a:rPr>
              <a:t>una</a:t>
            </a:r>
            <a:r>
              <a:rPr lang="en-US" sz="2400" dirty="0">
                <a:solidFill>
                  <a:srgbClr val="000000"/>
                </a:solidFill>
              </a:rPr>
              <a:t> variable que </a:t>
            </a:r>
            <a:r>
              <a:rPr lang="en-US" sz="2400" dirty="0" err="1">
                <a:solidFill>
                  <a:srgbClr val="000000"/>
                </a:solidFill>
              </a:rPr>
              <a:t>contiene</a:t>
            </a:r>
            <a:r>
              <a:rPr lang="en-US" sz="2400" dirty="0">
                <a:solidFill>
                  <a:srgbClr val="000000"/>
                </a:solidFill>
              </a:rPr>
              <a:t> la </a:t>
            </a:r>
            <a:r>
              <a:rPr lang="en-US" sz="2400" dirty="0" err="1">
                <a:solidFill>
                  <a:srgbClr val="000000"/>
                </a:solidFill>
              </a:rPr>
              <a:t>referencia</a:t>
            </a:r>
            <a:r>
              <a:rPr lang="en-US" sz="2400" dirty="0">
                <a:solidFill>
                  <a:srgbClr val="000000"/>
                </a:solidFill>
              </a:rPr>
              <a:t> de </a:t>
            </a:r>
            <a:r>
              <a:rPr lang="en-US" sz="2400" dirty="0" err="1">
                <a:solidFill>
                  <a:srgbClr val="000000"/>
                </a:solidFill>
              </a:rPr>
              <a:t>cada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(</a:t>
            </a:r>
            <a:r>
              <a:rPr lang="en-US" sz="2400" dirty="0" err="1">
                <a:solidFill>
                  <a:srgbClr val="000000"/>
                </a:solidFill>
              </a:rPr>
              <a:t>cada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tiene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propia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dirección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almacenada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en</a:t>
            </a:r>
            <a:r>
              <a:rPr lang="en-US" sz="2400" dirty="0">
                <a:solidFill>
                  <a:srgbClr val="000000"/>
                </a:solidFill>
              </a:rPr>
              <a:t> “this”)</a:t>
            </a:r>
          </a:p>
        </p:txBody>
      </p:sp>
    </p:spTree>
    <p:extLst>
      <p:ext uri="{BB962C8B-B14F-4D97-AF65-F5344CB8AC3E}">
        <p14:creationId xmlns:p14="http://schemas.microsoft.com/office/powerpoint/2010/main" val="128129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F74EA-F301-4D2E-34EF-1872DF8B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this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41FFCE-92F6-B973-13B1-71F2A915E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Para </a:t>
            </a:r>
            <a:r>
              <a:rPr lang="en-US" sz="2400" dirty="0" err="1">
                <a:solidFill>
                  <a:srgbClr val="000000"/>
                </a:solidFill>
              </a:rPr>
              <a:t>evitar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códigos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muy</a:t>
            </a:r>
            <a:r>
              <a:rPr lang="en-US" sz="2400" dirty="0">
                <a:solidFill>
                  <a:srgbClr val="000000"/>
                </a:solidFill>
              </a:rPr>
              <a:t> largos, y </a:t>
            </a:r>
            <a:r>
              <a:rPr lang="en-US" sz="2400" dirty="0" err="1">
                <a:solidFill>
                  <a:srgbClr val="000000"/>
                </a:solidFill>
              </a:rPr>
              <a:t>hacer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más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fácil</a:t>
            </a:r>
            <a:r>
              <a:rPr lang="en-US" sz="2400" dirty="0">
                <a:solidFill>
                  <a:srgbClr val="000000"/>
                </a:solidFill>
              </a:rPr>
              <a:t> la </a:t>
            </a:r>
            <a:r>
              <a:rPr lang="en-US" sz="2400" dirty="0" err="1">
                <a:solidFill>
                  <a:srgbClr val="000000"/>
                </a:solidFill>
              </a:rPr>
              <a:t>comprensión</a:t>
            </a:r>
            <a:r>
              <a:rPr lang="en-US" sz="2400" dirty="0">
                <a:solidFill>
                  <a:srgbClr val="000000"/>
                </a:solidFill>
              </a:rPr>
              <a:t> de la </a:t>
            </a:r>
            <a:r>
              <a:rPr lang="en-US" sz="2400" dirty="0" err="1">
                <a:solidFill>
                  <a:srgbClr val="000000"/>
                </a:solidFill>
              </a:rPr>
              <a:t>invocación</a:t>
            </a:r>
            <a:r>
              <a:rPr lang="en-US" sz="2400" dirty="0">
                <a:solidFill>
                  <a:srgbClr val="000000"/>
                </a:solidFill>
              </a:rPr>
              <a:t> de un </a:t>
            </a:r>
            <a:r>
              <a:rPr lang="en-US" sz="2400" dirty="0" err="1">
                <a:solidFill>
                  <a:srgbClr val="000000"/>
                </a:solidFill>
              </a:rPr>
              <a:t>método</a:t>
            </a:r>
            <a:r>
              <a:rPr lang="en-US" sz="2400" dirty="0">
                <a:solidFill>
                  <a:srgbClr val="000000"/>
                </a:solidFill>
              </a:rPr>
              <a:t> a </a:t>
            </a:r>
            <a:r>
              <a:rPr lang="en-US" sz="2400" dirty="0" err="1">
                <a:solidFill>
                  <a:srgbClr val="000000"/>
                </a:solidFill>
              </a:rPr>
              <a:t>los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programadores</a:t>
            </a:r>
            <a:r>
              <a:rPr lang="en-US" sz="2400" dirty="0">
                <a:solidFill>
                  <a:srgbClr val="000000"/>
                </a:solidFill>
              </a:rPr>
              <a:t> que </a:t>
            </a:r>
            <a:r>
              <a:rPr lang="en-US" sz="2400" dirty="0" err="1">
                <a:solidFill>
                  <a:srgbClr val="000000"/>
                </a:solidFill>
              </a:rPr>
              <a:t>vienen</a:t>
            </a:r>
            <a:r>
              <a:rPr lang="en-US" sz="2400" dirty="0">
                <a:solidFill>
                  <a:srgbClr val="000000"/>
                </a:solidFill>
              </a:rPr>
              <a:t> de la </a:t>
            </a:r>
            <a:r>
              <a:rPr lang="en-US" sz="2400" dirty="0" err="1">
                <a:solidFill>
                  <a:srgbClr val="000000"/>
                </a:solidFill>
              </a:rPr>
              <a:t>programación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estructurada</a:t>
            </a:r>
            <a:r>
              <a:rPr lang="en-US" sz="2400" dirty="0">
                <a:solidFill>
                  <a:srgbClr val="000000"/>
                </a:solidFill>
              </a:rPr>
              <a:t>, JAVA </a:t>
            </a:r>
            <a:r>
              <a:rPr lang="en-US" sz="2400" dirty="0" err="1">
                <a:solidFill>
                  <a:srgbClr val="000000"/>
                </a:solidFill>
              </a:rPr>
              <a:t>permite</a:t>
            </a:r>
            <a:r>
              <a:rPr lang="en-US" sz="2400" dirty="0">
                <a:solidFill>
                  <a:srgbClr val="000000"/>
                </a:solidFill>
              </a:rPr>
              <a:t> que </a:t>
            </a:r>
            <a:r>
              <a:rPr lang="en-US" sz="2400" dirty="0" err="1">
                <a:solidFill>
                  <a:srgbClr val="000000"/>
                </a:solidFill>
              </a:rPr>
              <a:t>dentro</a:t>
            </a:r>
            <a:r>
              <a:rPr lang="en-US" sz="2400" dirty="0">
                <a:solidFill>
                  <a:srgbClr val="000000"/>
                </a:solidFill>
              </a:rPr>
              <a:t> de un </a:t>
            </a:r>
            <a:r>
              <a:rPr lang="en-US" sz="2400" dirty="0" err="1">
                <a:solidFill>
                  <a:srgbClr val="000000"/>
                </a:solidFill>
              </a:rPr>
              <a:t>propio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no sea </a:t>
            </a:r>
            <a:r>
              <a:rPr lang="en-US" sz="2400" dirty="0" err="1">
                <a:solidFill>
                  <a:srgbClr val="000000"/>
                </a:solidFill>
              </a:rPr>
              <a:t>imprescindible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escribir</a:t>
            </a:r>
            <a:r>
              <a:rPr lang="en-US" sz="2400" dirty="0">
                <a:solidFill>
                  <a:srgbClr val="000000"/>
                </a:solidFill>
              </a:rPr>
              <a:t> “</a:t>
            </a:r>
            <a:r>
              <a:rPr lang="en-US" sz="2400" dirty="0" err="1">
                <a:solidFill>
                  <a:srgbClr val="000000"/>
                </a:solidFill>
              </a:rPr>
              <a:t>this.m</a:t>
            </a:r>
            <a:r>
              <a:rPr lang="en-US" sz="2400" dirty="0">
                <a:solidFill>
                  <a:srgbClr val="000000"/>
                </a:solidFill>
              </a:rPr>
              <a:t>()” para </a:t>
            </a:r>
            <a:r>
              <a:rPr lang="en-US" sz="2400" dirty="0" err="1">
                <a:solidFill>
                  <a:srgbClr val="000000"/>
                </a:solidFill>
              </a:rPr>
              <a:t>invocar</a:t>
            </a:r>
            <a:r>
              <a:rPr lang="en-US" sz="2400" dirty="0">
                <a:solidFill>
                  <a:srgbClr val="000000"/>
                </a:solidFill>
              </a:rPr>
              <a:t> a un </a:t>
            </a:r>
            <a:r>
              <a:rPr lang="en-US" sz="2400" dirty="0" err="1">
                <a:solidFill>
                  <a:srgbClr val="000000"/>
                </a:solidFill>
              </a:rPr>
              <a:t>método</a:t>
            </a:r>
            <a:r>
              <a:rPr lang="en-US" sz="2400" dirty="0">
                <a:solidFill>
                  <a:srgbClr val="000000"/>
                </a:solidFill>
              </a:rPr>
              <a:t> m(), que </a:t>
            </a:r>
            <a:r>
              <a:rPr lang="en-US" sz="2400" dirty="0" err="1">
                <a:solidFill>
                  <a:srgbClr val="000000"/>
                </a:solidFill>
              </a:rPr>
              <a:t>contiene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el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propio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, basta con </a:t>
            </a:r>
            <a:r>
              <a:rPr lang="en-US" sz="2400" dirty="0" err="1">
                <a:solidFill>
                  <a:srgbClr val="000000"/>
                </a:solidFill>
              </a:rPr>
              <a:t>escribir</a:t>
            </a:r>
            <a:r>
              <a:rPr lang="en-US" sz="2400" dirty="0">
                <a:solidFill>
                  <a:srgbClr val="000000"/>
                </a:solidFill>
              </a:rPr>
              <a:t>  “m()” a </a:t>
            </a:r>
            <a:r>
              <a:rPr lang="en-US" sz="2400" dirty="0" err="1">
                <a:solidFill>
                  <a:srgbClr val="000000"/>
                </a:solidFill>
              </a:rPr>
              <a:t>secas</a:t>
            </a:r>
            <a:r>
              <a:rPr lang="en-US" sz="2400" dirty="0">
                <a:solidFill>
                  <a:srgbClr val="000000"/>
                </a:solidFill>
              </a:rPr>
              <a:t>, sin embargo, se ha de </a:t>
            </a:r>
            <a:r>
              <a:rPr lang="en-US" sz="2400" dirty="0" err="1">
                <a:solidFill>
                  <a:srgbClr val="000000"/>
                </a:solidFill>
              </a:rPr>
              <a:t>entender</a:t>
            </a:r>
            <a:r>
              <a:rPr lang="en-US" sz="2400" dirty="0">
                <a:solidFill>
                  <a:srgbClr val="000000"/>
                </a:solidFill>
              </a:rPr>
              <a:t> que no es </a:t>
            </a:r>
            <a:r>
              <a:rPr lang="en-US" sz="2400" dirty="0" err="1">
                <a:solidFill>
                  <a:srgbClr val="000000"/>
                </a:solidFill>
              </a:rPr>
              <a:t>una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invocación</a:t>
            </a:r>
            <a:r>
              <a:rPr lang="en-US" sz="2400" dirty="0">
                <a:solidFill>
                  <a:srgbClr val="000000"/>
                </a:solidFill>
              </a:rPr>
              <a:t> de </a:t>
            </a:r>
            <a:r>
              <a:rPr lang="en-US" sz="2400" dirty="0" err="1">
                <a:solidFill>
                  <a:srgbClr val="000000"/>
                </a:solidFill>
              </a:rPr>
              <a:t>una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función</a:t>
            </a:r>
            <a:r>
              <a:rPr lang="en-US" sz="2400" dirty="0">
                <a:solidFill>
                  <a:srgbClr val="000000"/>
                </a:solidFill>
              </a:rPr>
              <a:t> “</a:t>
            </a:r>
            <a:r>
              <a:rPr lang="en-US" sz="2400" dirty="0" err="1">
                <a:solidFill>
                  <a:srgbClr val="000000"/>
                </a:solidFill>
              </a:rPr>
              <a:t>tradicional</a:t>
            </a:r>
            <a:r>
              <a:rPr lang="en-US" sz="2400" dirty="0">
                <a:solidFill>
                  <a:srgbClr val="000000"/>
                </a:solidFill>
              </a:rPr>
              <a:t>” </a:t>
            </a:r>
            <a:r>
              <a:rPr lang="en-US" sz="2400" dirty="0" err="1">
                <a:solidFill>
                  <a:srgbClr val="000000"/>
                </a:solidFill>
              </a:rPr>
              <a:t>sino</a:t>
            </a:r>
            <a:r>
              <a:rPr lang="en-US" sz="2400" dirty="0">
                <a:solidFill>
                  <a:srgbClr val="000000"/>
                </a:solidFill>
              </a:rPr>
              <a:t> un </a:t>
            </a:r>
            <a:r>
              <a:rPr lang="en-US" sz="2400" dirty="0" err="1">
                <a:solidFill>
                  <a:srgbClr val="000000"/>
                </a:solidFill>
              </a:rPr>
              <a:t>mensaje</a:t>
            </a:r>
            <a:r>
              <a:rPr lang="en-US" sz="2400" dirty="0">
                <a:solidFill>
                  <a:srgbClr val="000000"/>
                </a:solidFill>
              </a:rPr>
              <a:t> que se </a:t>
            </a:r>
            <a:r>
              <a:rPr lang="en-US" sz="2400" dirty="0" err="1">
                <a:solidFill>
                  <a:srgbClr val="000000"/>
                </a:solidFill>
              </a:rPr>
              <a:t>manda</a:t>
            </a:r>
            <a:r>
              <a:rPr lang="en-US" sz="2400" dirty="0">
                <a:solidFill>
                  <a:srgbClr val="000000"/>
                </a:solidFill>
              </a:rPr>
              <a:t> un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a </a:t>
            </a:r>
            <a:r>
              <a:rPr lang="en-US" sz="2400" dirty="0" err="1">
                <a:solidFill>
                  <a:srgbClr val="000000"/>
                </a:solidFill>
              </a:rPr>
              <a:t>sí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mismo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Es </a:t>
            </a:r>
            <a:r>
              <a:rPr lang="en-US" sz="2400" dirty="0" err="1">
                <a:solidFill>
                  <a:srgbClr val="000000"/>
                </a:solidFill>
              </a:rPr>
              <a:t>particularmente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interesante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el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uso</a:t>
            </a:r>
            <a:r>
              <a:rPr lang="en-US" sz="2400" dirty="0">
                <a:solidFill>
                  <a:srgbClr val="000000"/>
                </a:solidFill>
              </a:rPr>
              <a:t> de “this” para acceder a </a:t>
            </a:r>
            <a:r>
              <a:rPr lang="en-US" sz="2400" dirty="0" err="1">
                <a:solidFill>
                  <a:srgbClr val="000000"/>
                </a:solidFill>
              </a:rPr>
              <a:t>atributos</a:t>
            </a:r>
            <a:r>
              <a:rPr lang="en-US" sz="2400" dirty="0">
                <a:solidFill>
                  <a:srgbClr val="000000"/>
                </a:solidFill>
              </a:rPr>
              <a:t> del </a:t>
            </a:r>
            <a:r>
              <a:rPr lang="en-US" sz="2400" dirty="0" err="1">
                <a:solidFill>
                  <a:srgbClr val="000000"/>
                </a:solidFill>
              </a:rPr>
              <a:t>propio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objeto</a:t>
            </a:r>
            <a:r>
              <a:rPr lang="en-US" sz="2400" dirty="0">
                <a:solidFill>
                  <a:srgbClr val="000000"/>
                </a:solidFill>
              </a:rPr>
              <a:t> que </a:t>
            </a:r>
            <a:r>
              <a:rPr lang="en-US" sz="2400" dirty="0" err="1">
                <a:solidFill>
                  <a:srgbClr val="000000"/>
                </a:solidFill>
              </a:rPr>
              <a:t>han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quedado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ocultos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por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referencias</a:t>
            </a:r>
            <a:r>
              <a:rPr lang="en-US" sz="2400" dirty="0">
                <a:solidFill>
                  <a:srgbClr val="000000"/>
                </a:solidFill>
              </a:rPr>
              <a:t> o </a:t>
            </a:r>
            <a:r>
              <a:rPr lang="en-US" sz="2400" dirty="0" err="1">
                <a:solidFill>
                  <a:srgbClr val="000000"/>
                </a:solidFill>
              </a:rPr>
              <a:t>argumentos</a:t>
            </a:r>
            <a:r>
              <a:rPr lang="en-US" sz="2400" dirty="0">
                <a:solidFill>
                  <a:srgbClr val="000000"/>
                </a:solidFill>
              </a:rPr>
              <a:t> de entrada locales.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5433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9EA19-23F3-B301-7C2E-148EA0A9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estáticos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3057C5-61FF-EB1C-3B6B-B80F482AA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métodos que hemos visto hasta ahora definen el comportamiento de un objeto.</a:t>
            </a:r>
          </a:p>
          <a:p>
            <a:r>
              <a:rPr lang="es-ES" dirty="0"/>
              <a:t>Llamar el mismo métodos sobre objetos distinto, suele proporcionar resultados distintos puesto que cada objeto tiene valores distintos en su atributos.</a:t>
            </a:r>
          </a:p>
          <a:p>
            <a:r>
              <a:rPr lang="es-ES" dirty="0"/>
              <a:t>Cuándo un método no depende de los atributos de una clase, y por lo tanto su ejecución no depende del objecto sobre el que se invoca, este método debería ser un método estático.</a:t>
            </a:r>
          </a:p>
          <a:p>
            <a:r>
              <a:rPr lang="es-ES" dirty="0"/>
              <a:t>Un método estático no es un método de un objeto, sino es un método de la clase</a:t>
            </a:r>
          </a:p>
        </p:txBody>
      </p:sp>
    </p:spTree>
    <p:extLst>
      <p:ext uri="{BB962C8B-B14F-4D97-AF65-F5344CB8AC3E}">
        <p14:creationId xmlns:p14="http://schemas.microsoft.com/office/powerpoint/2010/main" val="411815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2195</TotalTime>
  <Words>1607</Words>
  <Application>Microsoft Office PowerPoint</Application>
  <PresentationFormat>Panorámica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Average</vt:lpstr>
      <vt:lpstr>Calibri</vt:lpstr>
      <vt:lpstr>Calibri Light</vt:lpstr>
      <vt:lpstr>Courier New</vt:lpstr>
      <vt:lpstr>Circuito</vt:lpstr>
      <vt:lpstr>Programación orientada a objetos</vt:lpstr>
      <vt:lpstr>Programación Orientada a Objetos</vt:lpstr>
      <vt:lpstr>Características de la P.O.O.</vt:lpstr>
      <vt:lpstr>Clases</vt:lpstr>
      <vt:lpstr>Clases</vt:lpstr>
      <vt:lpstr>Clases </vt:lpstr>
      <vt:lpstr>Objetos</vt:lpstr>
      <vt:lpstr>IDENTIDAD</vt:lpstr>
      <vt:lpstr>Atributos</vt:lpstr>
      <vt:lpstr>Métodos</vt:lpstr>
      <vt:lpstr>Creamos una clase</vt:lpstr>
      <vt:lpstr>Cómo se crea un objeto: constructores</vt:lpstr>
      <vt:lpstr>Constructores</vt:lpstr>
      <vt:lpstr>Ejemplos</vt:lpstr>
      <vt:lpstr>Sobrecarga de métodos</vt:lpstr>
      <vt:lpstr>This</vt:lpstr>
      <vt:lpstr>this</vt:lpstr>
      <vt:lpstr>Métodos estáticos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SChiesa</dc:creator>
  <cp:lastModifiedBy>SChiesa</cp:lastModifiedBy>
  <cp:revision>37</cp:revision>
  <dcterms:created xsi:type="dcterms:W3CDTF">2022-09-10T09:06:03Z</dcterms:created>
  <dcterms:modified xsi:type="dcterms:W3CDTF">2022-12-11T17:07:07Z</dcterms:modified>
</cp:coreProperties>
</file>