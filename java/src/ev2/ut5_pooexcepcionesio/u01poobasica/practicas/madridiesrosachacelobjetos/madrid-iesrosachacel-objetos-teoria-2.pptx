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EA851865-6A2E-4E15-965B-7BD9BEB2728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9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34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EC63E5-E612-4798-83B5-FEE8583B8D85}" type="datetimeFigureOut">
              <a:rPr lang="es-ES" smtClean="0"/>
              <a:t>11/12/2022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77B384-FB42-438C-97CA-E8E77262874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50923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0E0D341-7D63-4718-93BC-7EE0D41121A0}" type="datetimeFigureOut">
              <a:rPr lang="es-ES" smtClean="0"/>
              <a:t>11/12/2022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83177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52753"/>
            <a:ext cx="9905998" cy="627185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762000"/>
            <a:ext cx="9905999" cy="5678122"/>
          </a:xfrm>
        </p:spPr>
        <p:txBody>
          <a:bodyPr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2105" y="6440122"/>
            <a:ext cx="2743200" cy="365125"/>
          </a:xfrm>
        </p:spPr>
        <p:txBody>
          <a:bodyPr/>
          <a:lstStyle/>
          <a:p>
            <a:fld id="{B0E0D341-7D63-4718-93BC-7EE0D41121A0}" type="datetimeFigureOut">
              <a:rPr lang="es-ES" smtClean="0"/>
              <a:t>11/12/2022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83149" y="6440122"/>
            <a:ext cx="6239309" cy="365125"/>
          </a:xfrm>
        </p:spPr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4598" y="6482007"/>
            <a:ext cx="771089" cy="365125"/>
          </a:xfrm>
        </p:spPr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69082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11/12/2022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6754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11/12/2022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9446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11/12/2022</a:t>
            </a:fld>
            <a:endParaRPr lang="es-E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01135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11/12/2022</a:t>
            </a:fld>
            <a:endParaRPr lang="es-E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02195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11/12/2022</a:t>
            </a:fld>
            <a:endParaRPr lang="es-E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94915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11/12/2022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1889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11/12/2022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21703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11/12/2022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28263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11/12/2022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99557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11/12/2022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343563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11/12/2022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134962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11/12/2022</a:t>
            </a:fld>
            <a:endParaRPr lang="es-E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074231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11/12/2022</a:t>
            </a:fld>
            <a:endParaRPr lang="es-E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509999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11/12/2022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6792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11/12/2022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70264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E0D341-7D63-4718-93BC-7EE0D41121A0}" type="datetimeFigureOut">
              <a:rPr lang="es-ES" smtClean="0"/>
              <a:t>11/12/2022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34644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7F8FD9-B607-0741-7085-1F122FA013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9867341" cy="2387600"/>
          </a:xfrm>
        </p:spPr>
        <p:txBody>
          <a:bodyPr/>
          <a:lstStyle/>
          <a:p>
            <a:r>
              <a:rPr lang="es-ES" dirty="0"/>
              <a:t>Desarrollo de Clases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A8AE28-4B06-3AF7-6438-0933E99DBB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IES Rosa </a:t>
            </a:r>
            <a:r>
              <a:rPr lang="es-ES" dirty="0" err="1"/>
              <a:t>chacel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34276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854A6C-623C-DCA2-1122-A55CD1156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El método </a:t>
            </a:r>
            <a:r>
              <a:rPr lang="es-ES" dirty="0" err="1"/>
              <a:t>Main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41D60C-48C5-4CC6-EFA4-3BD6B375A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US" sz="3600" dirty="0">
                <a:solidFill>
                  <a:srgbClr val="000000"/>
                </a:solidFill>
              </a:rPr>
              <a:t>"main" es un </a:t>
            </a:r>
            <a:r>
              <a:rPr lang="en-US" sz="3600" dirty="0" err="1">
                <a:solidFill>
                  <a:srgbClr val="000000"/>
                </a:solidFill>
              </a:rPr>
              <a:t>método</a:t>
            </a:r>
            <a:r>
              <a:rPr lang="en-US" sz="3600" dirty="0">
                <a:solidFill>
                  <a:srgbClr val="000000"/>
                </a:solidFill>
              </a:rPr>
              <a:t> especial </a:t>
            </a:r>
            <a:r>
              <a:rPr lang="en-US" sz="3600" dirty="0" err="1">
                <a:solidFill>
                  <a:srgbClr val="000000"/>
                </a:solidFill>
              </a:rPr>
              <a:t>cuyo</a:t>
            </a:r>
            <a:r>
              <a:rPr lang="en-US" sz="3600" dirty="0">
                <a:solidFill>
                  <a:srgbClr val="000000"/>
                </a:solidFill>
              </a:rPr>
              <a:t> </a:t>
            </a:r>
            <a:r>
              <a:rPr lang="en-US" sz="3600" dirty="0" err="1">
                <a:solidFill>
                  <a:srgbClr val="000000"/>
                </a:solidFill>
              </a:rPr>
              <a:t>prototipo</a:t>
            </a:r>
            <a:r>
              <a:rPr lang="en-US" sz="3600" dirty="0">
                <a:solidFill>
                  <a:srgbClr val="000000"/>
                </a:solidFill>
              </a:rPr>
              <a:t> es:</a:t>
            </a:r>
          </a:p>
          <a:p>
            <a:pPr marL="914400" lvl="1" indent="-3429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Courier New"/>
              <a:buChar char="o"/>
            </a:pPr>
            <a:r>
              <a:rPr lang="en-US" sz="3600" b="1" dirty="0">
                <a:solidFill>
                  <a:srgbClr val="000000"/>
                </a:solidFill>
              </a:rPr>
              <a:t>public static void main(String[] </a:t>
            </a:r>
            <a:r>
              <a:rPr lang="en-US" sz="3600" b="1" dirty="0" err="1">
                <a:solidFill>
                  <a:srgbClr val="000000"/>
                </a:solidFill>
              </a:rPr>
              <a:t>args</a:t>
            </a:r>
            <a:r>
              <a:rPr lang="en-US" sz="3600" b="1" dirty="0">
                <a:solidFill>
                  <a:srgbClr val="000000"/>
                </a:solidFill>
              </a:rPr>
              <a:t>)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US" sz="3600" dirty="0">
                <a:solidFill>
                  <a:srgbClr val="000000"/>
                </a:solidFill>
              </a:rPr>
              <a:t>Como es “static” se </a:t>
            </a:r>
            <a:r>
              <a:rPr lang="en-US" sz="3600" dirty="0" err="1">
                <a:solidFill>
                  <a:srgbClr val="000000"/>
                </a:solidFill>
              </a:rPr>
              <a:t>puede</a:t>
            </a:r>
            <a:r>
              <a:rPr lang="en-US" sz="3600" dirty="0">
                <a:solidFill>
                  <a:srgbClr val="000000"/>
                </a:solidFill>
              </a:rPr>
              <a:t> </a:t>
            </a:r>
            <a:r>
              <a:rPr lang="en-US" sz="3600" dirty="0" err="1">
                <a:solidFill>
                  <a:srgbClr val="000000"/>
                </a:solidFill>
              </a:rPr>
              <a:t>invocar</a:t>
            </a:r>
            <a:r>
              <a:rPr lang="en-US" sz="3600" dirty="0">
                <a:solidFill>
                  <a:srgbClr val="000000"/>
                </a:solidFill>
              </a:rPr>
              <a:t> </a:t>
            </a:r>
            <a:r>
              <a:rPr lang="en-US" sz="3600" dirty="0" err="1">
                <a:solidFill>
                  <a:srgbClr val="000000"/>
                </a:solidFill>
              </a:rPr>
              <a:t>su</a:t>
            </a:r>
            <a:r>
              <a:rPr lang="en-US" sz="3600" dirty="0">
                <a:solidFill>
                  <a:srgbClr val="000000"/>
                </a:solidFill>
              </a:rPr>
              <a:t> </a:t>
            </a:r>
            <a:r>
              <a:rPr lang="en-US" sz="3600" dirty="0" err="1">
                <a:solidFill>
                  <a:srgbClr val="000000"/>
                </a:solidFill>
              </a:rPr>
              <a:t>ejecución</a:t>
            </a:r>
            <a:r>
              <a:rPr lang="en-US" sz="3600" dirty="0">
                <a:solidFill>
                  <a:srgbClr val="000000"/>
                </a:solidFill>
              </a:rPr>
              <a:t> sin </a:t>
            </a:r>
            <a:r>
              <a:rPr lang="en-US" sz="3600" dirty="0" err="1">
                <a:solidFill>
                  <a:srgbClr val="000000"/>
                </a:solidFill>
              </a:rPr>
              <a:t>necesidad</a:t>
            </a:r>
            <a:r>
              <a:rPr lang="en-US" sz="3600" dirty="0">
                <a:solidFill>
                  <a:srgbClr val="000000"/>
                </a:solidFill>
              </a:rPr>
              <a:t> de que </a:t>
            </a:r>
            <a:r>
              <a:rPr lang="en-US" sz="3600" dirty="0" err="1">
                <a:solidFill>
                  <a:srgbClr val="000000"/>
                </a:solidFill>
              </a:rPr>
              <a:t>exista</a:t>
            </a:r>
            <a:r>
              <a:rPr lang="en-US" sz="3600" dirty="0">
                <a:solidFill>
                  <a:srgbClr val="000000"/>
                </a:solidFill>
              </a:rPr>
              <a:t> un </a:t>
            </a:r>
            <a:r>
              <a:rPr lang="en-US" sz="3600" dirty="0" err="1">
                <a:solidFill>
                  <a:srgbClr val="000000"/>
                </a:solidFill>
              </a:rPr>
              <a:t>objeto</a:t>
            </a:r>
            <a:r>
              <a:rPr lang="en-US" sz="3600" dirty="0">
                <a:solidFill>
                  <a:srgbClr val="000000"/>
                </a:solidFill>
              </a:rPr>
              <a:t> de la </a:t>
            </a:r>
            <a:r>
              <a:rPr lang="en-US" sz="3600" dirty="0" err="1">
                <a:solidFill>
                  <a:srgbClr val="000000"/>
                </a:solidFill>
              </a:rPr>
              <a:t>clase</a:t>
            </a:r>
            <a:r>
              <a:rPr lang="en-US" sz="3600" dirty="0">
                <a:solidFill>
                  <a:srgbClr val="000000"/>
                </a:solidFill>
              </a:rPr>
              <a:t> a la que </a:t>
            </a:r>
            <a:r>
              <a:rPr lang="en-US" sz="3600" dirty="0" err="1">
                <a:solidFill>
                  <a:srgbClr val="000000"/>
                </a:solidFill>
              </a:rPr>
              <a:t>pertenece</a:t>
            </a:r>
            <a:r>
              <a:rPr lang="en-US" sz="3600" dirty="0">
                <a:solidFill>
                  <a:srgbClr val="000000"/>
                </a:solidFill>
              </a:rPr>
              <a:t> (</a:t>
            </a:r>
            <a:r>
              <a:rPr lang="en-US" sz="3600" dirty="0" err="1">
                <a:solidFill>
                  <a:srgbClr val="000000"/>
                </a:solidFill>
              </a:rPr>
              <a:t>p.ej</a:t>
            </a:r>
            <a:r>
              <a:rPr lang="en-US" sz="3600" dirty="0">
                <a:solidFill>
                  <a:srgbClr val="000000"/>
                </a:solidFill>
              </a:rPr>
              <a:t>. </a:t>
            </a:r>
            <a:r>
              <a:rPr lang="en-US" sz="3600" dirty="0" err="1">
                <a:solidFill>
                  <a:srgbClr val="000000"/>
                </a:solidFill>
              </a:rPr>
              <a:t>Imaginemos</a:t>
            </a:r>
            <a:r>
              <a:rPr lang="en-US" sz="3600" dirty="0">
                <a:solidFill>
                  <a:srgbClr val="000000"/>
                </a:solidFill>
              </a:rPr>
              <a:t> que se llama “</a:t>
            </a:r>
            <a:r>
              <a:rPr lang="en-US" sz="3600" i="1" dirty="0" err="1">
                <a:solidFill>
                  <a:srgbClr val="000000"/>
                </a:solidFill>
              </a:rPr>
              <a:t>MiClase</a:t>
            </a:r>
            <a:r>
              <a:rPr lang="en-US" sz="3600" i="1" dirty="0">
                <a:solidFill>
                  <a:srgbClr val="000000"/>
                </a:solidFill>
              </a:rPr>
              <a:t>”</a:t>
            </a:r>
            <a:r>
              <a:rPr lang="en-US" sz="3600" dirty="0">
                <a:solidFill>
                  <a:srgbClr val="000000"/>
                </a:solidFill>
              </a:rPr>
              <a:t>)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US" sz="3600" dirty="0">
                <a:solidFill>
                  <a:srgbClr val="000000"/>
                </a:solidFill>
              </a:rPr>
              <a:t>“</a:t>
            </a:r>
            <a:r>
              <a:rPr lang="en-US" sz="3600" i="1" dirty="0" err="1">
                <a:solidFill>
                  <a:srgbClr val="000000"/>
                </a:solidFill>
              </a:rPr>
              <a:t>MiClase</a:t>
            </a:r>
            <a:r>
              <a:rPr lang="en-US" sz="3600" dirty="0">
                <a:solidFill>
                  <a:srgbClr val="000000"/>
                </a:solidFill>
              </a:rPr>
              <a:t>” </a:t>
            </a:r>
            <a:r>
              <a:rPr lang="en-US" sz="3600" dirty="0" err="1">
                <a:solidFill>
                  <a:srgbClr val="000000"/>
                </a:solidFill>
              </a:rPr>
              <a:t>puede</a:t>
            </a:r>
            <a:r>
              <a:rPr lang="en-US" sz="3600" dirty="0">
                <a:solidFill>
                  <a:srgbClr val="000000"/>
                </a:solidFill>
              </a:rPr>
              <a:t> </a:t>
            </a:r>
            <a:r>
              <a:rPr lang="en-US" sz="3600" dirty="0" err="1">
                <a:solidFill>
                  <a:srgbClr val="000000"/>
                </a:solidFill>
              </a:rPr>
              <a:t>tener</a:t>
            </a:r>
            <a:r>
              <a:rPr lang="en-US" sz="3600" dirty="0">
                <a:solidFill>
                  <a:srgbClr val="000000"/>
                </a:solidFill>
              </a:rPr>
              <a:t> o no </a:t>
            </a:r>
            <a:r>
              <a:rPr lang="en-US" sz="3600" dirty="0" err="1">
                <a:solidFill>
                  <a:srgbClr val="000000"/>
                </a:solidFill>
              </a:rPr>
              <a:t>tener</a:t>
            </a:r>
            <a:r>
              <a:rPr lang="en-US" sz="3600" dirty="0">
                <a:solidFill>
                  <a:srgbClr val="000000"/>
                </a:solidFill>
              </a:rPr>
              <a:t> un “</a:t>
            </a:r>
            <a:r>
              <a:rPr lang="en-US" sz="3600" i="1" dirty="0">
                <a:solidFill>
                  <a:srgbClr val="000000"/>
                </a:solidFill>
              </a:rPr>
              <a:t>main</a:t>
            </a:r>
            <a:r>
              <a:rPr lang="en-US" sz="3600" dirty="0">
                <a:solidFill>
                  <a:srgbClr val="000000"/>
                </a:solidFill>
              </a:rPr>
              <a:t>”, </a:t>
            </a:r>
            <a:r>
              <a:rPr lang="en-US" sz="3600" dirty="0" err="1">
                <a:solidFill>
                  <a:srgbClr val="000000"/>
                </a:solidFill>
              </a:rPr>
              <a:t>pero</a:t>
            </a:r>
            <a:r>
              <a:rPr lang="en-US" sz="3600" dirty="0">
                <a:solidFill>
                  <a:srgbClr val="000000"/>
                </a:solidFill>
              </a:rPr>
              <a:t> </a:t>
            </a:r>
            <a:r>
              <a:rPr lang="en-US" sz="3600" dirty="0" err="1">
                <a:solidFill>
                  <a:srgbClr val="000000"/>
                </a:solidFill>
              </a:rPr>
              <a:t>si</a:t>
            </a:r>
            <a:r>
              <a:rPr lang="en-US" sz="3600" dirty="0">
                <a:solidFill>
                  <a:srgbClr val="000000"/>
                </a:solidFill>
              </a:rPr>
              <a:t> </a:t>
            </a:r>
            <a:r>
              <a:rPr lang="en-US" sz="3600" dirty="0" err="1">
                <a:solidFill>
                  <a:srgbClr val="000000"/>
                </a:solidFill>
              </a:rPr>
              <a:t>queremos</a:t>
            </a:r>
            <a:r>
              <a:rPr lang="en-US" sz="3600" dirty="0">
                <a:solidFill>
                  <a:srgbClr val="000000"/>
                </a:solidFill>
              </a:rPr>
              <a:t> </a:t>
            </a:r>
            <a:r>
              <a:rPr lang="en-US" sz="3600" dirty="0" err="1">
                <a:solidFill>
                  <a:srgbClr val="000000"/>
                </a:solidFill>
              </a:rPr>
              <a:t>ejecutarla</a:t>
            </a:r>
            <a:r>
              <a:rPr lang="en-US" sz="3600" dirty="0">
                <a:solidFill>
                  <a:srgbClr val="000000"/>
                </a:solidFill>
              </a:rPr>
              <a:t>, es </a:t>
            </a:r>
            <a:r>
              <a:rPr lang="en-US" sz="3600" dirty="0" err="1">
                <a:solidFill>
                  <a:srgbClr val="000000"/>
                </a:solidFill>
              </a:rPr>
              <a:t>imprescindible</a:t>
            </a:r>
            <a:r>
              <a:rPr lang="en-US" sz="3600" dirty="0">
                <a:solidFill>
                  <a:srgbClr val="000000"/>
                </a:solidFill>
              </a:rPr>
              <a:t> que lo </a:t>
            </a:r>
            <a:r>
              <a:rPr lang="en-US" sz="3600" dirty="0" err="1">
                <a:solidFill>
                  <a:srgbClr val="000000"/>
                </a:solidFill>
              </a:rPr>
              <a:t>tenga</a:t>
            </a:r>
            <a:r>
              <a:rPr lang="en-US" sz="3600" dirty="0">
                <a:solidFill>
                  <a:srgbClr val="000000"/>
                </a:solidFill>
              </a:rPr>
              <a:t>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06353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3D0B40-40A0-66DB-D22B-E4CE7B671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String</a:t>
            </a:r>
            <a:r>
              <a:rPr lang="es-ES" dirty="0"/>
              <a:t> [] </a:t>
            </a:r>
            <a:r>
              <a:rPr lang="es-ES" dirty="0" err="1"/>
              <a:t>args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077DF1-9699-E4A6-84E0-BD4A7C5AB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761999"/>
            <a:ext cx="9905999" cy="6043247"/>
          </a:xfrm>
        </p:spPr>
        <p:txBody>
          <a:bodyPr>
            <a:normAutofit fontScale="92500" lnSpcReduction="10000"/>
          </a:bodyPr>
          <a:lstStyle/>
          <a:p>
            <a:r>
              <a:rPr lang="es-ES" sz="3200" dirty="0" err="1"/>
              <a:t>String</a:t>
            </a:r>
            <a:r>
              <a:rPr lang="es-ES" sz="3200" dirty="0"/>
              <a:t> [] </a:t>
            </a:r>
            <a:r>
              <a:rPr lang="es-ES" sz="3200" dirty="0" err="1"/>
              <a:t>args</a:t>
            </a:r>
            <a:r>
              <a:rPr lang="es-ES" sz="3200" dirty="0"/>
              <a:t> representa el array de parámetros con el que se ejecuta la clase</a:t>
            </a:r>
          </a:p>
          <a:p>
            <a:r>
              <a:rPr lang="es-ES" sz="3200" dirty="0"/>
              <a:t>Una clase “</a:t>
            </a:r>
            <a:r>
              <a:rPr lang="es-ES" sz="3200" dirty="0" err="1"/>
              <a:t>MiClase</a:t>
            </a:r>
            <a:r>
              <a:rPr lang="es-ES" sz="3200" dirty="0"/>
              <a:t>” se ejecutaría con el comando “java </a:t>
            </a:r>
            <a:r>
              <a:rPr lang="es-ES" sz="3200" dirty="0" err="1"/>
              <a:t>MiClase</a:t>
            </a:r>
            <a:r>
              <a:rPr lang="es-ES" sz="3200" dirty="0"/>
              <a:t>”.</a:t>
            </a:r>
          </a:p>
          <a:p>
            <a:r>
              <a:rPr lang="es-ES" sz="3200" dirty="0"/>
              <a:t>Si uso el comando “java </a:t>
            </a:r>
            <a:r>
              <a:rPr lang="es-ES" sz="3200" dirty="0" err="1"/>
              <a:t>MiClase</a:t>
            </a:r>
            <a:r>
              <a:rPr lang="es-ES" sz="3200" dirty="0"/>
              <a:t> algo 3 </a:t>
            </a:r>
            <a:r>
              <a:rPr lang="es-ES" sz="3200" dirty="0" err="1"/>
              <a:t>otracosa</a:t>
            </a:r>
            <a:r>
              <a:rPr lang="es-ES" sz="3200" dirty="0"/>
              <a:t>”, al ejecutar el programa tendré</a:t>
            </a:r>
          </a:p>
          <a:p>
            <a:pPr lvl="1"/>
            <a:r>
              <a:rPr lang="es-ES" sz="2800" dirty="0"/>
              <a:t>En </a:t>
            </a:r>
            <a:r>
              <a:rPr lang="es-ES" sz="2800" dirty="0" err="1"/>
              <a:t>args</a:t>
            </a:r>
            <a:r>
              <a:rPr lang="es-ES" sz="2800" dirty="0"/>
              <a:t>[0]  “algo”</a:t>
            </a:r>
          </a:p>
          <a:p>
            <a:pPr lvl="1"/>
            <a:r>
              <a:rPr lang="es-ES" sz="2800" dirty="0"/>
              <a:t>En </a:t>
            </a:r>
            <a:r>
              <a:rPr lang="es-ES" sz="2800" dirty="0" err="1"/>
              <a:t>args</a:t>
            </a:r>
            <a:r>
              <a:rPr lang="es-ES" sz="2800" dirty="0"/>
              <a:t>[1] “3”   (como </a:t>
            </a:r>
            <a:r>
              <a:rPr lang="es-ES" sz="2800" dirty="0" err="1"/>
              <a:t>String</a:t>
            </a:r>
            <a:r>
              <a:rPr lang="es-ES" sz="2800" dirty="0"/>
              <a:t>!!)</a:t>
            </a:r>
          </a:p>
          <a:p>
            <a:pPr lvl="1"/>
            <a:r>
              <a:rPr lang="es-ES" sz="2800" dirty="0"/>
              <a:t>En </a:t>
            </a:r>
            <a:r>
              <a:rPr lang="es-ES" sz="2800" dirty="0" err="1"/>
              <a:t>args</a:t>
            </a:r>
            <a:r>
              <a:rPr lang="es-ES" sz="2800" dirty="0"/>
              <a:t> [2] “</a:t>
            </a:r>
            <a:r>
              <a:rPr lang="es-ES" sz="2800" dirty="0" err="1"/>
              <a:t>otracosa</a:t>
            </a:r>
            <a:r>
              <a:rPr lang="es-ES" sz="2800" dirty="0"/>
              <a:t>”</a:t>
            </a:r>
          </a:p>
          <a:p>
            <a:r>
              <a:rPr lang="es-ES" sz="3200" dirty="0"/>
              <a:t>En eclipse hay una opción para pasar estos parámetros al ejecutar las clases</a:t>
            </a:r>
          </a:p>
        </p:txBody>
      </p:sp>
    </p:spTree>
    <p:extLst>
      <p:ext uri="{BB962C8B-B14F-4D97-AF65-F5344CB8AC3E}">
        <p14:creationId xmlns:p14="http://schemas.microsoft.com/office/powerpoint/2010/main" val="600622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11805C-9CCC-83A6-0EF7-AFE8E22CA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Clase </a:t>
            </a:r>
            <a:r>
              <a:rPr lang="es-ES" dirty="0" err="1"/>
              <a:t>Main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F0CD6E-260D-B11F-7B6D-9ECD59A29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761999"/>
            <a:ext cx="9905999" cy="5934635"/>
          </a:xfrm>
        </p:spPr>
        <p:txBody>
          <a:bodyPr>
            <a:normAutofit fontScale="92500" lnSpcReduction="20000"/>
          </a:bodyPr>
          <a:lstStyle/>
          <a:p>
            <a:r>
              <a:rPr lang="en-US" sz="3500" dirty="0">
                <a:solidFill>
                  <a:srgbClr val="000000"/>
                </a:solidFill>
              </a:rPr>
              <a:t>La </a:t>
            </a:r>
            <a:r>
              <a:rPr lang="en-US" sz="3500" dirty="0" err="1">
                <a:solidFill>
                  <a:srgbClr val="000000"/>
                </a:solidFill>
              </a:rPr>
              <a:t>clase</a:t>
            </a:r>
            <a:r>
              <a:rPr lang="en-US" sz="3500" dirty="0">
                <a:solidFill>
                  <a:srgbClr val="000000"/>
                </a:solidFill>
              </a:rPr>
              <a:t> Main es la </a:t>
            </a:r>
            <a:r>
              <a:rPr lang="en-US" sz="3500" dirty="0" err="1">
                <a:solidFill>
                  <a:srgbClr val="000000"/>
                </a:solidFill>
              </a:rPr>
              <a:t>clase</a:t>
            </a:r>
            <a:r>
              <a:rPr lang="en-US" sz="3500" dirty="0">
                <a:solidFill>
                  <a:srgbClr val="000000"/>
                </a:solidFill>
              </a:rPr>
              <a:t> </a:t>
            </a:r>
            <a:r>
              <a:rPr lang="en-US" sz="3500" dirty="0" err="1">
                <a:solidFill>
                  <a:srgbClr val="000000"/>
                </a:solidFill>
              </a:rPr>
              <a:t>por</a:t>
            </a:r>
            <a:r>
              <a:rPr lang="en-US" sz="3500" dirty="0">
                <a:solidFill>
                  <a:srgbClr val="000000"/>
                </a:solidFill>
              </a:rPr>
              <a:t> la </a:t>
            </a:r>
            <a:r>
              <a:rPr lang="en-US" sz="3500" dirty="0" err="1">
                <a:solidFill>
                  <a:srgbClr val="000000"/>
                </a:solidFill>
              </a:rPr>
              <a:t>cual</a:t>
            </a:r>
            <a:r>
              <a:rPr lang="en-US" sz="3500" dirty="0">
                <a:solidFill>
                  <a:srgbClr val="000000"/>
                </a:solidFill>
              </a:rPr>
              <a:t> </a:t>
            </a:r>
            <a:r>
              <a:rPr lang="en-US" sz="3500" dirty="0" err="1">
                <a:solidFill>
                  <a:srgbClr val="000000"/>
                </a:solidFill>
              </a:rPr>
              <a:t>arranca</a:t>
            </a:r>
            <a:r>
              <a:rPr lang="en-US" sz="3500" dirty="0">
                <a:solidFill>
                  <a:srgbClr val="000000"/>
                </a:solidFill>
              </a:rPr>
              <a:t> </a:t>
            </a:r>
            <a:r>
              <a:rPr lang="en-US" sz="3500" dirty="0" err="1">
                <a:solidFill>
                  <a:srgbClr val="000000"/>
                </a:solidFill>
              </a:rPr>
              <a:t>toda</a:t>
            </a:r>
            <a:r>
              <a:rPr lang="en-US" sz="3500" dirty="0">
                <a:solidFill>
                  <a:srgbClr val="000000"/>
                </a:solidFill>
              </a:rPr>
              <a:t> la </a:t>
            </a:r>
            <a:r>
              <a:rPr lang="en-US" sz="3500" dirty="0" err="1">
                <a:solidFill>
                  <a:srgbClr val="000000"/>
                </a:solidFill>
              </a:rPr>
              <a:t>ejecución</a:t>
            </a:r>
            <a:r>
              <a:rPr lang="en-US" sz="3500" dirty="0">
                <a:solidFill>
                  <a:srgbClr val="000000"/>
                </a:solidFill>
              </a:rPr>
              <a:t> de un </a:t>
            </a:r>
            <a:r>
              <a:rPr lang="en-US" sz="3500" dirty="0" err="1">
                <a:solidFill>
                  <a:srgbClr val="000000"/>
                </a:solidFill>
              </a:rPr>
              <a:t>programa</a:t>
            </a:r>
            <a:r>
              <a:rPr lang="en-US" sz="3500" dirty="0">
                <a:solidFill>
                  <a:srgbClr val="000000"/>
                </a:solidFill>
              </a:rPr>
              <a:t> o </a:t>
            </a:r>
            <a:r>
              <a:rPr lang="en-US" sz="3500" dirty="0" err="1">
                <a:solidFill>
                  <a:srgbClr val="000000"/>
                </a:solidFill>
              </a:rPr>
              <a:t>proyecto</a:t>
            </a:r>
            <a:r>
              <a:rPr lang="en-US" sz="3500" dirty="0">
                <a:solidFill>
                  <a:srgbClr val="000000"/>
                </a:solidFill>
              </a:rPr>
              <a:t> </a:t>
            </a:r>
            <a:r>
              <a:rPr lang="en-US" sz="3500" dirty="0" err="1">
                <a:solidFill>
                  <a:srgbClr val="000000"/>
                </a:solidFill>
              </a:rPr>
              <a:t>en</a:t>
            </a:r>
            <a:r>
              <a:rPr lang="en-US" sz="3500" dirty="0">
                <a:solidFill>
                  <a:srgbClr val="000000"/>
                </a:solidFill>
              </a:rPr>
              <a:t> </a:t>
            </a:r>
            <a:r>
              <a:rPr lang="en-US" sz="3500" dirty="0" err="1">
                <a:solidFill>
                  <a:srgbClr val="000000"/>
                </a:solidFill>
              </a:rPr>
              <a:t>concreto</a:t>
            </a:r>
            <a:r>
              <a:rPr lang="en-US" sz="3500" dirty="0">
                <a:solidFill>
                  <a:srgbClr val="000000"/>
                </a:solidFill>
              </a:rPr>
              <a:t>. Es </a:t>
            </a:r>
            <a:r>
              <a:rPr lang="en-US" sz="3500" dirty="0" err="1">
                <a:solidFill>
                  <a:srgbClr val="000000"/>
                </a:solidFill>
              </a:rPr>
              <a:t>obligatorio</a:t>
            </a:r>
            <a:r>
              <a:rPr lang="en-US" sz="3500" dirty="0">
                <a:solidFill>
                  <a:srgbClr val="000000"/>
                </a:solidFill>
              </a:rPr>
              <a:t> que </a:t>
            </a:r>
            <a:r>
              <a:rPr lang="en-US" sz="3500" dirty="0" err="1">
                <a:solidFill>
                  <a:srgbClr val="000000"/>
                </a:solidFill>
              </a:rPr>
              <a:t>ésta</a:t>
            </a:r>
            <a:r>
              <a:rPr lang="en-US" sz="3500" dirty="0">
                <a:solidFill>
                  <a:srgbClr val="000000"/>
                </a:solidFill>
              </a:rPr>
              <a:t> </a:t>
            </a:r>
            <a:r>
              <a:rPr lang="en-US" sz="3500" dirty="0" err="1">
                <a:solidFill>
                  <a:srgbClr val="000000"/>
                </a:solidFill>
              </a:rPr>
              <a:t>tenga</a:t>
            </a:r>
            <a:r>
              <a:rPr lang="en-US" sz="3500" dirty="0">
                <a:solidFill>
                  <a:srgbClr val="000000"/>
                </a:solidFill>
              </a:rPr>
              <a:t> un </a:t>
            </a:r>
            <a:r>
              <a:rPr lang="en-US" sz="3500" dirty="0" err="1">
                <a:solidFill>
                  <a:srgbClr val="000000"/>
                </a:solidFill>
              </a:rPr>
              <a:t>método</a:t>
            </a:r>
            <a:r>
              <a:rPr lang="en-US" sz="3500" dirty="0">
                <a:solidFill>
                  <a:srgbClr val="000000"/>
                </a:solidFill>
              </a:rPr>
              <a:t> main.</a:t>
            </a:r>
          </a:p>
          <a:p>
            <a:r>
              <a:rPr lang="en-US" sz="3500" dirty="0">
                <a:solidFill>
                  <a:srgbClr val="000000"/>
                </a:solidFill>
              </a:rPr>
              <a:t>El resto de </a:t>
            </a:r>
            <a:r>
              <a:rPr lang="en-US" sz="3500" dirty="0" err="1">
                <a:solidFill>
                  <a:srgbClr val="000000"/>
                </a:solidFill>
              </a:rPr>
              <a:t>clases</a:t>
            </a:r>
            <a:r>
              <a:rPr lang="en-US" sz="3500" dirty="0">
                <a:solidFill>
                  <a:srgbClr val="000000"/>
                </a:solidFill>
              </a:rPr>
              <a:t> </a:t>
            </a:r>
            <a:r>
              <a:rPr lang="en-US" sz="3500" dirty="0" err="1">
                <a:solidFill>
                  <a:srgbClr val="000000"/>
                </a:solidFill>
              </a:rPr>
              <a:t>puede</a:t>
            </a:r>
            <a:r>
              <a:rPr lang="en-US" sz="3500" dirty="0">
                <a:solidFill>
                  <a:srgbClr val="000000"/>
                </a:solidFill>
              </a:rPr>
              <a:t> </a:t>
            </a:r>
            <a:r>
              <a:rPr lang="en-US" sz="3500" dirty="0" err="1">
                <a:solidFill>
                  <a:srgbClr val="000000"/>
                </a:solidFill>
              </a:rPr>
              <a:t>tener</a:t>
            </a:r>
            <a:r>
              <a:rPr lang="en-US" sz="3500" dirty="0">
                <a:solidFill>
                  <a:srgbClr val="000000"/>
                </a:solidFill>
              </a:rPr>
              <a:t> o no </a:t>
            </a:r>
            <a:r>
              <a:rPr lang="en-US" sz="3500" dirty="0" err="1">
                <a:solidFill>
                  <a:srgbClr val="000000"/>
                </a:solidFill>
              </a:rPr>
              <a:t>método</a:t>
            </a:r>
            <a:r>
              <a:rPr lang="en-US" sz="3500" dirty="0">
                <a:solidFill>
                  <a:srgbClr val="000000"/>
                </a:solidFill>
              </a:rPr>
              <a:t> "main". Si lo </a:t>
            </a:r>
            <a:r>
              <a:rPr lang="en-US" sz="3500" dirty="0" err="1">
                <a:solidFill>
                  <a:srgbClr val="000000"/>
                </a:solidFill>
              </a:rPr>
              <a:t>tiene</a:t>
            </a:r>
            <a:r>
              <a:rPr lang="en-US" sz="3500" dirty="0">
                <a:solidFill>
                  <a:srgbClr val="000000"/>
                </a:solidFill>
              </a:rPr>
              <a:t>, </a:t>
            </a:r>
            <a:r>
              <a:rPr lang="en-US" sz="3500" dirty="0" err="1">
                <a:solidFill>
                  <a:srgbClr val="000000"/>
                </a:solidFill>
              </a:rPr>
              <a:t>normalmente</a:t>
            </a:r>
            <a:r>
              <a:rPr lang="en-US" sz="3500" dirty="0">
                <a:solidFill>
                  <a:srgbClr val="000000"/>
                </a:solidFill>
              </a:rPr>
              <a:t> se </a:t>
            </a:r>
            <a:r>
              <a:rPr lang="en-US" sz="3500" dirty="0" err="1">
                <a:solidFill>
                  <a:srgbClr val="000000"/>
                </a:solidFill>
              </a:rPr>
              <a:t>utiliza</a:t>
            </a:r>
            <a:r>
              <a:rPr lang="en-US" sz="3500" dirty="0">
                <a:solidFill>
                  <a:srgbClr val="000000"/>
                </a:solidFill>
              </a:rPr>
              <a:t> para </a:t>
            </a:r>
            <a:r>
              <a:rPr lang="en-US" sz="3500" dirty="0" err="1">
                <a:solidFill>
                  <a:srgbClr val="000000"/>
                </a:solidFill>
              </a:rPr>
              <a:t>probarlo</a:t>
            </a:r>
            <a:r>
              <a:rPr lang="en-US" sz="3500" dirty="0">
                <a:solidFill>
                  <a:srgbClr val="000000"/>
                </a:solidFill>
              </a:rPr>
              <a:t> </a:t>
            </a:r>
            <a:r>
              <a:rPr lang="en-US" sz="3500" dirty="0" err="1">
                <a:solidFill>
                  <a:srgbClr val="000000"/>
                </a:solidFill>
              </a:rPr>
              <a:t>unitariamente</a:t>
            </a:r>
            <a:r>
              <a:rPr lang="en-US" sz="3500" dirty="0">
                <a:solidFill>
                  <a:srgbClr val="000000"/>
                </a:solidFill>
              </a:rPr>
              <a:t>, </a:t>
            </a:r>
            <a:r>
              <a:rPr lang="en-US" sz="3500" dirty="0" err="1">
                <a:solidFill>
                  <a:srgbClr val="000000"/>
                </a:solidFill>
              </a:rPr>
              <a:t>aunque</a:t>
            </a:r>
            <a:r>
              <a:rPr lang="en-US" sz="3500" dirty="0">
                <a:solidFill>
                  <a:srgbClr val="000000"/>
                </a:solidFill>
              </a:rPr>
              <a:t> con </a:t>
            </a:r>
            <a:r>
              <a:rPr lang="en-US" sz="3500" dirty="0" err="1">
                <a:solidFill>
                  <a:srgbClr val="000000"/>
                </a:solidFill>
              </a:rPr>
              <a:t>utilidades</a:t>
            </a:r>
            <a:r>
              <a:rPr lang="en-US" sz="3500" dirty="0">
                <a:solidFill>
                  <a:srgbClr val="000000"/>
                </a:solidFill>
              </a:rPr>
              <a:t> </a:t>
            </a:r>
            <a:r>
              <a:rPr lang="en-US" sz="3500" dirty="0" err="1">
                <a:solidFill>
                  <a:srgbClr val="000000"/>
                </a:solidFill>
              </a:rPr>
              <a:t>como</a:t>
            </a:r>
            <a:r>
              <a:rPr lang="en-US" sz="3500" dirty="0">
                <a:solidFill>
                  <a:srgbClr val="000000"/>
                </a:solidFill>
              </a:rPr>
              <a:t> JUnit </a:t>
            </a:r>
            <a:r>
              <a:rPr lang="en-US" sz="3500" dirty="0" err="1">
                <a:solidFill>
                  <a:srgbClr val="000000"/>
                </a:solidFill>
              </a:rPr>
              <a:t>esto</a:t>
            </a:r>
            <a:r>
              <a:rPr lang="en-US" sz="3500" dirty="0">
                <a:solidFill>
                  <a:srgbClr val="000000"/>
                </a:solidFill>
              </a:rPr>
              <a:t> no </a:t>
            </a:r>
            <a:r>
              <a:rPr lang="en-US" sz="3500" dirty="0" err="1">
                <a:solidFill>
                  <a:srgbClr val="000000"/>
                </a:solidFill>
              </a:rPr>
              <a:t>suele</a:t>
            </a:r>
            <a:r>
              <a:rPr lang="en-US" sz="3500" dirty="0">
                <a:solidFill>
                  <a:srgbClr val="000000"/>
                </a:solidFill>
              </a:rPr>
              <a:t> ser habitual </a:t>
            </a:r>
          </a:p>
          <a:p>
            <a:r>
              <a:rPr lang="en-US" sz="3500" dirty="0">
                <a:solidFill>
                  <a:srgbClr val="000000"/>
                </a:solidFill>
              </a:rPr>
              <a:t>No </a:t>
            </a:r>
            <a:r>
              <a:rPr lang="en-US" sz="3500" dirty="0" err="1">
                <a:solidFill>
                  <a:srgbClr val="000000"/>
                </a:solidFill>
              </a:rPr>
              <a:t>tiene</a:t>
            </a:r>
            <a:r>
              <a:rPr lang="en-US" sz="3500" dirty="0">
                <a:solidFill>
                  <a:srgbClr val="000000"/>
                </a:solidFill>
              </a:rPr>
              <a:t> </a:t>
            </a:r>
            <a:r>
              <a:rPr lang="en-US" sz="3500" dirty="0" err="1">
                <a:solidFill>
                  <a:srgbClr val="000000"/>
                </a:solidFill>
              </a:rPr>
              <a:t>porque</a:t>
            </a:r>
            <a:r>
              <a:rPr lang="en-US" sz="3500" dirty="0">
                <a:solidFill>
                  <a:srgbClr val="000000"/>
                </a:solidFill>
              </a:rPr>
              <a:t> </a:t>
            </a:r>
            <a:r>
              <a:rPr lang="en-US" sz="3500" dirty="0" err="1">
                <a:solidFill>
                  <a:srgbClr val="000000"/>
                </a:solidFill>
              </a:rPr>
              <a:t>llamarse</a:t>
            </a:r>
            <a:r>
              <a:rPr lang="en-US" sz="3500" dirty="0">
                <a:solidFill>
                  <a:srgbClr val="000000"/>
                </a:solidFill>
              </a:rPr>
              <a:t> Main, </a:t>
            </a:r>
            <a:r>
              <a:rPr lang="en-US" sz="3500" dirty="0" err="1">
                <a:solidFill>
                  <a:srgbClr val="000000"/>
                </a:solidFill>
              </a:rPr>
              <a:t>puede</a:t>
            </a:r>
            <a:r>
              <a:rPr lang="en-US" sz="3500" dirty="0">
                <a:solidFill>
                  <a:srgbClr val="000000"/>
                </a:solidFill>
              </a:rPr>
              <a:t> </a:t>
            </a:r>
            <a:r>
              <a:rPr lang="en-US" sz="3500" dirty="0" err="1">
                <a:solidFill>
                  <a:srgbClr val="000000"/>
                </a:solidFill>
              </a:rPr>
              <a:t>tener</a:t>
            </a:r>
            <a:r>
              <a:rPr lang="en-US" sz="3500" dirty="0">
                <a:solidFill>
                  <a:srgbClr val="000000"/>
                </a:solidFill>
              </a:rPr>
              <a:t> </a:t>
            </a:r>
            <a:r>
              <a:rPr lang="en-US" sz="3500" dirty="0" err="1">
                <a:solidFill>
                  <a:srgbClr val="000000"/>
                </a:solidFill>
              </a:rPr>
              <a:t>el</a:t>
            </a:r>
            <a:r>
              <a:rPr lang="en-US" sz="3500" dirty="0">
                <a:solidFill>
                  <a:srgbClr val="000000"/>
                </a:solidFill>
              </a:rPr>
              <a:t> </a:t>
            </a:r>
            <a:r>
              <a:rPr lang="en-US" sz="3500" dirty="0" err="1">
                <a:solidFill>
                  <a:srgbClr val="000000"/>
                </a:solidFill>
              </a:rPr>
              <a:t>nombre</a:t>
            </a:r>
            <a:r>
              <a:rPr lang="en-US" sz="3500" dirty="0">
                <a:solidFill>
                  <a:srgbClr val="000000"/>
                </a:solidFill>
              </a:rPr>
              <a:t> del </a:t>
            </a:r>
            <a:r>
              <a:rPr lang="en-US" sz="3500" dirty="0" err="1">
                <a:solidFill>
                  <a:srgbClr val="000000"/>
                </a:solidFill>
              </a:rPr>
              <a:t>proyecto</a:t>
            </a:r>
            <a:r>
              <a:rPr lang="en-US" sz="3500" dirty="0">
                <a:solidFill>
                  <a:srgbClr val="000000"/>
                </a:solidFill>
              </a:rPr>
              <a:t> </a:t>
            </a:r>
            <a:r>
              <a:rPr lang="en-US" sz="3500" dirty="0" err="1">
                <a:solidFill>
                  <a:srgbClr val="000000"/>
                </a:solidFill>
              </a:rPr>
              <a:t>genérico</a:t>
            </a:r>
            <a:r>
              <a:rPr lang="en-US" sz="3500" dirty="0">
                <a:solidFill>
                  <a:srgbClr val="000000"/>
                </a:solidFill>
              </a:rPr>
              <a:t> u </a:t>
            </a:r>
            <a:r>
              <a:rPr lang="en-US" sz="3500" dirty="0" err="1">
                <a:solidFill>
                  <a:srgbClr val="000000"/>
                </a:solidFill>
              </a:rPr>
              <a:t>otro</a:t>
            </a:r>
            <a:r>
              <a:rPr lang="en-US" sz="3500" dirty="0">
                <a:solidFill>
                  <a:srgbClr val="000000"/>
                </a:solidFill>
              </a:rPr>
              <a:t>, </a:t>
            </a:r>
            <a:r>
              <a:rPr lang="en-US" sz="3500" dirty="0" err="1">
                <a:solidFill>
                  <a:srgbClr val="000000"/>
                </a:solidFill>
              </a:rPr>
              <a:t>pero</a:t>
            </a:r>
            <a:r>
              <a:rPr lang="en-US" sz="3500" dirty="0">
                <a:solidFill>
                  <a:srgbClr val="000000"/>
                </a:solidFill>
              </a:rPr>
              <a:t> es </a:t>
            </a:r>
            <a:r>
              <a:rPr lang="en-US" sz="3500" dirty="0" err="1">
                <a:solidFill>
                  <a:srgbClr val="000000"/>
                </a:solidFill>
              </a:rPr>
              <a:t>una</a:t>
            </a:r>
            <a:r>
              <a:rPr lang="en-US" sz="3500" dirty="0">
                <a:solidFill>
                  <a:srgbClr val="000000"/>
                </a:solidFill>
              </a:rPr>
              <a:t> </a:t>
            </a:r>
            <a:r>
              <a:rPr lang="en-US" sz="3500" dirty="0" err="1">
                <a:solidFill>
                  <a:srgbClr val="000000"/>
                </a:solidFill>
              </a:rPr>
              <a:t>buena</a:t>
            </a:r>
            <a:r>
              <a:rPr lang="en-US" sz="3500" dirty="0">
                <a:solidFill>
                  <a:srgbClr val="000000"/>
                </a:solidFill>
              </a:rPr>
              <a:t> </a:t>
            </a:r>
            <a:r>
              <a:rPr lang="en-US" sz="3500" dirty="0" err="1">
                <a:solidFill>
                  <a:srgbClr val="000000"/>
                </a:solidFill>
              </a:rPr>
              <a:t>costumbre</a:t>
            </a:r>
            <a:r>
              <a:rPr lang="en-US" sz="3500" dirty="0">
                <a:solidFill>
                  <a:srgbClr val="000000"/>
                </a:solidFill>
              </a:rPr>
              <a:t>, para que un </a:t>
            </a:r>
            <a:r>
              <a:rPr lang="en-US" sz="3500" dirty="0" err="1">
                <a:solidFill>
                  <a:srgbClr val="000000"/>
                </a:solidFill>
              </a:rPr>
              <a:t>programador</a:t>
            </a:r>
            <a:r>
              <a:rPr lang="en-US" sz="3500" dirty="0">
                <a:solidFill>
                  <a:srgbClr val="000000"/>
                </a:solidFill>
              </a:rPr>
              <a:t> nuevo </a:t>
            </a:r>
            <a:r>
              <a:rPr lang="en-US" sz="3500" dirty="0" err="1">
                <a:solidFill>
                  <a:srgbClr val="000000"/>
                </a:solidFill>
              </a:rPr>
              <a:t>en</a:t>
            </a:r>
            <a:r>
              <a:rPr lang="en-US" sz="3500" dirty="0">
                <a:solidFill>
                  <a:srgbClr val="000000"/>
                </a:solidFill>
              </a:rPr>
              <a:t> </a:t>
            </a:r>
            <a:r>
              <a:rPr lang="en-US" sz="3500" dirty="0" err="1">
                <a:solidFill>
                  <a:srgbClr val="000000"/>
                </a:solidFill>
              </a:rPr>
              <a:t>el</a:t>
            </a:r>
            <a:r>
              <a:rPr lang="en-US" sz="3500" dirty="0">
                <a:solidFill>
                  <a:srgbClr val="000000"/>
                </a:solidFill>
              </a:rPr>
              <a:t> </a:t>
            </a:r>
            <a:r>
              <a:rPr lang="en-US" sz="3500" dirty="0" err="1">
                <a:solidFill>
                  <a:srgbClr val="000000"/>
                </a:solidFill>
              </a:rPr>
              <a:t>proyecto</a:t>
            </a:r>
            <a:r>
              <a:rPr lang="en-US" sz="3500" dirty="0">
                <a:solidFill>
                  <a:srgbClr val="000000"/>
                </a:solidFill>
              </a:rPr>
              <a:t> </a:t>
            </a:r>
            <a:r>
              <a:rPr lang="en-US" sz="3500" dirty="0" err="1">
                <a:solidFill>
                  <a:srgbClr val="000000"/>
                </a:solidFill>
              </a:rPr>
              <a:t>sepa</a:t>
            </a:r>
            <a:r>
              <a:rPr lang="en-US" sz="3500" dirty="0">
                <a:solidFill>
                  <a:srgbClr val="000000"/>
                </a:solidFill>
              </a:rPr>
              <a:t> </a:t>
            </a:r>
            <a:r>
              <a:rPr lang="en-US" sz="3500" dirty="0" err="1">
                <a:solidFill>
                  <a:srgbClr val="000000"/>
                </a:solidFill>
              </a:rPr>
              <a:t>cual</a:t>
            </a:r>
            <a:r>
              <a:rPr lang="en-US" sz="3500" dirty="0">
                <a:solidFill>
                  <a:srgbClr val="000000"/>
                </a:solidFill>
              </a:rPr>
              <a:t> es la </a:t>
            </a:r>
            <a:r>
              <a:rPr lang="en-US" sz="3500" dirty="0" err="1">
                <a:solidFill>
                  <a:srgbClr val="000000"/>
                </a:solidFill>
              </a:rPr>
              <a:t>clase</a:t>
            </a:r>
            <a:r>
              <a:rPr lang="en-US" sz="3500" dirty="0">
                <a:solidFill>
                  <a:srgbClr val="000000"/>
                </a:solidFill>
              </a:rPr>
              <a:t> "</a:t>
            </a:r>
            <a:r>
              <a:rPr lang="en-US" sz="3500" dirty="0" err="1">
                <a:solidFill>
                  <a:srgbClr val="000000"/>
                </a:solidFill>
              </a:rPr>
              <a:t>detonante</a:t>
            </a:r>
            <a:r>
              <a:rPr lang="en-US" sz="3500" dirty="0">
                <a:solidFill>
                  <a:srgbClr val="000000"/>
                </a:solidFill>
              </a:rPr>
              <a:t>"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55314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7D347F-189F-1406-5C73-DB308FA71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No </a:t>
            </a:r>
            <a:r>
              <a:rPr lang="es-ES" dirty="0" err="1"/>
              <a:t>static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403516-4836-08FF-F493-34B74D01F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3200" dirty="0"/>
              <a:t>Cuando en Java </a:t>
            </a:r>
            <a:r>
              <a:rPr lang="es-ES" sz="3200" b="1" u="sng" dirty="0"/>
              <a:t>NO</a:t>
            </a:r>
            <a:r>
              <a:rPr lang="es-ES" sz="3200" dirty="0"/>
              <a:t> utilizo la palabra reservada </a:t>
            </a:r>
            <a:r>
              <a:rPr lang="es-ES" sz="3200" dirty="0" err="1"/>
              <a:t>static</a:t>
            </a:r>
            <a:r>
              <a:rPr lang="es-ES" sz="3200" dirty="0"/>
              <a:t>, me estoy referendo a algo que depende de un objecto concreto.</a:t>
            </a:r>
          </a:p>
          <a:p>
            <a:pPr lvl="1"/>
            <a:r>
              <a:rPr lang="es-ES" sz="2800" dirty="0"/>
              <a:t>Un atributo de una clase aparecerá en todos las instancias de esa clase (los objetos) pero cada instancia podrá tener un valor distinto de ese atributo</a:t>
            </a:r>
          </a:p>
          <a:p>
            <a:pPr lvl="1"/>
            <a:r>
              <a:rPr lang="es-ES" sz="2800" dirty="0"/>
              <a:t>Un método que NO es estático, quiere decir que hay que llamarlo sobre un objecto concreto, y usará datos de ese objeto concreto en su ejecución.</a:t>
            </a:r>
          </a:p>
        </p:txBody>
      </p:sp>
    </p:spTree>
    <p:extLst>
      <p:ext uri="{BB962C8B-B14F-4D97-AF65-F5344CB8AC3E}">
        <p14:creationId xmlns:p14="http://schemas.microsoft.com/office/powerpoint/2010/main" val="1521144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6ADA5E-E017-674D-DB55-97FE26DCD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no </a:t>
            </a:r>
            <a:r>
              <a:rPr lang="es-ES" dirty="0" err="1"/>
              <a:t>Static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271CE59-E49A-F0C6-EB24-9B6BA0F4A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6847"/>
            <a:ext cx="5289788" cy="631115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183FCC2-8F6B-9194-C643-0DAACB9B6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119" y="152400"/>
            <a:ext cx="6620951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551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25BCF0-A191-0317-02A8-332764AC1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static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67647C-9766-21DD-C3A3-3D1AE3EA9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762000"/>
            <a:ext cx="9905999" cy="5889812"/>
          </a:xfrm>
        </p:spPr>
        <p:txBody>
          <a:bodyPr>
            <a:normAutofit lnSpcReduction="10000"/>
          </a:bodyPr>
          <a:lstStyle/>
          <a:p>
            <a:r>
              <a:rPr lang="es-ES" sz="3600" dirty="0"/>
              <a:t>Cuando estamos en un entorno estático, me refiero a algo que no pertenece a un objecto concreto, sino a la clase. </a:t>
            </a:r>
          </a:p>
          <a:p>
            <a:pPr lvl="1"/>
            <a:r>
              <a:rPr lang="es-ES" sz="3200" dirty="0"/>
              <a:t>Una variable estática tendrá el mismo valor para cualquier objeto que la use. No depende del objeto, sino de la clase</a:t>
            </a:r>
          </a:p>
          <a:p>
            <a:pPr lvl="1"/>
            <a:r>
              <a:rPr lang="es-ES" sz="3200" dirty="0"/>
              <a:t>Un método estático no se llama sobre un objeto, sino sobre una clase. No usa los datos de un objeto concreto para ejecutarse. Puede usar los datos estáticos de esa clase.</a:t>
            </a:r>
          </a:p>
        </p:txBody>
      </p:sp>
    </p:spTree>
    <p:extLst>
      <p:ext uri="{BB962C8B-B14F-4D97-AF65-F5344CB8AC3E}">
        <p14:creationId xmlns:p14="http://schemas.microsoft.com/office/powerpoint/2010/main" val="2002797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47B7E-A796-3757-EADA-9CB82EA3F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859"/>
            <a:ext cx="9905998" cy="627185"/>
          </a:xfrm>
        </p:spPr>
        <p:txBody>
          <a:bodyPr/>
          <a:lstStyle/>
          <a:p>
            <a:r>
              <a:rPr lang="es-ES" dirty="0"/>
              <a:t>Ejemplo </a:t>
            </a:r>
            <a:r>
              <a:rPr lang="es-ES" dirty="0" err="1"/>
              <a:t>static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2299475-4B0C-4D16-BC7A-9CA205F42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678" y="0"/>
            <a:ext cx="8298625" cy="388275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C9715EC-EFD1-7D02-FFBA-BC319CE2E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61365"/>
            <a:ext cx="12098303" cy="289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618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099A36-8FD1-4081-1B2E-A2CBA1DFF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Static</a:t>
            </a:r>
            <a:r>
              <a:rPr lang="es-ES" dirty="0"/>
              <a:t> y No </a:t>
            </a:r>
            <a:r>
              <a:rPr lang="es-ES" dirty="0" err="1"/>
              <a:t>static</a:t>
            </a:r>
            <a:r>
              <a:rPr lang="es-ES" dirty="0"/>
              <a:t> pueden coexistir…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6D88961-9D6D-296A-9C62-F5CE1835C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520" y="562846"/>
            <a:ext cx="6423186" cy="627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063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AB504C-06C8-9C21-E697-E9E56652D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Organización del código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2EBD40-4117-C68D-0A5E-443C59A23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762000"/>
            <a:ext cx="9905999" cy="5898776"/>
          </a:xfrm>
        </p:spPr>
        <p:txBody>
          <a:bodyPr>
            <a:normAutofit fontScale="85000" lnSpcReduction="20000"/>
          </a:bodyPr>
          <a:lstStyle/>
          <a:p>
            <a:pPr marL="457200" lvl="0" indent="-3810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US" sz="3900" dirty="0">
                <a:solidFill>
                  <a:srgbClr val="000000"/>
                </a:solidFill>
              </a:rPr>
              <a:t>El </a:t>
            </a:r>
            <a:r>
              <a:rPr lang="en-US" sz="3900" dirty="0" err="1">
                <a:solidFill>
                  <a:srgbClr val="000000"/>
                </a:solidFill>
              </a:rPr>
              <a:t>código</a:t>
            </a:r>
            <a:r>
              <a:rPr lang="en-US" sz="3900" dirty="0">
                <a:solidFill>
                  <a:srgbClr val="000000"/>
                </a:solidFill>
              </a:rPr>
              <a:t> de un </a:t>
            </a:r>
            <a:r>
              <a:rPr lang="en-US" sz="3900" dirty="0" err="1">
                <a:solidFill>
                  <a:srgbClr val="000000"/>
                </a:solidFill>
              </a:rPr>
              <a:t>proyecto</a:t>
            </a:r>
            <a:r>
              <a:rPr lang="en-US" sz="3900" dirty="0">
                <a:solidFill>
                  <a:srgbClr val="000000"/>
                </a:solidFill>
              </a:rPr>
              <a:t> JAVA </a:t>
            </a:r>
            <a:r>
              <a:rPr lang="en-US" sz="3900" dirty="0" err="1">
                <a:solidFill>
                  <a:srgbClr val="000000"/>
                </a:solidFill>
              </a:rPr>
              <a:t>consistirá</a:t>
            </a:r>
            <a:r>
              <a:rPr lang="en-US" sz="3900" dirty="0">
                <a:solidFill>
                  <a:srgbClr val="000000"/>
                </a:solidFill>
              </a:rPr>
              <a:t> </a:t>
            </a:r>
            <a:r>
              <a:rPr lang="en-US" sz="3900" dirty="0" err="1">
                <a:solidFill>
                  <a:srgbClr val="000000"/>
                </a:solidFill>
              </a:rPr>
              <a:t>en</a:t>
            </a:r>
            <a:r>
              <a:rPr lang="en-US" sz="3900" dirty="0">
                <a:solidFill>
                  <a:srgbClr val="000000"/>
                </a:solidFill>
              </a:rPr>
              <a:t> un </a:t>
            </a:r>
            <a:r>
              <a:rPr lang="en-US" sz="3900" dirty="0" err="1">
                <a:solidFill>
                  <a:srgbClr val="000000"/>
                </a:solidFill>
              </a:rPr>
              <a:t>montón</a:t>
            </a:r>
            <a:r>
              <a:rPr lang="en-US" sz="3900" dirty="0">
                <a:solidFill>
                  <a:srgbClr val="000000"/>
                </a:solidFill>
              </a:rPr>
              <a:t> de </a:t>
            </a:r>
            <a:r>
              <a:rPr lang="en-US" sz="3900" dirty="0" err="1">
                <a:solidFill>
                  <a:srgbClr val="000000"/>
                </a:solidFill>
              </a:rPr>
              <a:t>clases</a:t>
            </a:r>
            <a:r>
              <a:rPr lang="en-US" sz="3900" dirty="0">
                <a:solidFill>
                  <a:srgbClr val="000000"/>
                </a:solidFill>
              </a:rPr>
              <a:t> (</a:t>
            </a:r>
            <a:r>
              <a:rPr lang="en-US" sz="3900" dirty="0" err="1">
                <a:solidFill>
                  <a:srgbClr val="000000"/>
                </a:solidFill>
              </a:rPr>
              <a:t>cada</a:t>
            </a:r>
            <a:r>
              <a:rPr lang="en-US" sz="3900" dirty="0">
                <a:solidFill>
                  <a:srgbClr val="000000"/>
                </a:solidFill>
              </a:rPr>
              <a:t> </a:t>
            </a:r>
            <a:r>
              <a:rPr lang="en-US" sz="3900" dirty="0" err="1">
                <a:solidFill>
                  <a:srgbClr val="000000"/>
                </a:solidFill>
              </a:rPr>
              <a:t>una</a:t>
            </a:r>
            <a:r>
              <a:rPr lang="en-US" sz="3900" dirty="0">
                <a:solidFill>
                  <a:srgbClr val="000000"/>
                </a:solidFill>
              </a:rPr>
              <a:t>, </a:t>
            </a:r>
            <a:r>
              <a:rPr lang="en-US" sz="3900" dirty="0" err="1">
                <a:solidFill>
                  <a:srgbClr val="000000"/>
                </a:solidFill>
              </a:rPr>
              <a:t>escrita</a:t>
            </a:r>
            <a:r>
              <a:rPr lang="en-US" sz="3900" dirty="0">
                <a:solidFill>
                  <a:srgbClr val="000000"/>
                </a:solidFill>
              </a:rPr>
              <a:t> </a:t>
            </a:r>
            <a:r>
              <a:rPr lang="en-US" sz="3900" dirty="0" err="1">
                <a:solidFill>
                  <a:srgbClr val="000000"/>
                </a:solidFill>
              </a:rPr>
              <a:t>en</a:t>
            </a:r>
            <a:r>
              <a:rPr lang="en-US" sz="3900" dirty="0">
                <a:solidFill>
                  <a:srgbClr val="000000"/>
                </a:solidFill>
              </a:rPr>
              <a:t> un </a:t>
            </a:r>
            <a:r>
              <a:rPr lang="en-US" sz="3900" dirty="0" err="1">
                <a:solidFill>
                  <a:srgbClr val="000000"/>
                </a:solidFill>
              </a:rPr>
              <a:t>fichero</a:t>
            </a:r>
            <a:r>
              <a:rPr lang="en-US" sz="3900" dirty="0">
                <a:solidFill>
                  <a:srgbClr val="000000"/>
                </a:solidFill>
              </a:rPr>
              <a:t> *.java)</a:t>
            </a:r>
          </a:p>
          <a:p>
            <a:pPr marL="457200" lvl="0" indent="-3810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US" sz="3900" dirty="0">
                <a:solidFill>
                  <a:srgbClr val="000000"/>
                </a:solidFill>
              </a:rPr>
              <a:t>Como </a:t>
            </a:r>
            <a:r>
              <a:rPr lang="en-US" sz="3900" dirty="0" err="1">
                <a:solidFill>
                  <a:srgbClr val="000000"/>
                </a:solidFill>
              </a:rPr>
              <a:t>el</a:t>
            </a:r>
            <a:r>
              <a:rPr lang="en-US" sz="3900" dirty="0">
                <a:solidFill>
                  <a:srgbClr val="000000"/>
                </a:solidFill>
              </a:rPr>
              <a:t> </a:t>
            </a:r>
            <a:r>
              <a:rPr lang="en-US" sz="3900" dirty="0" err="1">
                <a:solidFill>
                  <a:srgbClr val="000000"/>
                </a:solidFill>
              </a:rPr>
              <a:t>número</a:t>
            </a:r>
            <a:r>
              <a:rPr lang="en-US" sz="3900" dirty="0">
                <a:solidFill>
                  <a:srgbClr val="000000"/>
                </a:solidFill>
              </a:rPr>
              <a:t> de </a:t>
            </a:r>
            <a:r>
              <a:rPr lang="en-US" sz="3900" dirty="0" err="1">
                <a:solidFill>
                  <a:srgbClr val="000000"/>
                </a:solidFill>
              </a:rPr>
              <a:t>clases</a:t>
            </a:r>
            <a:r>
              <a:rPr lang="en-US" sz="3900" dirty="0">
                <a:solidFill>
                  <a:srgbClr val="000000"/>
                </a:solidFill>
              </a:rPr>
              <a:t> </a:t>
            </a:r>
            <a:r>
              <a:rPr lang="en-US" sz="3900" dirty="0" err="1">
                <a:solidFill>
                  <a:srgbClr val="000000"/>
                </a:solidFill>
              </a:rPr>
              <a:t>puede</a:t>
            </a:r>
            <a:r>
              <a:rPr lang="en-US" sz="3900" dirty="0">
                <a:solidFill>
                  <a:srgbClr val="000000"/>
                </a:solidFill>
              </a:rPr>
              <a:t> ser </a:t>
            </a:r>
            <a:r>
              <a:rPr lang="en-US" sz="3900" dirty="0" err="1">
                <a:solidFill>
                  <a:srgbClr val="000000"/>
                </a:solidFill>
              </a:rPr>
              <a:t>muy</a:t>
            </a:r>
            <a:r>
              <a:rPr lang="en-US" sz="3900" dirty="0">
                <a:solidFill>
                  <a:srgbClr val="000000"/>
                </a:solidFill>
              </a:rPr>
              <a:t> </a:t>
            </a:r>
            <a:r>
              <a:rPr lang="en-US" sz="3900" dirty="0" err="1">
                <a:solidFill>
                  <a:srgbClr val="000000"/>
                </a:solidFill>
              </a:rPr>
              <a:t>grande</a:t>
            </a:r>
            <a:r>
              <a:rPr lang="en-US" sz="3900" dirty="0">
                <a:solidFill>
                  <a:srgbClr val="000000"/>
                </a:solidFill>
              </a:rPr>
              <a:t>, y </a:t>
            </a:r>
            <a:r>
              <a:rPr lang="en-US" sz="3900" dirty="0" err="1">
                <a:solidFill>
                  <a:srgbClr val="000000"/>
                </a:solidFill>
              </a:rPr>
              <a:t>además</a:t>
            </a:r>
            <a:r>
              <a:rPr lang="en-US" sz="3900" dirty="0">
                <a:solidFill>
                  <a:srgbClr val="000000"/>
                </a:solidFill>
              </a:rPr>
              <a:t>, las </a:t>
            </a:r>
            <a:r>
              <a:rPr lang="en-US" sz="3900" dirty="0" err="1">
                <a:solidFill>
                  <a:srgbClr val="000000"/>
                </a:solidFill>
              </a:rPr>
              <a:t>tareas</a:t>
            </a:r>
            <a:r>
              <a:rPr lang="en-US" sz="3900" dirty="0">
                <a:solidFill>
                  <a:srgbClr val="000000"/>
                </a:solidFill>
              </a:rPr>
              <a:t> que </a:t>
            </a:r>
            <a:r>
              <a:rPr lang="en-US" sz="3900" dirty="0" err="1">
                <a:solidFill>
                  <a:srgbClr val="000000"/>
                </a:solidFill>
              </a:rPr>
              <a:t>realiza</a:t>
            </a:r>
            <a:r>
              <a:rPr lang="en-US" sz="3900" dirty="0">
                <a:solidFill>
                  <a:srgbClr val="000000"/>
                </a:solidFill>
              </a:rPr>
              <a:t> </a:t>
            </a:r>
            <a:r>
              <a:rPr lang="en-US" sz="3900" dirty="0" err="1">
                <a:solidFill>
                  <a:srgbClr val="000000"/>
                </a:solidFill>
              </a:rPr>
              <a:t>cada</a:t>
            </a:r>
            <a:r>
              <a:rPr lang="en-US" sz="3900" dirty="0">
                <a:solidFill>
                  <a:srgbClr val="000000"/>
                </a:solidFill>
              </a:rPr>
              <a:t> </a:t>
            </a:r>
            <a:r>
              <a:rPr lang="en-US" sz="3900" dirty="0" err="1">
                <a:solidFill>
                  <a:srgbClr val="000000"/>
                </a:solidFill>
              </a:rPr>
              <a:t>clase</a:t>
            </a:r>
            <a:r>
              <a:rPr lang="en-US" sz="3900" dirty="0">
                <a:solidFill>
                  <a:srgbClr val="000000"/>
                </a:solidFill>
              </a:rPr>
              <a:t> no </a:t>
            </a:r>
            <a:r>
              <a:rPr lang="en-US" sz="3900" dirty="0" err="1">
                <a:solidFill>
                  <a:srgbClr val="000000"/>
                </a:solidFill>
              </a:rPr>
              <a:t>tienen</a:t>
            </a:r>
            <a:r>
              <a:rPr lang="en-US" sz="3900" dirty="0">
                <a:solidFill>
                  <a:srgbClr val="000000"/>
                </a:solidFill>
              </a:rPr>
              <a:t> </a:t>
            </a:r>
            <a:r>
              <a:rPr lang="en-US" sz="3900" dirty="0" err="1">
                <a:solidFill>
                  <a:srgbClr val="000000"/>
                </a:solidFill>
              </a:rPr>
              <a:t>porque</a:t>
            </a:r>
            <a:r>
              <a:rPr lang="en-US" sz="3900" dirty="0">
                <a:solidFill>
                  <a:srgbClr val="000000"/>
                </a:solidFill>
              </a:rPr>
              <a:t> ser </a:t>
            </a:r>
            <a:r>
              <a:rPr lang="en-US" sz="3900" dirty="0" err="1">
                <a:solidFill>
                  <a:srgbClr val="000000"/>
                </a:solidFill>
              </a:rPr>
              <a:t>conceptualmente</a:t>
            </a:r>
            <a:r>
              <a:rPr lang="en-US" sz="3900" dirty="0">
                <a:solidFill>
                  <a:srgbClr val="000000"/>
                </a:solidFill>
              </a:rPr>
              <a:t> </a:t>
            </a:r>
            <a:r>
              <a:rPr lang="en-US" sz="3900" dirty="0" err="1">
                <a:solidFill>
                  <a:srgbClr val="000000"/>
                </a:solidFill>
              </a:rPr>
              <a:t>similares</a:t>
            </a:r>
            <a:r>
              <a:rPr lang="en-US" sz="3900" dirty="0">
                <a:solidFill>
                  <a:srgbClr val="000000"/>
                </a:solidFill>
              </a:rPr>
              <a:t>, JAVA </a:t>
            </a:r>
            <a:r>
              <a:rPr lang="en-US" sz="3900" dirty="0" err="1">
                <a:solidFill>
                  <a:srgbClr val="000000"/>
                </a:solidFill>
              </a:rPr>
              <a:t>nos</a:t>
            </a:r>
            <a:r>
              <a:rPr lang="en-US" sz="3900" dirty="0">
                <a:solidFill>
                  <a:srgbClr val="000000"/>
                </a:solidFill>
              </a:rPr>
              <a:t> </a:t>
            </a:r>
            <a:r>
              <a:rPr lang="en-US" sz="3900" dirty="0" err="1">
                <a:solidFill>
                  <a:srgbClr val="000000"/>
                </a:solidFill>
              </a:rPr>
              <a:t>permite</a:t>
            </a:r>
            <a:r>
              <a:rPr lang="en-US" sz="3900" dirty="0">
                <a:solidFill>
                  <a:srgbClr val="000000"/>
                </a:solidFill>
              </a:rPr>
              <a:t> </a:t>
            </a:r>
            <a:r>
              <a:rPr lang="en-US" sz="3900" dirty="0" err="1">
                <a:solidFill>
                  <a:srgbClr val="000000"/>
                </a:solidFill>
              </a:rPr>
              <a:t>organizar</a:t>
            </a:r>
            <a:r>
              <a:rPr lang="en-US" sz="3900" dirty="0">
                <a:solidFill>
                  <a:srgbClr val="000000"/>
                </a:solidFill>
              </a:rPr>
              <a:t> las </a:t>
            </a:r>
            <a:r>
              <a:rPr lang="en-US" sz="3900" dirty="0" err="1">
                <a:solidFill>
                  <a:srgbClr val="000000"/>
                </a:solidFill>
              </a:rPr>
              <a:t>clases</a:t>
            </a:r>
            <a:r>
              <a:rPr lang="en-US" sz="3900" dirty="0">
                <a:solidFill>
                  <a:srgbClr val="000000"/>
                </a:solidFill>
              </a:rPr>
              <a:t> </a:t>
            </a:r>
            <a:r>
              <a:rPr lang="en-US" sz="3900" dirty="0" err="1">
                <a:solidFill>
                  <a:srgbClr val="000000"/>
                </a:solidFill>
              </a:rPr>
              <a:t>en</a:t>
            </a:r>
            <a:r>
              <a:rPr lang="en-US" sz="3900" dirty="0">
                <a:solidFill>
                  <a:srgbClr val="000000"/>
                </a:solidFill>
              </a:rPr>
              <a:t> </a:t>
            </a:r>
            <a:r>
              <a:rPr lang="en-US" sz="3900" dirty="0" err="1">
                <a:solidFill>
                  <a:srgbClr val="000000"/>
                </a:solidFill>
              </a:rPr>
              <a:t>una</a:t>
            </a:r>
            <a:r>
              <a:rPr lang="en-US" sz="3900" dirty="0">
                <a:solidFill>
                  <a:srgbClr val="000000"/>
                </a:solidFill>
              </a:rPr>
              <a:t> </a:t>
            </a:r>
            <a:r>
              <a:rPr lang="en-US" sz="3900" dirty="0" err="1">
                <a:solidFill>
                  <a:srgbClr val="000000"/>
                </a:solidFill>
              </a:rPr>
              <a:t>unidad</a:t>
            </a:r>
            <a:r>
              <a:rPr lang="en-US" sz="3900" dirty="0">
                <a:solidFill>
                  <a:srgbClr val="000000"/>
                </a:solidFill>
              </a:rPr>
              <a:t> superior </a:t>
            </a:r>
            <a:r>
              <a:rPr lang="en-US" sz="3900" dirty="0" err="1">
                <a:solidFill>
                  <a:srgbClr val="000000"/>
                </a:solidFill>
              </a:rPr>
              <a:t>llamada</a:t>
            </a:r>
            <a:r>
              <a:rPr lang="en-US" sz="3900" dirty="0">
                <a:solidFill>
                  <a:srgbClr val="000000"/>
                </a:solidFill>
              </a:rPr>
              <a:t> “</a:t>
            </a:r>
            <a:r>
              <a:rPr lang="en-US" sz="3900" dirty="0" err="1">
                <a:solidFill>
                  <a:srgbClr val="000000"/>
                </a:solidFill>
              </a:rPr>
              <a:t>Paquete</a:t>
            </a:r>
            <a:r>
              <a:rPr lang="en-US" sz="3900" dirty="0">
                <a:solidFill>
                  <a:srgbClr val="000000"/>
                </a:solidFill>
              </a:rPr>
              <a:t>”.</a:t>
            </a:r>
          </a:p>
          <a:p>
            <a:pPr marL="457200" lvl="0" indent="-3810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US" sz="3900" dirty="0">
                <a:solidFill>
                  <a:srgbClr val="000000"/>
                </a:solidFill>
              </a:rPr>
              <a:t>Para </a:t>
            </a:r>
            <a:r>
              <a:rPr lang="en-US" sz="3900" dirty="0" err="1">
                <a:solidFill>
                  <a:srgbClr val="000000"/>
                </a:solidFill>
              </a:rPr>
              <a:t>hacer</a:t>
            </a:r>
            <a:r>
              <a:rPr lang="en-US" sz="3900" dirty="0">
                <a:solidFill>
                  <a:srgbClr val="000000"/>
                </a:solidFill>
              </a:rPr>
              <a:t> que un par de </a:t>
            </a:r>
            <a:r>
              <a:rPr lang="en-US" sz="3900" dirty="0" err="1">
                <a:solidFill>
                  <a:srgbClr val="000000"/>
                </a:solidFill>
              </a:rPr>
              <a:t>clases</a:t>
            </a:r>
            <a:r>
              <a:rPr lang="en-US" sz="3900" dirty="0">
                <a:solidFill>
                  <a:srgbClr val="000000"/>
                </a:solidFill>
              </a:rPr>
              <a:t> </a:t>
            </a:r>
            <a:r>
              <a:rPr lang="en-US" sz="3900" dirty="0" err="1">
                <a:solidFill>
                  <a:srgbClr val="000000"/>
                </a:solidFill>
              </a:rPr>
              <a:t>pertenezcan</a:t>
            </a:r>
            <a:r>
              <a:rPr lang="en-US" sz="3900" dirty="0">
                <a:solidFill>
                  <a:srgbClr val="000000"/>
                </a:solidFill>
              </a:rPr>
              <a:t> a un </a:t>
            </a:r>
            <a:r>
              <a:rPr lang="en-US" sz="3900" dirty="0" err="1">
                <a:solidFill>
                  <a:srgbClr val="000000"/>
                </a:solidFill>
              </a:rPr>
              <a:t>mismo</a:t>
            </a:r>
            <a:r>
              <a:rPr lang="en-US" sz="3900" dirty="0">
                <a:solidFill>
                  <a:srgbClr val="000000"/>
                </a:solidFill>
              </a:rPr>
              <a:t> </a:t>
            </a:r>
            <a:r>
              <a:rPr lang="en-US" sz="3900" dirty="0" err="1">
                <a:solidFill>
                  <a:srgbClr val="000000"/>
                </a:solidFill>
              </a:rPr>
              <a:t>paquete</a:t>
            </a:r>
            <a:r>
              <a:rPr lang="en-US" sz="3900" dirty="0">
                <a:solidFill>
                  <a:srgbClr val="000000"/>
                </a:solidFill>
              </a:rPr>
              <a:t> basta con </a:t>
            </a:r>
            <a:r>
              <a:rPr lang="en-US" sz="3900" dirty="0" err="1">
                <a:solidFill>
                  <a:srgbClr val="000000"/>
                </a:solidFill>
              </a:rPr>
              <a:t>indicar</a:t>
            </a:r>
            <a:r>
              <a:rPr lang="en-US" sz="3900" dirty="0">
                <a:solidFill>
                  <a:srgbClr val="000000"/>
                </a:solidFill>
              </a:rPr>
              <a:t> “package &lt;</a:t>
            </a:r>
            <a:r>
              <a:rPr lang="en-US" sz="3900" dirty="0" err="1">
                <a:solidFill>
                  <a:srgbClr val="000000"/>
                </a:solidFill>
              </a:rPr>
              <a:t>nombrePaquete</a:t>
            </a:r>
            <a:r>
              <a:rPr lang="en-US" sz="3900" dirty="0">
                <a:solidFill>
                  <a:srgbClr val="000000"/>
                </a:solidFill>
              </a:rPr>
              <a:t>&gt;” antes de la </a:t>
            </a:r>
            <a:r>
              <a:rPr lang="en-US" sz="3900" dirty="0" err="1">
                <a:solidFill>
                  <a:srgbClr val="000000"/>
                </a:solidFill>
              </a:rPr>
              <a:t>definición</a:t>
            </a:r>
            <a:r>
              <a:rPr lang="en-US" sz="3900" dirty="0">
                <a:solidFill>
                  <a:srgbClr val="000000"/>
                </a:solidFill>
              </a:rPr>
              <a:t> de ambas </a:t>
            </a:r>
            <a:r>
              <a:rPr lang="en-US" sz="3900" dirty="0" err="1">
                <a:solidFill>
                  <a:srgbClr val="000000"/>
                </a:solidFill>
              </a:rPr>
              <a:t>clases</a:t>
            </a:r>
            <a:r>
              <a:rPr lang="en-US" sz="3900" dirty="0">
                <a:solidFill>
                  <a:srgbClr val="000000"/>
                </a:solidFill>
              </a:rPr>
              <a:t>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77659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C51B06-CBC7-ACC3-22F5-7516B99A4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Overloading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90FA85-B456-C9AF-F880-FD490F8DB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lvl="0" indent="-29845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37931"/>
              <a:buFont typeface="Arial"/>
              <a:buChar char="●"/>
            </a:pPr>
            <a:r>
              <a:rPr lang="en-US" sz="3600" dirty="0" err="1">
                <a:solidFill>
                  <a:srgbClr val="000000"/>
                </a:solidFill>
              </a:rPr>
              <a:t>En</a:t>
            </a:r>
            <a:r>
              <a:rPr lang="en-US" sz="3600" dirty="0">
                <a:solidFill>
                  <a:srgbClr val="000000"/>
                </a:solidFill>
              </a:rPr>
              <a:t> JAVA se </a:t>
            </a:r>
            <a:r>
              <a:rPr lang="en-US" sz="3600" dirty="0" err="1">
                <a:solidFill>
                  <a:srgbClr val="000000"/>
                </a:solidFill>
              </a:rPr>
              <a:t>puede</a:t>
            </a:r>
            <a:r>
              <a:rPr lang="en-US" sz="3600" dirty="0">
                <a:solidFill>
                  <a:srgbClr val="000000"/>
                </a:solidFill>
              </a:rPr>
              <a:t> </a:t>
            </a:r>
            <a:r>
              <a:rPr lang="en-US" sz="3600" dirty="0" err="1">
                <a:solidFill>
                  <a:srgbClr val="000000"/>
                </a:solidFill>
              </a:rPr>
              <a:t>sobrecargar</a:t>
            </a:r>
            <a:r>
              <a:rPr lang="en-US" sz="3600" dirty="0">
                <a:solidFill>
                  <a:srgbClr val="000000"/>
                </a:solidFill>
              </a:rPr>
              <a:t> un </a:t>
            </a:r>
            <a:r>
              <a:rPr lang="en-US" sz="3600" dirty="0" err="1">
                <a:solidFill>
                  <a:srgbClr val="000000"/>
                </a:solidFill>
              </a:rPr>
              <a:t>método</a:t>
            </a:r>
            <a:r>
              <a:rPr lang="en-US" sz="3600" dirty="0">
                <a:solidFill>
                  <a:srgbClr val="000000"/>
                </a:solidFill>
              </a:rPr>
              <a:t>. </a:t>
            </a:r>
            <a:r>
              <a:rPr lang="en-US" sz="3600" dirty="0" err="1">
                <a:solidFill>
                  <a:srgbClr val="000000"/>
                </a:solidFill>
              </a:rPr>
              <a:t>Esto</a:t>
            </a:r>
            <a:r>
              <a:rPr lang="en-US" sz="3600" dirty="0">
                <a:solidFill>
                  <a:srgbClr val="000000"/>
                </a:solidFill>
              </a:rPr>
              <a:t> </a:t>
            </a:r>
            <a:r>
              <a:rPr lang="en-US" sz="3600" dirty="0" err="1">
                <a:solidFill>
                  <a:srgbClr val="000000"/>
                </a:solidFill>
              </a:rPr>
              <a:t>significa</a:t>
            </a:r>
            <a:r>
              <a:rPr lang="en-US" sz="3600" dirty="0">
                <a:solidFill>
                  <a:srgbClr val="000000"/>
                </a:solidFill>
              </a:rPr>
              <a:t>, que </a:t>
            </a:r>
            <a:r>
              <a:rPr lang="en-US" sz="3600" dirty="0" err="1">
                <a:solidFill>
                  <a:srgbClr val="000000"/>
                </a:solidFill>
              </a:rPr>
              <a:t>puede</a:t>
            </a:r>
            <a:r>
              <a:rPr lang="en-US" sz="3600" dirty="0">
                <a:solidFill>
                  <a:srgbClr val="000000"/>
                </a:solidFill>
              </a:rPr>
              <a:t> </a:t>
            </a:r>
            <a:r>
              <a:rPr lang="en-US" sz="3600" dirty="0" err="1">
                <a:solidFill>
                  <a:srgbClr val="000000"/>
                </a:solidFill>
              </a:rPr>
              <a:t>haber</a:t>
            </a:r>
            <a:r>
              <a:rPr lang="en-US" sz="3600" dirty="0">
                <a:solidFill>
                  <a:srgbClr val="000000"/>
                </a:solidFill>
              </a:rPr>
              <a:t> dos </a:t>
            </a:r>
            <a:r>
              <a:rPr lang="en-US" sz="3600" dirty="0" err="1">
                <a:solidFill>
                  <a:srgbClr val="000000"/>
                </a:solidFill>
              </a:rPr>
              <a:t>métodos</a:t>
            </a:r>
            <a:r>
              <a:rPr lang="en-US" sz="3600" dirty="0">
                <a:solidFill>
                  <a:srgbClr val="000000"/>
                </a:solidFill>
              </a:rPr>
              <a:t> </a:t>
            </a:r>
            <a:r>
              <a:rPr lang="en-US" sz="3600" dirty="0" err="1">
                <a:solidFill>
                  <a:srgbClr val="000000"/>
                </a:solidFill>
              </a:rPr>
              <a:t>en</a:t>
            </a:r>
            <a:r>
              <a:rPr lang="en-US" sz="3600" dirty="0">
                <a:solidFill>
                  <a:srgbClr val="000000"/>
                </a:solidFill>
              </a:rPr>
              <a:t> </a:t>
            </a:r>
            <a:r>
              <a:rPr lang="en-US" sz="3600" dirty="0" err="1">
                <a:solidFill>
                  <a:srgbClr val="000000"/>
                </a:solidFill>
              </a:rPr>
              <a:t>una</a:t>
            </a:r>
            <a:r>
              <a:rPr lang="en-US" sz="3600" dirty="0">
                <a:solidFill>
                  <a:srgbClr val="000000"/>
                </a:solidFill>
              </a:rPr>
              <a:t> </a:t>
            </a:r>
            <a:r>
              <a:rPr lang="en-US" sz="3600" dirty="0" err="1">
                <a:solidFill>
                  <a:srgbClr val="000000"/>
                </a:solidFill>
              </a:rPr>
              <a:t>misma</a:t>
            </a:r>
            <a:r>
              <a:rPr lang="en-US" sz="3600" dirty="0">
                <a:solidFill>
                  <a:srgbClr val="000000"/>
                </a:solidFill>
              </a:rPr>
              <a:t> </a:t>
            </a:r>
            <a:r>
              <a:rPr lang="en-US" sz="3600" dirty="0" err="1">
                <a:solidFill>
                  <a:srgbClr val="000000"/>
                </a:solidFill>
              </a:rPr>
              <a:t>clase</a:t>
            </a:r>
            <a:r>
              <a:rPr lang="en-US" sz="3600" dirty="0">
                <a:solidFill>
                  <a:srgbClr val="000000"/>
                </a:solidFill>
              </a:rPr>
              <a:t> que </a:t>
            </a:r>
            <a:r>
              <a:rPr lang="en-US" sz="3600" u="sng" dirty="0">
                <a:solidFill>
                  <a:srgbClr val="000000"/>
                </a:solidFill>
              </a:rPr>
              <a:t>se </a:t>
            </a:r>
            <a:r>
              <a:rPr lang="en-US" sz="3600" u="sng" dirty="0" err="1">
                <a:solidFill>
                  <a:srgbClr val="000000"/>
                </a:solidFill>
              </a:rPr>
              <a:t>llamen</a:t>
            </a:r>
            <a:r>
              <a:rPr lang="en-US" sz="3600" u="sng" dirty="0">
                <a:solidFill>
                  <a:srgbClr val="000000"/>
                </a:solidFill>
              </a:rPr>
              <a:t> </a:t>
            </a:r>
            <a:r>
              <a:rPr lang="en-US" sz="3600" u="sng" dirty="0" err="1">
                <a:solidFill>
                  <a:srgbClr val="000000"/>
                </a:solidFill>
              </a:rPr>
              <a:t>igual</a:t>
            </a:r>
            <a:r>
              <a:rPr lang="en-US" sz="3600" u="sng" dirty="0">
                <a:solidFill>
                  <a:srgbClr val="000000"/>
                </a:solidFill>
              </a:rPr>
              <a:t>.</a:t>
            </a:r>
          </a:p>
          <a:p>
            <a:pPr marL="457200" lvl="0" indent="-29845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37931"/>
              <a:buFont typeface="Arial"/>
              <a:buChar char="●"/>
            </a:pPr>
            <a:r>
              <a:rPr lang="en-US" sz="3600" dirty="0">
                <a:solidFill>
                  <a:srgbClr val="000000"/>
                </a:solidFill>
              </a:rPr>
              <a:t>Para que se </a:t>
            </a:r>
            <a:r>
              <a:rPr lang="en-US" sz="3600" dirty="0" err="1">
                <a:solidFill>
                  <a:srgbClr val="000000"/>
                </a:solidFill>
              </a:rPr>
              <a:t>sepa</a:t>
            </a:r>
            <a:r>
              <a:rPr lang="en-US" sz="3600" dirty="0">
                <a:solidFill>
                  <a:srgbClr val="000000"/>
                </a:solidFill>
              </a:rPr>
              <a:t> </a:t>
            </a:r>
            <a:r>
              <a:rPr lang="en-US" sz="3600" dirty="0" err="1">
                <a:solidFill>
                  <a:srgbClr val="000000"/>
                </a:solidFill>
              </a:rPr>
              <a:t>cuál</a:t>
            </a:r>
            <a:r>
              <a:rPr lang="en-US" sz="3600" dirty="0">
                <a:solidFill>
                  <a:srgbClr val="000000"/>
                </a:solidFill>
              </a:rPr>
              <a:t> de </a:t>
            </a:r>
            <a:r>
              <a:rPr lang="en-US" sz="3600" dirty="0" err="1">
                <a:solidFill>
                  <a:srgbClr val="000000"/>
                </a:solidFill>
              </a:rPr>
              <a:t>los</a:t>
            </a:r>
            <a:r>
              <a:rPr lang="en-US" sz="3600" dirty="0">
                <a:solidFill>
                  <a:srgbClr val="000000"/>
                </a:solidFill>
              </a:rPr>
              <a:t> dos </a:t>
            </a:r>
            <a:r>
              <a:rPr lang="en-US" sz="3600" dirty="0" err="1">
                <a:solidFill>
                  <a:srgbClr val="000000"/>
                </a:solidFill>
              </a:rPr>
              <a:t>códigos</a:t>
            </a:r>
            <a:r>
              <a:rPr lang="en-US" sz="3600" dirty="0">
                <a:solidFill>
                  <a:srgbClr val="000000"/>
                </a:solidFill>
              </a:rPr>
              <a:t> </a:t>
            </a:r>
            <a:r>
              <a:rPr lang="en-US" sz="3600" dirty="0" err="1">
                <a:solidFill>
                  <a:srgbClr val="000000"/>
                </a:solidFill>
              </a:rPr>
              <a:t>ejecutarse</a:t>
            </a:r>
            <a:r>
              <a:rPr lang="en-US" sz="3600" dirty="0">
                <a:solidFill>
                  <a:srgbClr val="000000"/>
                </a:solidFill>
              </a:rPr>
              <a:t>, es </a:t>
            </a:r>
            <a:r>
              <a:rPr lang="en-US" sz="3600" dirty="0" err="1">
                <a:solidFill>
                  <a:srgbClr val="000000"/>
                </a:solidFill>
              </a:rPr>
              <a:t>necesario</a:t>
            </a:r>
            <a:r>
              <a:rPr lang="en-US" sz="3600" dirty="0">
                <a:solidFill>
                  <a:srgbClr val="000000"/>
                </a:solidFill>
              </a:rPr>
              <a:t> que </a:t>
            </a:r>
            <a:r>
              <a:rPr lang="en-US" sz="3600" dirty="0" err="1">
                <a:solidFill>
                  <a:srgbClr val="000000"/>
                </a:solidFill>
              </a:rPr>
              <a:t>difieran</a:t>
            </a:r>
            <a:r>
              <a:rPr lang="en-US" sz="3600" dirty="0">
                <a:solidFill>
                  <a:srgbClr val="000000"/>
                </a:solidFill>
              </a:rPr>
              <a:t> </a:t>
            </a:r>
            <a:r>
              <a:rPr lang="en-US" sz="3600" dirty="0" err="1">
                <a:solidFill>
                  <a:srgbClr val="000000"/>
                </a:solidFill>
              </a:rPr>
              <a:t>en</a:t>
            </a:r>
            <a:r>
              <a:rPr lang="en-US" sz="3600" dirty="0">
                <a:solidFill>
                  <a:srgbClr val="000000"/>
                </a:solidFill>
              </a:rPr>
              <a:t>:</a:t>
            </a:r>
          </a:p>
          <a:p>
            <a:pPr marL="914400" lvl="1" indent="-29845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42307"/>
              <a:buFont typeface="Courier New"/>
              <a:buChar char="o"/>
            </a:pPr>
            <a:r>
              <a:rPr lang="en-US" sz="3200" dirty="0">
                <a:solidFill>
                  <a:srgbClr val="000000"/>
                </a:solidFill>
              </a:rPr>
              <a:t>El </a:t>
            </a:r>
            <a:r>
              <a:rPr lang="en-US" sz="3200" dirty="0" err="1">
                <a:solidFill>
                  <a:srgbClr val="000000"/>
                </a:solidFill>
              </a:rPr>
              <a:t>número</a:t>
            </a:r>
            <a:r>
              <a:rPr lang="en-US" sz="3200" dirty="0">
                <a:solidFill>
                  <a:srgbClr val="000000"/>
                </a:solidFill>
              </a:rPr>
              <a:t> de </a:t>
            </a:r>
            <a:r>
              <a:rPr lang="en-US" sz="3200" dirty="0" err="1">
                <a:solidFill>
                  <a:srgbClr val="000000"/>
                </a:solidFill>
              </a:rPr>
              <a:t>parámetros</a:t>
            </a:r>
            <a:r>
              <a:rPr lang="en-US" sz="3200" dirty="0">
                <a:solidFill>
                  <a:srgbClr val="000000"/>
                </a:solidFill>
              </a:rPr>
              <a:t> de entrada.</a:t>
            </a:r>
          </a:p>
          <a:p>
            <a:pPr marL="914400" lvl="1" indent="-29845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42307"/>
              <a:buFont typeface="Courier New"/>
              <a:buChar char="o"/>
            </a:pPr>
            <a:r>
              <a:rPr lang="en-US" sz="3200" dirty="0">
                <a:solidFill>
                  <a:srgbClr val="000000"/>
                </a:solidFill>
              </a:rPr>
              <a:t>El </a:t>
            </a:r>
            <a:r>
              <a:rPr lang="en-US" sz="3200" dirty="0" err="1">
                <a:solidFill>
                  <a:srgbClr val="000000"/>
                </a:solidFill>
              </a:rPr>
              <a:t>tipo</a:t>
            </a:r>
            <a:r>
              <a:rPr lang="en-US" sz="3200" dirty="0">
                <a:solidFill>
                  <a:srgbClr val="000000"/>
                </a:solidFill>
              </a:rPr>
              <a:t> de </a:t>
            </a:r>
            <a:r>
              <a:rPr lang="en-US" sz="3200" dirty="0" err="1">
                <a:solidFill>
                  <a:srgbClr val="000000"/>
                </a:solidFill>
              </a:rPr>
              <a:t>alguno</a:t>
            </a:r>
            <a:r>
              <a:rPr lang="en-US" sz="3200" dirty="0">
                <a:solidFill>
                  <a:srgbClr val="000000"/>
                </a:solidFill>
              </a:rPr>
              <a:t>/s de sus </a:t>
            </a:r>
            <a:r>
              <a:rPr lang="en-US" sz="3200" dirty="0" err="1">
                <a:solidFill>
                  <a:srgbClr val="000000"/>
                </a:solidFill>
              </a:rPr>
              <a:t>parámetros</a:t>
            </a:r>
            <a:endParaRPr lang="en-US" sz="3200" dirty="0">
              <a:solidFill>
                <a:srgbClr val="000000"/>
              </a:solidFill>
            </a:endParaRPr>
          </a:p>
          <a:p>
            <a:pPr marL="914400" lvl="1" indent="-29845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42307"/>
              <a:buFont typeface="Courier New"/>
              <a:buChar char="o"/>
            </a:pPr>
            <a:r>
              <a:rPr lang="en-US" sz="3200" dirty="0">
                <a:solidFill>
                  <a:srgbClr val="000000"/>
                </a:solidFill>
              </a:rPr>
              <a:t>Una </a:t>
            </a:r>
            <a:r>
              <a:rPr lang="en-US" sz="3200" dirty="0" err="1">
                <a:solidFill>
                  <a:srgbClr val="000000"/>
                </a:solidFill>
              </a:rPr>
              <a:t>combinación</a:t>
            </a:r>
            <a:r>
              <a:rPr lang="en-US" sz="3200" dirty="0">
                <a:solidFill>
                  <a:srgbClr val="000000"/>
                </a:solidFill>
              </a:rPr>
              <a:t> de </a:t>
            </a:r>
            <a:r>
              <a:rPr lang="en-US" sz="3200" dirty="0" err="1">
                <a:solidFill>
                  <a:srgbClr val="000000"/>
                </a:solidFill>
              </a:rPr>
              <a:t>los</a:t>
            </a:r>
            <a:r>
              <a:rPr lang="en-US" sz="3200" dirty="0">
                <a:solidFill>
                  <a:srgbClr val="000000"/>
                </a:solidFill>
              </a:rPr>
              <a:t> dos </a:t>
            </a:r>
            <a:r>
              <a:rPr lang="en-US" sz="3200" dirty="0" err="1">
                <a:solidFill>
                  <a:srgbClr val="000000"/>
                </a:solidFill>
              </a:rPr>
              <a:t>anteriores</a:t>
            </a:r>
            <a:r>
              <a:rPr lang="en-US" sz="3200" dirty="0">
                <a:solidFill>
                  <a:srgbClr val="000000"/>
                </a:solidFill>
              </a:rPr>
              <a:t>.</a:t>
            </a:r>
          </a:p>
          <a:p>
            <a:pPr marL="457200" lvl="0" indent="-29845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37931"/>
              <a:buFont typeface="Arial"/>
              <a:buChar char="●"/>
            </a:pPr>
            <a:r>
              <a:rPr lang="en-US" sz="3600" dirty="0" err="1">
                <a:solidFill>
                  <a:srgbClr val="000000"/>
                </a:solidFill>
              </a:rPr>
              <a:t>Puede</a:t>
            </a:r>
            <a:r>
              <a:rPr lang="en-US" sz="3600" dirty="0">
                <a:solidFill>
                  <a:srgbClr val="000000"/>
                </a:solidFill>
              </a:rPr>
              <a:t> </a:t>
            </a:r>
            <a:r>
              <a:rPr lang="en-US" sz="3600" dirty="0" err="1">
                <a:solidFill>
                  <a:srgbClr val="000000"/>
                </a:solidFill>
              </a:rPr>
              <a:t>haber</a:t>
            </a:r>
            <a:r>
              <a:rPr lang="en-US" sz="3600" dirty="0">
                <a:solidFill>
                  <a:srgbClr val="000000"/>
                </a:solidFill>
              </a:rPr>
              <a:t> tantos </a:t>
            </a:r>
            <a:r>
              <a:rPr lang="en-US" sz="3600" dirty="0" err="1">
                <a:solidFill>
                  <a:srgbClr val="000000"/>
                </a:solidFill>
              </a:rPr>
              <a:t>métodos</a:t>
            </a:r>
            <a:r>
              <a:rPr lang="en-US" sz="3600" dirty="0">
                <a:solidFill>
                  <a:srgbClr val="000000"/>
                </a:solidFill>
              </a:rPr>
              <a:t> </a:t>
            </a:r>
            <a:r>
              <a:rPr lang="en-US" sz="3600" dirty="0" err="1">
                <a:solidFill>
                  <a:srgbClr val="000000"/>
                </a:solidFill>
              </a:rPr>
              <a:t>sobrecargados</a:t>
            </a:r>
            <a:r>
              <a:rPr lang="en-US" sz="3600" dirty="0">
                <a:solidFill>
                  <a:srgbClr val="000000"/>
                </a:solidFill>
              </a:rPr>
              <a:t> de un </a:t>
            </a:r>
            <a:r>
              <a:rPr lang="en-US" sz="3600" dirty="0" err="1">
                <a:solidFill>
                  <a:srgbClr val="000000"/>
                </a:solidFill>
              </a:rPr>
              <a:t>mismo</a:t>
            </a:r>
            <a:r>
              <a:rPr lang="en-US" sz="3600" dirty="0">
                <a:solidFill>
                  <a:srgbClr val="000000"/>
                </a:solidFill>
              </a:rPr>
              <a:t> </a:t>
            </a:r>
            <a:r>
              <a:rPr lang="en-US" sz="3600" dirty="0" err="1">
                <a:solidFill>
                  <a:srgbClr val="000000"/>
                </a:solidFill>
              </a:rPr>
              <a:t>método</a:t>
            </a:r>
            <a:r>
              <a:rPr lang="en-US" sz="3600" dirty="0">
                <a:solidFill>
                  <a:srgbClr val="000000"/>
                </a:solidFill>
              </a:rPr>
              <a:t> </a:t>
            </a:r>
            <a:r>
              <a:rPr lang="en-US" sz="3600" dirty="0" err="1">
                <a:solidFill>
                  <a:srgbClr val="000000"/>
                </a:solidFill>
              </a:rPr>
              <a:t>como</a:t>
            </a:r>
            <a:r>
              <a:rPr lang="en-US" sz="3600" dirty="0">
                <a:solidFill>
                  <a:srgbClr val="000000"/>
                </a:solidFill>
              </a:rPr>
              <a:t> se </a:t>
            </a:r>
            <a:r>
              <a:rPr lang="en-US" sz="3600" dirty="0" err="1">
                <a:solidFill>
                  <a:srgbClr val="000000"/>
                </a:solidFill>
              </a:rPr>
              <a:t>desee</a:t>
            </a:r>
            <a:r>
              <a:rPr lang="en-US" sz="3600" dirty="0">
                <a:solidFill>
                  <a:srgbClr val="000000"/>
                </a:solidFill>
              </a:rPr>
              <a:t>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5222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047670-6EEA-1E6F-CEBD-698074DF5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Organización del código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B079FC-1466-E6BE-4FFA-1742BF5E5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648" y="761999"/>
            <a:ext cx="10739718" cy="6043247"/>
          </a:xfrm>
        </p:spPr>
        <p:txBody>
          <a:bodyPr>
            <a:normAutofit fontScale="85000" lnSpcReduction="20000"/>
          </a:bodyPr>
          <a:lstStyle/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US" sz="3000" dirty="0">
                <a:solidFill>
                  <a:srgbClr val="000000"/>
                </a:solidFill>
              </a:rPr>
              <a:t>Los </a:t>
            </a:r>
            <a:r>
              <a:rPr lang="en-US" sz="3000" dirty="0" err="1">
                <a:solidFill>
                  <a:srgbClr val="000000"/>
                </a:solidFill>
              </a:rPr>
              <a:t>paquetes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pueden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organizarse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por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niveles</a:t>
            </a:r>
            <a:r>
              <a:rPr lang="en-US" sz="3000" dirty="0">
                <a:solidFill>
                  <a:srgbClr val="000000"/>
                </a:solidFill>
              </a:rPr>
              <a:t> (al </a:t>
            </a:r>
            <a:r>
              <a:rPr lang="en-US" sz="3000" dirty="0" err="1">
                <a:solidFill>
                  <a:srgbClr val="000000"/>
                </a:solidFill>
              </a:rPr>
              <a:t>igual</a:t>
            </a:r>
            <a:r>
              <a:rPr lang="en-US" sz="3000" dirty="0">
                <a:solidFill>
                  <a:srgbClr val="000000"/>
                </a:solidFill>
              </a:rPr>
              <a:t> que las </a:t>
            </a:r>
            <a:r>
              <a:rPr lang="en-US" sz="3000" dirty="0" err="1">
                <a:solidFill>
                  <a:srgbClr val="000000"/>
                </a:solidFill>
              </a:rPr>
              <a:t>carpetas</a:t>
            </a:r>
            <a:r>
              <a:rPr lang="en-US" sz="3000" dirty="0">
                <a:solidFill>
                  <a:srgbClr val="000000"/>
                </a:solidFill>
              </a:rPr>
              <a:t> del Sistema </a:t>
            </a:r>
            <a:r>
              <a:rPr lang="en-US" sz="3000" dirty="0" err="1">
                <a:solidFill>
                  <a:srgbClr val="000000"/>
                </a:solidFill>
              </a:rPr>
              <a:t>operativo</a:t>
            </a:r>
            <a:r>
              <a:rPr lang="en-US" sz="3000" dirty="0">
                <a:solidFill>
                  <a:srgbClr val="000000"/>
                </a:solidFill>
              </a:rPr>
              <a:t>), </a:t>
            </a:r>
            <a:r>
              <a:rPr lang="en-US" sz="3000" dirty="0" err="1">
                <a:solidFill>
                  <a:srgbClr val="000000"/>
                </a:solidFill>
              </a:rPr>
              <a:t>pero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en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lugar</a:t>
            </a:r>
            <a:r>
              <a:rPr lang="en-US" sz="3000" dirty="0">
                <a:solidFill>
                  <a:srgbClr val="000000"/>
                </a:solidFill>
              </a:rPr>
              <a:t> de </a:t>
            </a:r>
            <a:r>
              <a:rPr lang="en-US" sz="3000" dirty="0" err="1">
                <a:solidFill>
                  <a:srgbClr val="000000"/>
                </a:solidFill>
              </a:rPr>
              <a:t>utilizar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el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separador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b="1" dirty="0">
                <a:solidFill>
                  <a:srgbClr val="000000"/>
                </a:solidFill>
              </a:rPr>
              <a:t>\ (backslash) </a:t>
            </a:r>
            <a:r>
              <a:rPr lang="en-US" sz="3000" dirty="0" err="1">
                <a:solidFill>
                  <a:srgbClr val="000000"/>
                </a:solidFill>
              </a:rPr>
              <a:t>utilizamos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el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separador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b="1" dirty="0">
                <a:solidFill>
                  <a:srgbClr val="000000"/>
                </a:solidFill>
              </a:rPr>
              <a:t>. </a:t>
            </a:r>
            <a:r>
              <a:rPr lang="en-US" sz="3000" dirty="0">
                <a:solidFill>
                  <a:srgbClr val="000000"/>
                </a:solidFill>
              </a:rPr>
              <a:t>(punto).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US" sz="3000" dirty="0">
                <a:solidFill>
                  <a:srgbClr val="000000"/>
                </a:solidFill>
              </a:rPr>
              <a:t>Si se </a:t>
            </a:r>
            <a:r>
              <a:rPr lang="en-US" sz="3000" dirty="0" err="1">
                <a:solidFill>
                  <a:srgbClr val="000000"/>
                </a:solidFill>
              </a:rPr>
              <a:t>organizan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por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niveles</a:t>
            </a:r>
            <a:r>
              <a:rPr lang="en-US" sz="3000" dirty="0">
                <a:solidFill>
                  <a:srgbClr val="000000"/>
                </a:solidFill>
              </a:rPr>
              <a:t>, </a:t>
            </a:r>
            <a:r>
              <a:rPr lang="en-US" sz="3000" dirty="0" err="1">
                <a:solidFill>
                  <a:srgbClr val="000000"/>
                </a:solidFill>
              </a:rPr>
              <a:t>esta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misma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estructura</a:t>
            </a:r>
            <a:r>
              <a:rPr lang="en-US" sz="3000" dirty="0">
                <a:solidFill>
                  <a:srgbClr val="000000"/>
                </a:solidFill>
              </a:rPr>
              <a:t> se ha de </a:t>
            </a:r>
            <a:r>
              <a:rPr lang="en-US" sz="3000" dirty="0" err="1">
                <a:solidFill>
                  <a:srgbClr val="000000"/>
                </a:solidFill>
              </a:rPr>
              <a:t>reflejar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en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los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directorios</a:t>
            </a:r>
            <a:r>
              <a:rPr lang="en-US" sz="3000" dirty="0">
                <a:solidFill>
                  <a:srgbClr val="000000"/>
                </a:solidFill>
              </a:rPr>
              <a:t> que </a:t>
            </a:r>
            <a:r>
              <a:rPr lang="en-US" sz="3000" dirty="0" err="1">
                <a:solidFill>
                  <a:srgbClr val="000000"/>
                </a:solidFill>
              </a:rPr>
              <a:t>contengan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los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ficheros</a:t>
            </a:r>
            <a:r>
              <a:rPr lang="en-US" sz="3000" dirty="0">
                <a:solidFill>
                  <a:srgbClr val="000000"/>
                </a:solidFill>
              </a:rPr>
              <a:t> “.class” que </a:t>
            </a:r>
            <a:r>
              <a:rPr lang="en-US" sz="3000" dirty="0" err="1">
                <a:solidFill>
                  <a:srgbClr val="000000"/>
                </a:solidFill>
              </a:rPr>
              <a:t>vayamos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creando</a:t>
            </a:r>
            <a:r>
              <a:rPr lang="en-US" sz="3000" dirty="0">
                <a:solidFill>
                  <a:srgbClr val="000000"/>
                </a:solidFill>
              </a:rPr>
              <a:t>.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US" sz="3000" dirty="0">
                <a:solidFill>
                  <a:srgbClr val="000000"/>
                </a:solidFill>
              </a:rPr>
              <a:t>Para que </a:t>
            </a:r>
            <a:r>
              <a:rPr lang="en-US" sz="3000" dirty="0" err="1">
                <a:solidFill>
                  <a:srgbClr val="000000"/>
                </a:solidFill>
              </a:rPr>
              <a:t>funcione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todo</a:t>
            </a:r>
            <a:r>
              <a:rPr lang="en-US" sz="3000" dirty="0">
                <a:solidFill>
                  <a:srgbClr val="000000"/>
                </a:solidFill>
              </a:rPr>
              <a:t>, la variable CLASSPATH </a:t>
            </a:r>
            <a:r>
              <a:rPr lang="en-US" sz="3000" dirty="0" err="1">
                <a:solidFill>
                  <a:srgbClr val="000000"/>
                </a:solidFill>
              </a:rPr>
              <a:t>debe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contener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el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directorio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desde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el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cual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comienza</a:t>
            </a:r>
            <a:r>
              <a:rPr lang="en-US" sz="3000" dirty="0">
                <a:solidFill>
                  <a:srgbClr val="000000"/>
                </a:solidFill>
              </a:rPr>
              <a:t> la </a:t>
            </a:r>
            <a:r>
              <a:rPr lang="en-US" sz="3000" dirty="0" err="1">
                <a:solidFill>
                  <a:srgbClr val="000000"/>
                </a:solidFill>
              </a:rPr>
              <a:t>estructura</a:t>
            </a:r>
            <a:r>
              <a:rPr lang="en-US" sz="3000" dirty="0">
                <a:solidFill>
                  <a:srgbClr val="000000"/>
                </a:solidFill>
              </a:rPr>
              <a:t>.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US" sz="3000" dirty="0">
                <a:solidFill>
                  <a:srgbClr val="000000"/>
                </a:solidFill>
              </a:rPr>
              <a:t>Para </a:t>
            </a:r>
            <a:r>
              <a:rPr lang="en-US" sz="3000" dirty="0" err="1">
                <a:solidFill>
                  <a:srgbClr val="000000"/>
                </a:solidFill>
              </a:rPr>
              <a:t>poder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utilizar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una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clase</a:t>
            </a:r>
            <a:r>
              <a:rPr lang="en-US" sz="3000" dirty="0">
                <a:solidFill>
                  <a:srgbClr val="000000"/>
                </a:solidFill>
              </a:rPr>
              <a:t> que </a:t>
            </a:r>
            <a:r>
              <a:rPr lang="en-US" sz="3000" dirty="0" err="1">
                <a:solidFill>
                  <a:srgbClr val="000000"/>
                </a:solidFill>
              </a:rPr>
              <a:t>está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en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alguna</a:t>
            </a:r>
            <a:r>
              <a:rPr lang="en-US" sz="3000" dirty="0">
                <a:solidFill>
                  <a:srgbClr val="000000"/>
                </a:solidFill>
              </a:rPr>
              <a:t> de </a:t>
            </a:r>
            <a:r>
              <a:rPr lang="en-US" sz="3000" dirty="0" err="1">
                <a:solidFill>
                  <a:srgbClr val="000000"/>
                </a:solidFill>
              </a:rPr>
              <a:t>estas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estructuras</a:t>
            </a:r>
            <a:r>
              <a:rPr lang="en-US" sz="3000" dirty="0">
                <a:solidFill>
                  <a:srgbClr val="000000"/>
                </a:solidFill>
              </a:rPr>
              <a:t>, hay que :</a:t>
            </a:r>
          </a:p>
          <a:p>
            <a:pPr marL="914400" lvl="1" indent="-3429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Courier New"/>
              <a:buChar char="o"/>
            </a:pPr>
            <a:r>
              <a:rPr lang="en-US" sz="3000" dirty="0" err="1">
                <a:solidFill>
                  <a:srgbClr val="000000"/>
                </a:solidFill>
              </a:rPr>
              <a:t>Escribir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toda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su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ruta</a:t>
            </a:r>
            <a:r>
              <a:rPr lang="en-US" sz="3000" dirty="0">
                <a:solidFill>
                  <a:srgbClr val="000000"/>
                </a:solidFill>
              </a:rPr>
              <a:t> de </a:t>
            </a:r>
            <a:r>
              <a:rPr lang="en-US" sz="3000" dirty="0" err="1">
                <a:solidFill>
                  <a:srgbClr val="000000"/>
                </a:solidFill>
              </a:rPr>
              <a:t>paquetes</a:t>
            </a:r>
            <a:r>
              <a:rPr lang="en-US" sz="3000" dirty="0">
                <a:solidFill>
                  <a:srgbClr val="000000"/>
                </a:solidFill>
              </a:rPr>
              <a:t>, </a:t>
            </a:r>
            <a:r>
              <a:rPr lang="en-US" sz="3000" dirty="0" err="1">
                <a:solidFill>
                  <a:srgbClr val="000000"/>
                </a:solidFill>
              </a:rPr>
              <a:t>cada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vez</a:t>
            </a:r>
            <a:r>
              <a:rPr lang="en-US" sz="3000" dirty="0">
                <a:solidFill>
                  <a:srgbClr val="000000"/>
                </a:solidFill>
              </a:rPr>
              <a:t> que se </a:t>
            </a:r>
            <a:r>
              <a:rPr lang="en-US" sz="3000" dirty="0" err="1">
                <a:solidFill>
                  <a:srgbClr val="000000"/>
                </a:solidFill>
              </a:rPr>
              <a:t>utilice</a:t>
            </a:r>
            <a:r>
              <a:rPr lang="en-US" sz="3000" dirty="0">
                <a:solidFill>
                  <a:srgbClr val="000000"/>
                </a:solidFill>
              </a:rPr>
              <a:t>.</a:t>
            </a:r>
          </a:p>
          <a:p>
            <a:pPr marL="914400" lvl="1" indent="-3429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Courier New"/>
              <a:buChar char="o"/>
            </a:pPr>
            <a:r>
              <a:rPr lang="en-US" sz="3000" dirty="0" err="1">
                <a:solidFill>
                  <a:srgbClr val="000000"/>
                </a:solidFill>
              </a:rPr>
              <a:t>Escribir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el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comando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b="1" dirty="0">
                <a:solidFill>
                  <a:srgbClr val="000000"/>
                </a:solidFill>
              </a:rPr>
              <a:t>import</a:t>
            </a:r>
            <a:r>
              <a:rPr lang="en-US" sz="3000" dirty="0">
                <a:solidFill>
                  <a:srgbClr val="000000"/>
                </a:solidFill>
              </a:rPr>
              <a:t>, </a:t>
            </a:r>
            <a:r>
              <a:rPr lang="en-US" sz="3000" dirty="0" err="1">
                <a:solidFill>
                  <a:srgbClr val="000000"/>
                </a:solidFill>
              </a:rPr>
              <a:t>seguido</a:t>
            </a:r>
            <a:r>
              <a:rPr lang="en-US" sz="3000" dirty="0">
                <a:solidFill>
                  <a:srgbClr val="000000"/>
                </a:solidFill>
              </a:rPr>
              <a:t> de la </a:t>
            </a:r>
            <a:r>
              <a:rPr lang="en-US" sz="3000" dirty="0" err="1">
                <a:solidFill>
                  <a:srgbClr val="000000"/>
                </a:solidFill>
              </a:rPr>
              <a:t>ruta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donde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está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ubicada</a:t>
            </a:r>
            <a:r>
              <a:rPr lang="en-US" sz="3000" dirty="0">
                <a:solidFill>
                  <a:srgbClr val="000000"/>
                </a:solidFill>
              </a:rPr>
              <a:t>, y </a:t>
            </a:r>
            <a:r>
              <a:rPr lang="en-US" sz="3000" dirty="0" err="1">
                <a:solidFill>
                  <a:srgbClr val="000000"/>
                </a:solidFill>
              </a:rPr>
              <a:t>así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evitar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escribir</a:t>
            </a:r>
            <a:r>
              <a:rPr lang="en-US" sz="3000" dirty="0">
                <a:solidFill>
                  <a:srgbClr val="000000"/>
                </a:solidFill>
              </a:rPr>
              <a:t> la </a:t>
            </a:r>
            <a:r>
              <a:rPr lang="en-US" sz="3000" dirty="0" err="1">
                <a:solidFill>
                  <a:srgbClr val="000000"/>
                </a:solidFill>
              </a:rPr>
              <a:t>ruta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completa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cada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vez</a:t>
            </a:r>
            <a:r>
              <a:rPr lang="en-US" sz="3000" dirty="0">
                <a:solidFill>
                  <a:srgbClr val="000000"/>
                </a:solidFill>
              </a:rPr>
              <a:t>.</a:t>
            </a:r>
          </a:p>
          <a:p>
            <a:pPr marL="914400" lvl="1" indent="-3429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Courier New"/>
              <a:buChar char="o"/>
            </a:pPr>
            <a:r>
              <a:rPr lang="en-US" sz="3000" dirty="0">
                <a:solidFill>
                  <a:srgbClr val="000000"/>
                </a:solidFill>
              </a:rPr>
              <a:t>Como </a:t>
            </a:r>
            <a:r>
              <a:rPr lang="en-US" sz="3000" dirty="0" err="1">
                <a:solidFill>
                  <a:srgbClr val="000000"/>
                </a:solidFill>
              </a:rPr>
              <a:t>normalmente</a:t>
            </a:r>
            <a:r>
              <a:rPr lang="en-US" sz="3000" dirty="0">
                <a:solidFill>
                  <a:srgbClr val="000000"/>
                </a:solidFill>
              </a:rPr>
              <a:t>, </a:t>
            </a:r>
            <a:r>
              <a:rPr lang="en-US" sz="3000" dirty="0" err="1">
                <a:solidFill>
                  <a:srgbClr val="000000"/>
                </a:solidFill>
              </a:rPr>
              <a:t>utilizamos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varias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clases</a:t>
            </a:r>
            <a:r>
              <a:rPr lang="en-US" sz="3000" dirty="0">
                <a:solidFill>
                  <a:srgbClr val="000000"/>
                </a:solidFill>
              </a:rPr>
              <a:t> de un </a:t>
            </a:r>
            <a:r>
              <a:rPr lang="en-US" sz="3000" dirty="0" err="1">
                <a:solidFill>
                  <a:srgbClr val="000000"/>
                </a:solidFill>
              </a:rPr>
              <a:t>mismo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paquete</a:t>
            </a:r>
            <a:r>
              <a:rPr lang="en-US" sz="3000" dirty="0">
                <a:solidFill>
                  <a:srgbClr val="000000"/>
                </a:solidFill>
              </a:rPr>
              <a:t>, se </a:t>
            </a:r>
            <a:r>
              <a:rPr lang="en-US" sz="3000" dirty="0" err="1">
                <a:solidFill>
                  <a:srgbClr val="000000"/>
                </a:solidFill>
              </a:rPr>
              <a:t>puede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utilizar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el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comodín</a:t>
            </a:r>
            <a:r>
              <a:rPr lang="en-US" sz="3000" b="1" dirty="0">
                <a:solidFill>
                  <a:srgbClr val="000000"/>
                </a:solidFill>
              </a:rPr>
              <a:t>  *</a:t>
            </a:r>
            <a:r>
              <a:rPr lang="en-US" sz="3000" dirty="0">
                <a:solidFill>
                  <a:srgbClr val="000000"/>
                </a:solidFill>
              </a:rPr>
              <a:t> (</a:t>
            </a:r>
            <a:r>
              <a:rPr lang="en-US" sz="3000" dirty="0" err="1">
                <a:solidFill>
                  <a:srgbClr val="000000"/>
                </a:solidFill>
              </a:rPr>
              <a:t>asterisco</a:t>
            </a:r>
            <a:r>
              <a:rPr lang="en-US" sz="3000" dirty="0">
                <a:solidFill>
                  <a:srgbClr val="000000"/>
                </a:solidFill>
              </a:rPr>
              <a:t>), que me </a:t>
            </a:r>
            <a:r>
              <a:rPr lang="en-US" sz="3000" dirty="0" err="1">
                <a:solidFill>
                  <a:srgbClr val="000000"/>
                </a:solidFill>
              </a:rPr>
              <a:t>permitiría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utilizarlas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todas</a:t>
            </a:r>
            <a:r>
              <a:rPr lang="en-US" sz="3000" dirty="0">
                <a:solidFill>
                  <a:srgbClr val="000000"/>
                </a:solidFill>
              </a:rPr>
              <a:t>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49457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829D46-B281-B4FD-385D-4ABE6F73E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Encapsulación y visibilidad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E00078-7D56-8642-070B-719EF0107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294" y="546847"/>
            <a:ext cx="10515600" cy="6258400"/>
          </a:xfrm>
        </p:spPr>
        <p:txBody>
          <a:bodyPr>
            <a:normAutofit fontScale="85000" lnSpcReduction="20000"/>
          </a:bodyPr>
          <a:lstStyle/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90000"/>
              <a:buFont typeface="Arial"/>
              <a:buChar char="●"/>
            </a:pPr>
            <a:r>
              <a:rPr lang="en-US" sz="3600" dirty="0" err="1">
                <a:solidFill>
                  <a:srgbClr val="000000"/>
                </a:solidFill>
              </a:rPr>
              <a:t>Siempre</a:t>
            </a:r>
            <a:r>
              <a:rPr lang="en-US" sz="3600" dirty="0">
                <a:solidFill>
                  <a:srgbClr val="000000"/>
                </a:solidFill>
              </a:rPr>
              <a:t> que </a:t>
            </a:r>
            <a:r>
              <a:rPr lang="en-US" sz="3600" dirty="0" err="1">
                <a:solidFill>
                  <a:srgbClr val="000000"/>
                </a:solidFill>
              </a:rPr>
              <a:t>tengamos</a:t>
            </a:r>
            <a:r>
              <a:rPr lang="en-US" sz="3600" dirty="0">
                <a:solidFill>
                  <a:srgbClr val="000000"/>
                </a:solidFill>
              </a:rPr>
              <a:t> </a:t>
            </a:r>
            <a:r>
              <a:rPr lang="en-US" sz="3600" dirty="0" err="1">
                <a:solidFill>
                  <a:srgbClr val="000000"/>
                </a:solidFill>
              </a:rPr>
              <a:t>una</a:t>
            </a:r>
            <a:r>
              <a:rPr lang="en-US" sz="3600" dirty="0">
                <a:solidFill>
                  <a:srgbClr val="000000"/>
                </a:solidFill>
              </a:rPr>
              <a:t> </a:t>
            </a:r>
            <a:r>
              <a:rPr lang="en-US" sz="3600" dirty="0" err="1">
                <a:solidFill>
                  <a:srgbClr val="000000"/>
                </a:solidFill>
              </a:rPr>
              <a:t>referencia</a:t>
            </a:r>
            <a:r>
              <a:rPr lang="en-US" sz="3600" dirty="0">
                <a:solidFill>
                  <a:srgbClr val="000000"/>
                </a:solidFill>
              </a:rPr>
              <a:t> a un </a:t>
            </a:r>
            <a:r>
              <a:rPr lang="en-US" sz="3600" dirty="0" err="1">
                <a:solidFill>
                  <a:srgbClr val="000000"/>
                </a:solidFill>
              </a:rPr>
              <a:t>objeto</a:t>
            </a:r>
            <a:r>
              <a:rPr lang="en-US" sz="3600" dirty="0">
                <a:solidFill>
                  <a:srgbClr val="000000"/>
                </a:solidFill>
              </a:rPr>
              <a:t>, </a:t>
            </a:r>
            <a:r>
              <a:rPr lang="en-US" sz="3600" dirty="0" err="1">
                <a:solidFill>
                  <a:srgbClr val="000000"/>
                </a:solidFill>
              </a:rPr>
              <a:t>podemos</a:t>
            </a:r>
            <a:r>
              <a:rPr lang="en-US" sz="3600" dirty="0">
                <a:solidFill>
                  <a:srgbClr val="000000"/>
                </a:solidFill>
              </a:rPr>
              <a:t> acceder a </a:t>
            </a:r>
            <a:r>
              <a:rPr lang="en-US" sz="3600" dirty="0" err="1">
                <a:solidFill>
                  <a:srgbClr val="000000"/>
                </a:solidFill>
              </a:rPr>
              <a:t>cualquiera</a:t>
            </a:r>
            <a:r>
              <a:rPr lang="en-US" sz="3600" dirty="0">
                <a:solidFill>
                  <a:srgbClr val="000000"/>
                </a:solidFill>
              </a:rPr>
              <a:t> de sus </a:t>
            </a:r>
            <a:r>
              <a:rPr lang="en-US" sz="3600" dirty="0" err="1">
                <a:solidFill>
                  <a:srgbClr val="000000"/>
                </a:solidFill>
              </a:rPr>
              <a:t>métodos</a:t>
            </a:r>
            <a:r>
              <a:rPr lang="en-US" sz="3600" dirty="0">
                <a:solidFill>
                  <a:srgbClr val="000000"/>
                </a:solidFill>
              </a:rPr>
              <a:t> o </a:t>
            </a:r>
            <a:r>
              <a:rPr lang="en-US" sz="3600" dirty="0" err="1">
                <a:solidFill>
                  <a:srgbClr val="000000"/>
                </a:solidFill>
              </a:rPr>
              <a:t>atributos</a:t>
            </a:r>
            <a:r>
              <a:rPr lang="en-US" sz="3600" dirty="0">
                <a:solidFill>
                  <a:srgbClr val="000000"/>
                </a:solidFill>
              </a:rPr>
              <a:t>.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90000"/>
              <a:buFont typeface="Arial"/>
              <a:buChar char="●"/>
            </a:pPr>
            <a:r>
              <a:rPr lang="en-US" sz="3600" dirty="0" err="1">
                <a:solidFill>
                  <a:srgbClr val="000000"/>
                </a:solidFill>
              </a:rPr>
              <a:t>En</a:t>
            </a:r>
            <a:r>
              <a:rPr lang="en-US" sz="3600" dirty="0">
                <a:solidFill>
                  <a:srgbClr val="000000"/>
                </a:solidFill>
              </a:rPr>
              <a:t> la </a:t>
            </a:r>
            <a:r>
              <a:rPr lang="en-US" sz="3600" dirty="0" err="1">
                <a:solidFill>
                  <a:srgbClr val="000000"/>
                </a:solidFill>
              </a:rPr>
              <a:t>mayoría</a:t>
            </a:r>
            <a:r>
              <a:rPr lang="en-US" sz="3600" dirty="0">
                <a:solidFill>
                  <a:srgbClr val="000000"/>
                </a:solidFill>
              </a:rPr>
              <a:t> de </a:t>
            </a:r>
            <a:r>
              <a:rPr lang="en-US" sz="3600" dirty="0" err="1">
                <a:solidFill>
                  <a:srgbClr val="000000"/>
                </a:solidFill>
              </a:rPr>
              <a:t>los</a:t>
            </a:r>
            <a:r>
              <a:rPr lang="en-US" sz="3600" dirty="0">
                <a:solidFill>
                  <a:srgbClr val="000000"/>
                </a:solidFill>
              </a:rPr>
              <a:t> </a:t>
            </a:r>
            <a:r>
              <a:rPr lang="en-US" sz="3600" dirty="0" err="1">
                <a:solidFill>
                  <a:srgbClr val="000000"/>
                </a:solidFill>
              </a:rPr>
              <a:t>casos</a:t>
            </a:r>
            <a:r>
              <a:rPr lang="en-US" sz="3600" dirty="0">
                <a:solidFill>
                  <a:srgbClr val="000000"/>
                </a:solidFill>
              </a:rPr>
              <a:t> </a:t>
            </a:r>
            <a:r>
              <a:rPr lang="en-US" sz="3600" dirty="0" err="1">
                <a:solidFill>
                  <a:srgbClr val="000000"/>
                </a:solidFill>
              </a:rPr>
              <a:t>querremos</a:t>
            </a:r>
            <a:r>
              <a:rPr lang="en-US" sz="3600" dirty="0">
                <a:solidFill>
                  <a:srgbClr val="000000"/>
                </a:solidFill>
              </a:rPr>
              <a:t> </a:t>
            </a:r>
            <a:r>
              <a:rPr lang="en-US" sz="3600" dirty="0" err="1">
                <a:solidFill>
                  <a:srgbClr val="000000"/>
                </a:solidFill>
              </a:rPr>
              <a:t>proteger</a:t>
            </a:r>
            <a:r>
              <a:rPr lang="en-US" sz="3600" dirty="0">
                <a:solidFill>
                  <a:srgbClr val="000000"/>
                </a:solidFill>
              </a:rPr>
              <a:t> a un </a:t>
            </a:r>
            <a:r>
              <a:rPr lang="en-US" sz="3600" dirty="0" err="1">
                <a:solidFill>
                  <a:srgbClr val="000000"/>
                </a:solidFill>
              </a:rPr>
              <a:t>objeto</a:t>
            </a:r>
            <a:r>
              <a:rPr lang="en-US" sz="3600" dirty="0">
                <a:solidFill>
                  <a:srgbClr val="000000"/>
                </a:solidFill>
              </a:rPr>
              <a:t> del </a:t>
            </a:r>
            <a:r>
              <a:rPr lang="en-US" sz="3600" dirty="0" err="1">
                <a:solidFill>
                  <a:srgbClr val="000000"/>
                </a:solidFill>
              </a:rPr>
              <a:t>acceso</a:t>
            </a:r>
            <a:r>
              <a:rPr lang="en-US" sz="3600" dirty="0">
                <a:solidFill>
                  <a:srgbClr val="000000"/>
                </a:solidFill>
              </a:rPr>
              <a:t> libre a sus </a:t>
            </a:r>
            <a:r>
              <a:rPr lang="en-US" sz="3600" dirty="0" err="1">
                <a:solidFill>
                  <a:srgbClr val="000000"/>
                </a:solidFill>
              </a:rPr>
              <a:t>atributos</a:t>
            </a:r>
            <a:r>
              <a:rPr lang="en-US" sz="3600" dirty="0">
                <a:solidFill>
                  <a:srgbClr val="000000"/>
                </a:solidFill>
              </a:rPr>
              <a:t>.</a:t>
            </a:r>
          </a:p>
          <a:p>
            <a:pPr marL="914400" lvl="1" indent="-3429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90000"/>
              <a:buFont typeface="Courier New"/>
              <a:buChar char="o"/>
            </a:pPr>
            <a:r>
              <a:rPr lang="en-US" sz="3600" dirty="0">
                <a:solidFill>
                  <a:srgbClr val="000000"/>
                </a:solidFill>
              </a:rPr>
              <a:t>No </a:t>
            </a:r>
            <a:r>
              <a:rPr lang="en-US" sz="3600" dirty="0" err="1">
                <a:solidFill>
                  <a:srgbClr val="000000"/>
                </a:solidFill>
              </a:rPr>
              <a:t>queremos</a:t>
            </a:r>
            <a:r>
              <a:rPr lang="en-US" sz="3600" dirty="0">
                <a:solidFill>
                  <a:srgbClr val="000000"/>
                </a:solidFill>
              </a:rPr>
              <a:t> que </a:t>
            </a:r>
            <a:r>
              <a:rPr lang="en-US" sz="3600" dirty="0" err="1">
                <a:solidFill>
                  <a:srgbClr val="000000"/>
                </a:solidFill>
              </a:rPr>
              <a:t>nadie</a:t>
            </a:r>
            <a:r>
              <a:rPr lang="en-US" sz="3600" dirty="0">
                <a:solidFill>
                  <a:srgbClr val="000000"/>
                </a:solidFill>
              </a:rPr>
              <a:t> </a:t>
            </a:r>
            <a:r>
              <a:rPr lang="en-US" sz="3600" dirty="0" err="1">
                <a:solidFill>
                  <a:srgbClr val="000000"/>
                </a:solidFill>
              </a:rPr>
              <a:t>los</a:t>
            </a:r>
            <a:r>
              <a:rPr lang="en-US" sz="3600" dirty="0">
                <a:solidFill>
                  <a:srgbClr val="000000"/>
                </a:solidFill>
              </a:rPr>
              <a:t> lea, </a:t>
            </a:r>
            <a:r>
              <a:rPr lang="en-US" sz="3600" dirty="0" err="1">
                <a:solidFill>
                  <a:srgbClr val="000000"/>
                </a:solidFill>
              </a:rPr>
              <a:t>pero</a:t>
            </a:r>
            <a:r>
              <a:rPr lang="en-US" sz="3600" dirty="0">
                <a:solidFill>
                  <a:srgbClr val="000000"/>
                </a:solidFill>
              </a:rPr>
              <a:t> </a:t>
            </a:r>
            <a:r>
              <a:rPr lang="en-US" sz="3600" dirty="0" err="1">
                <a:solidFill>
                  <a:srgbClr val="000000"/>
                </a:solidFill>
              </a:rPr>
              <a:t>sobre</a:t>
            </a:r>
            <a:r>
              <a:rPr lang="en-US" sz="3600" dirty="0">
                <a:solidFill>
                  <a:srgbClr val="000000"/>
                </a:solidFill>
              </a:rPr>
              <a:t> </a:t>
            </a:r>
            <a:r>
              <a:rPr lang="en-US" sz="3600" dirty="0" err="1">
                <a:solidFill>
                  <a:srgbClr val="000000"/>
                </a:solidFill>
              </a:rPr>
              <a:t>todo</a:t>
            </a:r>
            <a:r>
              <a:rPr lang="en-US" sz="3600" dirty="0">
                <a:solidFill>
                  <a:srgbClr val="000000"/>
                </a:solidFill>
              </a:rPr>
              <a:t>, no </a:t>
            </a:r>
            <a:r>
              <a:rPr lang="en-US" sz="3600" dirty="0" err="1">
                <a:solidFill>
                  <a:srgbClr val="000000"/>
                </a:solidFill>
              </a:rPr>
              <a:t>solemos</a:t>
            </a:r>
            <a:r>
              <a:rPr lang="en-US" sz="3600" dirty="0">
                <a:solidFill>
                  <a:srgbClr val="000000"/>
                </a:solidFill>
              </a:rPr>
              <a:t> </a:t>
            </a:r>
            <a:r>
              <a:rPr lang="en-US" sz="3600" dirty="0" err="1">
                <a:solidFill>
                  <a:srgbClr val="000000"/>
                </a:solidFill>
              </a:rPr>
              <a:t>querer</a:t>
            </a:r>
            <a:r>
              <a:rPr lang="en-US" sz="3600" dirty="0">
                <a:solidFill>
                  <a:srgbClr val="000000"/>
                </a:solidFill>
              </a:rPr>
              <a:t> que </a:t>
            </a:r>
            <a:r>
              <a:rPr lang="en-US" sz="3600" dirty="0" err="1">
                <a:solidFill>
                  <a:srgbClr val="000000"/>
                </a:solidFill>
              </a:rPr>
              <a:t>nadie</a:t>
            </a:r>
            <a:r>
              <a:rPr lang="en-US" sz="3600" dirty="0">
                <a:solidFill>
                  <a:srgbClr val="000000"/>
                </a:solidFill>
              </a:rPr>
              <a:t> </a:t>
            </a:r>
            <a:r>
              <a:rPr lang="en-US" sz="3600" dirty="0" err="1">
                <a:solidFill>
                  <a:srgbClr val="000000"/>
                </a:solidFill>
              </a:rPr>
              <a:t>los</a:t>
            </a:r>
            <a:r>
              <a:rPr lang="en-US" sz="3600" dirty="0">
                <a:solidFill>
                  <a:srgbClr val="000000"/>
                </a:solidFill>
              </a:rPr>
              <a:t> </a:t>
            </a:r>
            <a:r>
              <a:rPr lang="en-US" sz="3600" dirty="0" err="1">
                <a:solidFill>
                  <a:srgbClr val="000000"/>
                </a:solidFill>
              </a:rPr>
              <a:t>escriba</a:t>
            </a:r>
            <a:r>
              <a:rPr lang="en-US" sz="3600" dirty="0">
                <a:solidFill>
                  <a:srgbClr val="000000"/>
                </a:solidFill>
              </a:rPr>
              <a:t>.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90000"/>
              <a:buFont typeface="Arial"/>
              <a:buChar char="●"/>
            </a:pPr>
            <a:r>
              <a:rPr lang="en-US" sz="3600" dirty="0">
                <a:solidFill>
                  <a:srgbClr val="000000"/>
                </a:solidFill>
              </a:rPr>
              <a:t>Para </a:t>
            </a:r>
            <a:r>
              <a:rPr lang="en-US" sz="3600" dirty="0" err="1">
                <a:solidFill>
                  <a:srgbClr val="000000"/>
                </a:solidFill>
              </a:rPr>
              <a:t>discriminar</a:t>
            </a:r>
            <a:r>
              <a:rPr lang="en-US" sz="3600" dirty="0">
                <a:solidFill>
                  <a:srgbClr val="000000"/>
                </a:solidFill>
              </a:rPr>
              <a:t> </a:t>
            </a:r>
            <a:r>
              <a:rPr lang="en-US" sz="3600" dirty="0" err="1">
                <a:solidFill>
                  <a:srgbClr val="000000"/>
                </a:solidFill>
              </a:rPr>
              <a:t>quién</a:t>
            </a:r>
            <a:r>
              <a:rPr lang="en-US" sz="3600" dirty="0">
                <a:solidFill>
                  <a:srgbClr val="000000"/>
                </a:solidFill>
              </a:rPr>
              <a:t> </a:t>
            </a:r>
            <a:r>
              <a:rPr lang="en-US" sz="3600" dirty="0" err="1">
                <a:solidFill>
                  <a:srgbClr val="000000"/>
                </a:solidFill>
              </a:rPr>
              <a:t>puede</a:t>
            </a:r>
            <a:r>
              <a:rPr lang="en-US" sz="3600" dirty="0">
                <a:solidFill>
                  <a:srgbClr val="000000"/>
                </a:solidFill>
              </a:rPr>
              <a:t> acceder o no (a </a:t>
            </a:r>
            <a:r>
              <a:rPr lang="en-US" sz="3600" dirty="0" err="1">
                <a:solidFill>
                  <a:srgbClr val="000000"/>
                </a:solidFill>
              </a:rPr>
              <a:t>cada</a:t>
            </a:r>
            <a:r>
              <a:rPr lang="en-US" sz="3600" dirty="0">
                <a:solidFill>
                  <a:srgbClr val="000000"/>
                </a:solidFill>
              </a:rPr>
              <a:t> </a:t>
            </a:r>
            <a:r>
              <a:rPr lang="en-US" sz="3600" dirty="0" err="1">
                <a:solidFill>
                  <a:srgbClr val="000000"/>
                </a:solidFill>
              </a:rPr>
              <a:t>método</a:t>
            </a:r>
            <a:r>
              <a:rPr lang="en-US" sz="3600" dirty="0">
                <a:solidFill>
                  <a:srgbClr val="000000"/>
                </a:solidFill>
              </a:rPr>
              <a:t> o </a:t>
            </a:r>
            <a:r>
              <a:rPr lang="en-US" sz="3600" dirty="0" err="1">
                <a:solidFill>
                  <a:srgbClr val="000000"/>
                </a:solidFill>
              </a:rPr>
              <a:t>atributo</a:t>
            </a:r>
            <a:r>
              <a:rPr lang="en-US" sz="3600" dirty="0">
                <a:solidFill>
                  <a:srgbClr val="000000"/>
                </a:solidFill>
              </a:rPr>
              <a:t>), </a:t>
            </a:r>
            <a:r>
              <a:rPr lang="en-US" sz="3600" dirty="0" err="1">
                <a:solidFill>
                  <a:srgbClr val="000000"/>
                </a:solidFill>
              </a:rPr>
              <a:t>utilizaremos</a:t>
            </a:r>
            <a:r>
              <a:rPr lang="en-US" sz="3600" dirty="0">
                <a:solidFill>
                  <a:srgbClr val="000000"/>
                </a:solidFill>
              </a:rPr>
              <a:t> </a:t>
            </a:r>
            <a:r>
              <a:rPr lang="en-US" sz="3600" dirty="0" err="1">
                <a:solidFill>
                  <a:srgbClr val="000000"/>
                </a:solidFill>
              </a:rPr>
              <a:t>los</a:t>
            </a:r>
            <a:r>
              <a:rPr lang="en-US" sz="3600" dirty="0">
                <a:solidFill>
                  <a:srgbClr val="000000"/>
                </a:solidFill>
              </a:rPr>
              <a:t> </a:t>
            </a:r>
            <a:r>
              <a:rPr lang="en-US" sz="3600" dirty="0" err="1">
                <a:solidFill>
                  <a:srgbClr val="000000"/>
                </a:solidFill>
              </a:rPr>
              <a:t>modificadores</a:t>
            </a:r>
            <a:r>
              <a:rPr lang="en-US" sz="3600" dirty="0">
                <a:solidFill>
                  <a:srgbClr val="000000"/>
                </a:solidFill>
              </a:rPr>
              <a:t> de </a:t>
            </a:r>
            <a:r>
              <a:rPr lang="en-US" sz="3600" dirty="0" err="1">
                <a:solidFill>
                  <a:srgbClr val="000000"/>
                </a:solidFill>
              </a:rPr>
              <a:t>acceso</a:t>
            </a:r>
            <a:r>
              <a:rPr lang="en-US" sz="3600" dirty="0">
                <a:solidFill>
                  <a:srgbClr val="000000"/>
                </a:solidFill>
              </a:rPr>
              <a:t>:</a:t>
            </a:r>
          </a:p>
          <a:p>
            <a:pPr marL="914400" lvl="1" indent="-3429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Courier New"/>
              <a:buChar char="o"/>
            </a:pPr>
            <a:r>
              <a:rPr lang="en-US" sz="3100" b="1" dirty="0">
                <a:solidFill>
                  <a:srgbClr val="000000"/>
                </a:solidFill>
              </a:rPr>
              <a:t>public (+)</a:t>
            </a:r>
            <a:r>
              <a:rPr lang="en-US" sz="3100" dirty="0">
                <a:solidFill>
                  <a:srgbClr val="000000"/>
                </a:solidFill>
              </a:rPr>
              <a:t>: </a:t>
            </a:r>
            <a:r>
              <a:rPr lang="en-US" sz="3100" dirty="0" err="1">
                <a:solidFill>
                  <a:srgbClr val="000000"/>
                </a:solidFill>
              </a:rPr>
              <a:t>todo</a:t>
            </a:r>
            <a:r>
              <a:rPr lang="en-US" sz="3100" dirty="0">
                <a:solidFill>
                  <a:srgbClr val="000000"/>
                </a:solidFill>
              </a:rPr>
              <a:t> </a:t>
            </a:r>
            <a:r>
              <a:rPr lang="en-US" sz="3100" dirty="0" err="1">
                <a:solidFill>
                  <a:srgbClr val="000000"/>
                </a:solidFill>
              </a:rPr>
              <a:t>el</a:t>
            </a:r>
            <a:r>
              <a:rPr lang="en-US" sz="3100" dirty="0">
                <a:solidFill>
                  <a:srgbClr val="000000"/>
                </a:solidFill>
              </a:rPr>
              <a:t> </a:t>
            </a:r>
            <a:r>
              <a:rPr lang="en-US" sz="3100" dirty="0" err="1">
                <a:solidFill>
                  <a:srgbClr val="000000"/>
                </a:solidFill>
              </a:rPr>
              <a:t>mundo</a:t>
            </a:r>
            <a:r>
              <a:rPr lang="en-US" sz="3100" dirty="0">
                <a:solidFill>
                  <a:srgbClr val="000000"/>
                </a:solidFill>
              </a:rPr>
              <a:t> </a:t>
            </a:r>
            <a:r>
              <a:rPr lang="en-US" sz="3100" dirty="0" err="1">
                <a:solidFill>
                  <a:srgbClr val="000000"/>
                </a:solidFill>
              </a:rPr>
              <a:t>puede</a:t>
            </a:r>
            <a:r>
              <a:rPr lang="en-US" sz="3100" dirty="0">
                <a:solidFill>
                  <a:srgbClr val="000000"/>
                </a:solidFill>
              </a:rPr>
              <a:t> acceder a </a:t>
            </a:r>
            <a:r>
              <a:rPr lang="en-US" sz="3100" dirty="0" err="1">
                <a:solidFill>
                  <a:srgbClr val="000000"/>
                </a:solidFill>
              </a:rPr>
              <a:t>este</a:t>
            </a:r>
            <a:r>
              <a:rPr lang="en-US" sz="3100" dirty="0">
                <a:solidFill>
                  <a:srgbClr val="000000"/>
                </a:solidFill>
              </a:rPr>
              <a:t> </a:t>
            </a:r>
            <a:r>
              <a:rPr lang="en-US" sz="3100" dirty="0" err="1">
                <a:solidFill>
                  <a:srgbClr val="000000"/>
                </a:solidFill>
              </a:rPr>
              <a:t>método</a:t>
            </a:r>
            <a:r>
              <a:rPr lang="en-US" sz="3100" dirty="0">
                <a:solidFill>
                  <a:srgbClr val="000000"/>
                </a:solidFill>
              </a:rPr>
              <a:t> o </a:t>
            </a:r>
            <a:r>
              <a:rPr lang="en-US" sz="3100" dirty="0" err="1">
                <a:solidFill>
                  <a:srgbClr val="000000"/>
                </a:solidFill>
              </a:rPr>
              <a:t>atributo</a:t>
            </a:r>
            <a:r>
              <a:rPr lang="en-US" sz="3100" dirty="0">
                <a:solidFill>
                  <a:srgbClr val="000000"/>
                </a:solidFill>
              </a:rPr>
              <a:t>.</a:t>
            </a:r>
          </a:p>
          <a:p>
            <a:pPr marL="914400" lvl="1" indent="-3429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Courier New"/>
              <a:buChar char="o"/>
            </a:pPr>
            <a:r>
              <a:rPr lang="en-US" sz="3100" b="1" dirty="0">
                <a:solidFill>
                  <a:srgbClr val="FF0000"/>
                </a:solidFill>
              </a:rPr>
              <a:t>protected (#)</a:t>
            </a:r>
            <a:r>
              <a:rPr lang="en-US" sz="3100" dirty="0">
                <a:solidFill>
                  <a:srgbClr val="FF0000"/>
                </a:solidFill>
              </a:rPr>
              <a:t>: </a:t>
            </a:r>
            <a:r>
              <a:rPr lang="en-US" sz="3100" dirty="0" err="1">
                <a:solidFill>
                  <a:srgbClr val="FF0000"/>
                </a:solidFill>
              </a:rPr>
              <a:t>sólo</a:t>
            </a:r>
            <a:r>
              <a:rPr lang="en-US" sz="3100" dirty="0">
                <a:solidFill>
                  <a:srgbClr val="FF0000"/>
                </a:solidFill>
              </a:rPr>
              <a:t> </a:t>
            </a:r>
            <a:r>
              <a:rPr lang="en-US" sz="3100" dirty="0" err="1">
                <a:solidFill>
                  <a:srgbClr val="FF0000"/>
                </a:solidFill>
              </a:rPr>
              <a:t>desde</a:t>
            </a:r>
            <a:r>
              <a:rPr lang="en-US" sz="3100" dirty="0">
                <a:solidFill>
                  <a:srgbClr val="FF0000"/>
                </a:solidFill>
              </a:rPr>
              <a:t> </a:t>
            </a:r>
            <a:r>
              <a:rPr lang="en-US" sz="3100" dirty="0" err="1">
                <a:solidFill>
                  <a:srgbClr val="FF0000"/>
                </a:solidFill>
              </a:rPr>
              <a:t>código</a:t>
            </a:r>
            <a:r>
              <a:rPr lang="en-US" sz="3100" dirty="0">
                <a:solidFill>
                  <a:srgbClr val="FF0000"/>
                </a:solidFill>
              </a:rPr>
              <a:t> </a:t>
            </a:r>
            <a:r>
              <a:rPr lang="en-US" sz="3100" dirty="0" err="1">
                <a:solidFill>
                  <a:srgbClr val="FF0000"/>
                </a:solidFill>
              </a:rPr>
              <a:t>perteneciente</a:t>
            </a:r>
            <a:r>
              <a:rPr lang="en-US" sz="3100" dirty="0">
                <a:solidFill>
                  <a:srgbClr val="FF0000"/>
                </a:solidFill>
              </a:rPr>
              <a:t> a </a:t>
            </a:r>
            <a:r>
              <a:rPr lang="en-US" sz="3100" dirty="0" err="1">
                <a:solidFill>
                  <a:srgbClr val="FF0000"/>
                </a:solidFill>
              </a:rPr>
              <a:t>clases</a:t>
            </a:r>
            <a:r>
              <a:rPr lang="en-US" sz="3100" dirty="0">
                <a:solidFill>
                  <a:srgbClr val="FF0000"/>
                </a:solidFill>
              </a:rPr>
              <a:t> </a:t>
            </a:r>
            <a:r>
              <a:rPr lang="en-US" sz="3100" dirty="0" err="1">
                <a:solidFill>
                  <a:srgbClr val="FF0000"/>
                </a:solidFill>
              </a:rPr>
              <a:t>descendientes</a:t>
            </a:r>
            <a:r>
              <a:rPr lang="en-US" sz="3100" dirty="0">
                <a:solidFill>
                  <a:srgbClr val="FF0000"/>
                </a:solidFill>
              </a:rPr>
              <a:t> (</a:t>
            </a:r>
            <a:r>
              <a:rPr lang="en-US" sz="3100" dirty="0" err="1">
                <a:solidFill>
                  <a:srgbClr val="FF0000"/>
                </a:solidFill>
              </a:rPr>
              <a:t>en</a:t>
            </a:r>
            <a:r>
              <a:rPr lang="en-US" sz="3100" dirty="0">
                <a:solidFill>
                  <a:srgbClr val="FF0000"/>
                </a:solidFill>
              </a:rPr>
              <a:t> </a:t>
            </a:r>
            <a:r>
              <a:rPr lang="en-US" sz="3100" dirty="0" err="1">
                <a:solidFill>
                  <a:srgbClr val="FF0000"/>
                </a:solidFill>
              </a:rPr>
              <a:t>términos</a:t>
            </a:r>
            <a:r>
              <a:rPr lang="en-US" sz="3100" dirty="0">
                <a:solidFill>
                  <a:srgbClr val="FF0000"/>
                </a:solidFill>
              </a:rPr>
              <a:t> de </a:t>
            </a:r>
            <a:r>
              <a:rPr lang="en-US" sz="3100" dirty="0" err="1">
                <a:solidFill>
                  <a:srgbClr val="FF0000"/>
                </a:solidFill>
              </a:rPr>
              <a:t>herencia</a:t>
            </a:r>
            <a:r>
              <a:rPr lang="en-US" sz="3100" dirty="0">
                <a:solidFill>
                  <a:srgbClr val="FF0000"/>
                </a:solidFill>
              </a:rPr>
              <a:t>) de la de </a:t>
            </a:r>
            <a:r>
              <a:rPr lang="en-US" sz="3100" dirty="0" err="1">
                <a:solidFill>
                  <a:srgbClr val="FF0000"/>
                </a:solidFill>
              </a:rPr>
              <a:t>éste</a:t>
            </a:r>
            <a:r>
              <a:rPr lang="en-US" sz="3100" dirty="0">
                <a:solidFill>
                  <a:srgbClr val="FF0000"/>
                </a:solidFill>
              </a:rPr>
              <a:t>, o del </a:t>
            </a:r>
            <a:r>
              <a:rPr lang="en-US" sz="3100" dirty="0" err="1">
                <a:solidFill>
                  <a:srgbClr val="FF0000"/>
                </a:solidFill>
              </a:rPr>
              <a:t>mismo</a:t>
            </a:r>
            <a:r>
              <a:rPr lang="en-US" sz="3100" dirty="0">
                <a:solidFill>
                  <a:srgbClr val="FF0000"/>
                </a:solidFill>
              </a:rPr>
              <a:t> </a:t>
            </a:r>
            <a:r>
              <a:rPr lang="en-US" sz="3100" dirty="0" err="1">
                <a:solidFill>
                  <a:srgbClr val="FF0000"/>
                </a:solidFill>
              </a:rPr>
              <a:t>paquete</a:t>
            </a:r>
            <a:r>
              <a:rPr lang="en-US" sz="3100" dirty="0">
                <a:solidFill>
                  <a:srgbClr val="FF0000"/>
                </a:solidFill>
              </a:rPr>
              <a:t>.</a:t>
            </a:r>
          </a:p>
          <a:p>
            <a:pPr marL="914400" lvl="1" indent="-3429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Courier New"/>
              <a:buChar char="o"/>
            </a:pPr>
            <a:r>
              <a:rPr lang="en-US" sz="3100" b="1" dirty="0">
                <a:solidFill>
                  <a:srgbClr val="000000"/>
                </a:solidFill>
              </a:rPr>
              <a:t>package</a:t>
            </a:r>
            <a:r>
              <a:rPr lang="en-US" sz="3100" dirty="0">
                <a:solidFill>
                  <a:srgbClr val="000000"/>
                </a:solidFill>
              </a:rPr>
              <a:t> (~): </a:t>
            </a:r>
            <a:r>
              <a:rPr lang="en-US" sz="3100" dirty="0" err="1">
                <a:solidFill>
                  <a:srgbClr val="000000"/>
                </a:solidFill>
              </a:rPr>
              <a:t>sólo</a:t>
            </a:r>
            <a:r>
              <a:rPr lang="en-US" sz="3100" dirty="0">
                <a:solidFill>
                  <a:srgbClr val="000000"/>
                </a:solidFill>
              </a:rPr>
              <a:t> </a:t>
            </a:r>
            <a:r>
              <a:rPr lang="en-US" sz="3100" dirty="0" err="1">
                <a:solidFill>
                  <a:srgbClr val="000000"/>
                </a:solidFill>
              </a:rPr>
              <a:t>desde</a:t>
            </a:r>
            <a:r>
              <a:rPr lang="en-US" sz="3100" dirty="0">
                <a:solidFill>
                  <a:srgbClr val="000000"/>
                </a:solidFill>
              </a:rPr>
              <a:t> </a:t>
            </a:r>
            <a:r>
              <a:rPr lang="en-US" sz="3100" dirty="0" err="1">
                <a:solidFill>
                  <a:srgbClr val="000000"/>
                </a:solidFill>
              </a:rPr>
              <a:t>código</a:t>
            </a:r>
            <a:r>
              <a:rPr lang="en-US" sz="3100" dirty="0">
                <a:solidFill>
                  <a:srgbClr val="000000"/>
                </a:solidFill>
              </a:rPr>
              <a:t> </a:t>
            </a:r>
            <a:r>
              <a:rPr lang="en-US" sz="3100" dirty="0" err="1">
                <a:solidFill>
                  <a:srgbClr val="000000"/>
                </a:solidFill>
              </a:rPr>
              <a:t>perteneciente</a:t>
            </a:r>
            <a:r>
              <a:rPr lang="en-US" sz="3100" dirty="0">
                <a:solidFill>
                  <a:srgbClr val="000000"/>
                </a:solidFill>
              </a:rPr>
              <a:t> a </a:t>
            </a:r>
            <a:r>
              <a:rPr lang="en-US" sz="3100" dirty="0" err="1">
                <a:solidFill>
                  <a:srgbClr val="000000"/>
                </a:solidFill>
              </a:rPr>
              <a:t>clases</a:t>
            </a:r>
            <a:r>
              <a:rPr lang="en-US" sz="3100" dirty="0">
                <a:solidFill>
                  <a:srgbClr val="000000"/>
                </a:solidFill>
              </a:rPr>
              <a:t> de </a:t>
            </a:r>
            <a:r>
              <a:rPr lang="en-US" sz="3100" dirty="0" err="1">
                <a:solidFill>
                  <a:srgbClr val="000000"/>
                </a:solidFill>
              </a:rPr>
              <a:t>este</a:t>
            </a:r>
            <a:r>
              <a:rPr lang="en-US" sz="3100" dirty="0">
                <a:solidFill>
                  <a:srgbClr val="000000"/>
                </a:solidFill>
              </a:rPr>
              <a:t> </a:t>
            </a:r>
            <a:r>
              <a:rPr lang="en-US" sz="3100" dirty="0" err="1">
                <a:solidFill>
                  <a:srgbClr val="000000"/>
                </a:solidFill>
              </a:rPr>
              <a:t>mismo</a:t>
            </a:r>
            <a:r>
              <a:rPr lang="en-US" sz="3100" dirty="0">
                <a:solidFill>
                  <a:srgbClr val="000000"/>
                </a:solidFill>
              </a:rPr>
              <a:t> </a:t>
            </a:r>
            <a:r>
              <a:rPr lang="en-US" sz="3100" dirty="0" err="1">
                <a:solidFill>
                  <a:srgbClr val="000000"/>
                </a:solidFill>
              </a:rPr>
              <a:t>paquete</a:t>
            </a:r>
            <a:r>
              <a:rPr lang="en-US" sz="3100" dirty="0">
                <a:solidFill>
                  <a:srgbClr val="000000"/>
                </a:solidFill>
              </a:rPr>
              <a:t>.</a:t>
            </a:r>
          </a:p>
          <a:p>
            <a:pPr marL="914400" lvl="1" indent="-3429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Courier New"/>
              <a:buChar char="o"/>
            </a:pPr>
            <a:r>
              <a:rPr lang="en-US" sz="3100" b="1" dirty="0">
                <a:solidFill>
                  <a:srgbClr val="000000"/>
                </a:solidFill>
              </a:rPr>
              <a:t>private (-)</a:t>
            </a:r>
            <a:r>
              <a:rPr lang="en-US" sz="3100" dirty="0">
                <a:solidFill>
                  <a:srgbClr val="000000"/>
                </a:solidFill>
              </a:rPr>
              <a:t>: </a:t>
            </a:r>
            <a:r>
              <a:rPr lang="en-US" sz="3100" dirty="0" err="1">
                <a:solidFill>
                  <a:srgbClr val="000000"/>
                </a:solidFill>
              </a:rPr>
              <a:t>sólo</a:t>
            </a:r>
            <a:r>
              <a:rPr lang="en-US" sz="3100" dirty="0">
                <a:solidFill>
                  <a:srgbClr val="000000"/>
                </a:solidFill>
              </a:rPr>
              <a:t> </a:t>
            </a:r>
            <a:r>
              <a:rPr lang="en-US" sz="3100" dirty="0" err="1">
                <a:solidFill>
                  <a:srgbClr val="000000"/>
                </a:solidFill>
              </a:rPr>
              <a:t>desde</a:t>
            </a:r>
            <a:r>
              <a:rPr lang="en-US" sz="3100" dirty="0">
                <a:solidFill>
                  <a:srgbClr val="000000"/>
                </a:solidFill>
              </a:rPr>
              <a:t> </a:t>
            </a:r>
            <a:r>
              <a:rPr lang="en-US" sz="3100" dirty="0" err="1">
                <a:solidFill>
                  <a:srgbClr val="000000"/>
                </a:solidFill>
              </a:rPr>
              <a:t>el</a:t>
            </a:r>
            <a:r>
              <a:rPr lang="en-US" sz="3100" dirty="0">
                <a:solidFill>
                  <a:srgbClr val="000000"/>
                </a:solidFill>
              </a:rPr>
              <a:t> </a:t>
            </a:r>
            <a:r>
              <a:rPr lang="en-US" sz="3100" dirty="0" err="1">
                <a:solidFill>
                  <a:srgbClr val="000000"/>
                </a:solidFill>
              </a:rPr>
              <a:t>código</a:t>
            </a:r>
            <a:r>
              <a:rPr lang="en-US" sz="3100" dirty="0">
                <a:solidFill>
                  <a:srgbClr val="000000"/>
                </a:solidFill>
              </a:rPr>
              <a:t> de </a:t>
            </a:r>
            <a:r>
              <a:rPr lang="en-US" sz="3100" dirty="0" err="1">
                <a:solidFill>
                  <a:srgbClr val="000000"/>
                </a:solidFill>
              </a:rPr>
              <a:t>esta</a:t>
            </a:r>
            <a:r>
              <a:rPr lang="en-US" sz="3100" dirty="0">
                <a:solidFill>
                  <a:srgbClr val="000000"/>
                </a:solidFill>
              </a:rPr>
              <a:t> </a:t>
            </a:r>
            <a:r>
              <a:rPr lang="en-US" sz="3100" dirty="0" err="1">
                <a:solidFill>
                  <a:srgbClr val="000000"/>
                </a:solidFill>
              </a:rPr>
              <a:t>misma</a:t>
            </a:r>
            <a:r>
              <a:rPr lang="en-US" sz="3100" dirty="0">
                <a:solidFill>
                  <a:srgbClr val="000000"/>
                </a:solidFill>
              </a:rPr>
              <a:t> </a:t>
            </a:r>
            <a:r>
              <a:rPr lang="en-US" sz="3100" dirty="0" err="1">
                <a:solidFill>
                  <a:srgbClr val="000000"/>
                </a:solidFill>
              </a:rPr>
              <a:t>clase</a:t>
            </a:r>
            <a:r>
              <a:rPr lang="en-US" sz="3100" dirty="0">
                <a:solidFill>
                  <a:srgbClr val="000000"/>
                </a:solidFill>
              </a:rPr>
              <a:t>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157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22499B-3742-A7EA-913D-14E0A18DC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Encapsulación y visibilidad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9473EB-5312-E2D3-DBC1-B9669FE27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271" y="564776"/>
            <a:ext cx="11331388" cy="6293224"/>
          </a:xfrm>
        </p:spPr>
        <p:txBody>
          <a:bodyPr>
            <a:normAutofit fontScale="70000" lnSpcReduction="20000"/>
          </a:bodyPr>
          <a:lstStyle/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US" sz="4500" dirty="0" err="1">
                <a:solidFill>
                  <a:srgbClr val="000000"/>
                </a:solidFill>
              </a:rPr>
              <a:t>Aparte</a:t>
            </a:r>
            <a:r>
              <a:rPr lang="en-US" sz="4500" dirty="0">
                <a:solidFill>
                  <a:srgbClr val="000000"/>
                </a:solidFill>
              </a:rPr>
              <a:t> de </a:t>
            </a:r>
            <a:r>
              <a:rPr lang="en-US" sz="4500" dirty="0" err="1">
                <a:solidFill>
                  <a:srgbClr val="000000"/>
                </a:solidFill>
              </a:rPr>
              <a:t>los</a:t>
            </a:r>
            <a:r>
              <a:rPr lang="en-US" sz="4500" dirty="0">
                <a:solidFill>
                  <a:srgbClr val="000000"/>
                </a:solidFill>
              </a:rPr>
              <a:t> </a:t>
            </a:r>
            <a:r>
              <a:rPr lang="en-US" sz="4500" dirty="0" err="1">
                <a:solidFill>
                  <a:srgbClr val="000000"/>
                </a:solidFill>
              </a:rPr>
              <a:t>métodos</a:t>
            </a:r>
            <a:r>
              <a:rPr lang="en-US" sz="4500" dirty="0">
                <a:solidFill>
                  <a:srgbClr val="000000"/>
                </a:solidFill>
              </a:rPr>
              <a:t> y </a:t>
            </a:r>
            <a:r>
              <a:rPr lang="en-US" sz="4500" dirty="0" err="1">
                <a:solidFill>
                  <a:srgbClr val="000000"/>
                </a:solidFill>
              </a:rPr>
              <a:t>atributos</a:t>
            </a:r>
            <a:r>
              <a:rPr lang="en-US" sz="4500" dirty="0">
                <a:solidFill>
                  <a:srgbClr val="000000"/>
                </a:solidFill>
              </a:rPr>
              <a:t> de </a:t>
            </a:r>
            <a:r>
              <a:rPr lang="en-US" sz="4500" dirty="0" err="1">
                <a:solidFill>
                  <a:srgbClr val="000000"/>
                </a:solidFill>
              </a:rPr>
              <a:t>una</a:t>
            </a:r>
            <a:r>
              <a:rPr lang="en-US" sz="4500" dirty="0">
                <a:solidFill>
                  <a:srgbClr val="000000"/>
                </a:solidFill>
              </a:rPr>
              <a:t> </a:t>
            </a:r>
            <a:r>
              <a:rPr lang="en-US" sz="4500" dirty="0" err="1">
                <a:solidFill>
                  <a:srgbClr val="000000"/>
                </a:solidFill>
              </a:rPr>
              <a:t>clase</a:t>
            </a:r>
            <a:r>
              <a:rPr lang="en-US" sz="4500" dirty="0">
                <a:solidFill>
                  <a:srgbClr val="000000"/>
                </a:solidFill>
              </a:rPr>
              <a:t>, </a:t>
            </a:r>
            <a:r>
              <a:rPr lang="en-US" sz="4500" dirty="0" err="1">
                <a:solidFill>
                  <a:srgbClr val="000000"/>
                </a:solidFill>
              </a:rPr>
              <a:t>también</a:t>
            </a:r>
            <a:r>
              <a:rPr lang="en-US" sz="4500" dirty="0">
                <a:solidFill>
                  <a:srgbClr val="000000"/>
                </a:solidFill>
              </a:rPr>
              <a:t> </a:t>
            </a:r>
            <a:r>
              <a:rPr lang="en-US" sz="4500" dirty="0" err="1">
                <a:solidFill>
                  <a:srgbClr val="000000"/>
                </a:solidFill>
              </a:rPr>
              <a:t>podemos</a:t>
            </a:r>
            <a:r>
              <a:rPr lang="en-US" sz="4500" dirty="0">
                <a:solidFill>
                  <a:srgbClr val="000000"/>
                </a:solidFill>
              </a:rPr>
              <a:t> </a:t>
            </a:r>
            <a:r>
              <a:rPr lang="en-US" sz="4500" dirty="0" err="1">
                <a:solidFill>
                  <a:srgbClr val="000000"/>
                </a:solidFill>
              </a:rPr>
              <a:t>modificar</a:t>
            </a:r>
            <a:r>
              <a:rPr lang="en-US" sz="4500" dirty="0">
                <a:solidFill>
                  <a:srgbClr val="000000"/>
                </a:solidFill>
              </a:rPr>
              <a:t> </a:t>
            </a:r>
            <a:r>
              <a:rPr lang="en-US" sz="4500" dirty="0" err="1">
                <a:solidFill>
                  <a:srgbClr val="000000"/>
                </a:solidFill>
              </a:rPr>
              <a:t>el</a:t>
            </a:r>
            <a:r>
              <a:rPr lang="en-US" sz="4500" dirty="0">
                <a:solidFill>
                  <a:srgbClr val="000000"/>
                </a:solidFill>
              </a:rPr>
              <a:t> </a:t>
            </a:r>
            <a:r>
              <a:rPr lang="en-US" sz="4500" dirty="0" err="1">
                <a:solidFill>
                  <a:srgbClr val="000000"/>
                </a:solidFill>
              </a:rPr>
              <a:t>acceso</a:t>
            </a:r>
            <a:r>
              <a:rPr lang="en-US" sz="4500" dirty="0">
                <a:solidFill>
                  <a:srgbClr val="000000"/>
                </a:solidFill>
              </a:rPr>
              <a:t> a la </a:t>
            </a:r>
            <a:r>
              <a:rPr lang="en-US" sz="4500" dirty="0" err="1">
                <a:solidFill>
                  <a:srgbClr val="000000"/>
                </a:solidFill>
              </a:rPr>
              <a:t>clase</a:t>
            </a:r>
            <a:r>
              <a:rPr lang="en-US" sz="4500" dirty="0">
                <a:solidFill>
                  <a:srgbClr val="000000"/>
                </a:solidFill>
              </a:rPr>
              <a:t> entera, </a:t>
            </a:r>
            <a:r>
              <a:rPr lang="en-US" sz="4500" dirty="0" err="1">
                <a:solidFill>
                  <a:srgbClr val="000000"/>
                </a:solidFill>
              </a:rPr>
              <a:t>aunque</a:t>
            </a:r>
            <a:r>
              <a:rPr lang="en-US" sz="4500" dirty="0">
                <a:solidFill>
                  <a:srgbClr val="000000"/>
                </a:solidFill>
              </a:rPr>
              <a:t> </a:t>
            </a:r>
            <a:r>
              <a:rPr lang="en-US" sz="4500" dirty="0" err="1">
                <a:solidFill>
                  <a:srgbClr val="000000"/>
                </a:solidFill>
              </a:rPr>
              <a:t>aquí</a:t>
            </a:r>
            <a:r>
              <a:rPr lang="en-US" sz="4500" dirty="0">
                <a:solidFill>
                  <a:srgbClr val="000000"/>
                </a:solidFill>
              </a:rPr>
              <a:t>, </a:t>
            </a:r>
            <a:r>
              <a:rPr lang="en-US" sz="4500" dirty="0" err="1">
                <a:solidFill>
                  <a:srgbClr val="000000"/>
                </a:solidFill>
              </a:rPr>
              <a:t>sólo</a:t>
            </a:r>
            <a:r>
              <a:rPr lang="en-US" sz="4500" dirty="0">
                <a:solidFill>
                  <a:srgbClr val="000000"/>
                </a:solidFill>
              </a:rPr>
              <a:t> se </a:t>
            </a:r>
            <a:r>
              <a:rPr lang="en-US" sz="4500" dirty="0" err="1">
                <a:solidFill>
                  <a:srgbClr val="000000"/>
                </a:solidFill>
              </a:rPr>
              <a:t>podrían</a:t>
            </a:r>
            <a:r>
              <a:rPr lang="en-US" sz="4500" dirty="0">
                <a:solidFill>
                  <a:srgbClr val="000000"/>
                </a:solidFill>
              </a:rPr>
              <a:t> </a:t>
            </a:r>
            <a:r>
              <a:rPr lang="en-US" sz="4500" dirty="0" err="1">
                <a:solidFill>
                  <a:srgbClr val="000000"/>
                </a:solidFill>
              </a:rPr>
              <a:t>utilizar</a:t>
            </a:r>
            <a:r>
              <a:rPr lang="en-US" sz="4500" dirty="0">
                <a:solidFill>
                  <a:srgbClr val="000000"/>
                </a:solidFill>
              </a:rPr>
              <a:t> dos </a:t>
            </a:r>
            <a:r>
              <a:rPr lang="en-US" sz="4500" dirty="0" err="1">
                <a:solidFill>
                  <a:srgbClr val="000000"/>
                </a:solidFill>
              </a:rPr>
              <a:t>modificadores</a:t>
            </a:r>
            <a:r>
              <a:rPr lang="en-US" sz="4500" dirty="0">
                <a:solidFill>
                  <a:srgbClr val="000000"/>
                </a:solidFill>
              </a:rPr>
              <a:t>:</a:t>
            </a:r>
          </a:p>
          <a:p>
            <a:pPr marL="914400" lvl="1" indent="-3429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Courier New"/>
              <a:buChar char="o"/>
            </a:pPr>
            <a:r>
              <a:rPr lang="en-US" sz="4500" dirty="0">
                <a:solidFill>
                  <a:srgbClr val="000000"/>
                </a:solidFill>
              </a:rPr>
              <a:t>public: </a:t>
            </a:r>
            <a:r>
              <a:rPr lang="en-US" sz="4500" dirty="0" err="1">
                <a:solidFill>
                  <a:srgbClr val="000000"/>
                </a:solidFill>
              </a:rPr>
              <a:t>todo</a:t>
            </a:r>
            <a:r>
              <a:rPr lang="en-US" sz="4500" dirty="0">
                <a:solidFill>
                  <a:srgbClr val="000000"/>
                </a:solidFill>
              </a:rPr>
              <a:t> </a:t>
            </a:r>
            <a:r>
              <a:rPr lang="en-US" sz="4500" dirty="0" err="1">
                <a:solidFill>
                  <a:srgbClr val="000000"/>
                </a:solidFill>
              </a:rPr>
              <a:t>el</a:t>
            </a:r>
            <a:r>
              <a:rPr lang="en-US" sz="4500" dirty="0">
                <a:solidFill>
                  <a:srgbClr val="000000"/>
                </a:solidFill>
              </a:rPr>
              <a:t> </a:t>
            </a:r>
            <a:r>
              <a:rPr lang="en-US" sz="4500" dirty="0" err="1">
                <a:solidFill>
                  <a:srgbClr val="000000"/>
                </a:solidFill>
              </a:rPr>
              <a:t>mundo</a:t>
            </a:r>
            <a:r>
              <a:rPr lang="en-US" sz="4500" dirty="0">
                <a:solidFill>
                  <a:srgbClr val="000000"/>
                </a:solidFill>
              </a:rPr>
              <a:t> </a:t>
            </a:r>
            <a:r>
              <a:rPr lang="en-US" sz="4500" dirty="0" err="1">
                <a:solidFill>
                  <a:srgbClr val="000000"/>
                </a:solidFill>
              </a:rPr>
              <a:t>puede</a:t>
            </a:r>
            <a:r>
              <a:rPr lang="en-US" sz="4500" dirty="0">
                <a:solidFill>
                  <a:srgbClr val="000000"/>
                </a:solidFill>
              </a:rPr>
              <a:t> acceder al </a:t>
            </a:r>
            <a:r>
              <a:rPr lang="en-US" sz="4500" dirty="0" err="1">
                <a:solidFill>
                  <a:srgbClr val="000000"/>
                </a:solidFill>
              </a:rPr>
              <a:t>código</a:t>
            </a:r>
            <a:r>
              <a:rPr lang="en-US" sz="4500" dirty="0">
                <a:solidFill>
                  <a:srgbClr val="000000"/>
                </a:solidFill>
              </a:rPr>
              <a:t> de </a:t>
            </a:r>
            <a:r>
              <a:rPr lang="en-US" sz="4500" dirty="0" err="1">
                <a:solidFill>
                  <a:srgbClr val="000000"/>
                </a:solidFill>
              </a:rPr>
              <a:t>dicha</a:t>
            </a:r>
            <a:r>
              <a:rPr lang="en-US" sz="4500" dirty="0">
                <a:solidFill>
                  <a:srgbClr val="000000"/>
                </a:solidFill>
              </a:rPr>
              <a:t> </a:t>
            </a:r>
            <a:r>
              <a:rPr lang="en-US" sz="4500" dirty="0" err="1">
                <a:solidFill>
                  <a:srgbClr val="000000"/>
                </a:solidFill>
              </a:rPr>
              <a:t>clase</a:t>
            </a:r>
            <a:r>
              <a:rPr lang="en-US" sz="4500" dirty="0">
                <a:solidFill>
                  <a:srgbClr val="000000"/>
                </a:solidFill>
              </a:rPr>
              <a:t>.</a:t>
            </a:r>
          </a:p>
          <a:p>
            <a:pPr marL="914400" lvl="1" indent="-3429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Courier New"/>
              <a:buChar char="o"/>
            </a:pPr>
            <a:r>
              <a:rPr lang="en-US" sz="4500" dirty="0">
                <a:solidFill>
                  <a:srgbClr val="000000"/>
                </a:solidFill>
              </a:rPr>
              <a:t>(package): </a:t>
            </a:r>
            <a:r>
              <a:rPr lang="en-US" sz="4500" dirty="0" err="1">
                <a:solidFill>
                  <a:srgbClr val="000000"/>
                </a:solidFill>
              </a:rPr>
              <a:t>sólo</a:t>
            </a:r>
            <a:r>
              <a:rPr lang="en-US" sz="4500" dirty="0">
                <a:solidFill>
                  <a:srgbClr val="000000"/>
                </a:solidFill>
              </a:rPr>
              <a:t> </a:t>
            </a:r>
            <a:r>
              <a:rPr lang="en-US" sz="4500" dirty="0" err="1">
                <a:solidFill>
                  <a:srgbClr val="000000"/>
                </a:solidFill>
              </a:rPr>
              <a:t>desde</a:t>
            </a:r>
            <a:r>
              <a:rPr lang="en-US" sz="4500" dirty="0">
                <a:solidFill>
                  <a:srgbClr val="000000"/>
                </a:solidFill>
              </a:rPr>
              <a:t> </a:t>
            </a:r>
            <a:r>
              <a:rPr lang="en-US" sz="4500" dirty="0" err="1">
                <a:solidFill>
                  <a:srgbClr val="000000"/>
                </a:solidFill>
              </a:rPr>
              <a:t>clases</a:t>
            </a:r>
            <a:r>
              <a:rPr lang="en-US" sz="4500" dirty="0">
                <a:solidFill>
                  <a:srgbClr val="000000"/>
                </a:solidFill>
              </a:rPr>
              <a:t> </a:t>
            </a:r>
            <a:r>
              <a:rPr lang="en-US" sz="4500" dirty="0" err="1">
                <a:solidFill>
                  <a:srgbClr val="000000"/>
                </a:solidFill>
              </a:rPr>
              <a:t>pertenecientes</a:t>
            </a:r>
            <a:r>
              <a:rPr lang="en-US" sz="4500" dirty="0">
                <a:solidFill>
                  <a:srgbClr val="000000"/>
                </a:solidFill>
              </a:rPr>
              <a:t> al </a:t>
            </a:r>
            <a:r>
              <a:rPr lang="en-US" sz="4500" dirty="0" err="1">
                <a:solidFill>
                  <a:srgbClr val="000000"/>
                </a:solidFill>
              </a:rPr>
              <a:t>mismo</a:t>
            </a:r>
            <a:r>
              <a:rPr lang="en-US" sz="4500" dirty="0">
                <a:solidFill>
                  <a:srgbClr val="000000"/>
                </a:solidFill>
              </a:rPr>
              <a:t> </a:t>
            </a:r>
            <a:r>
              <a:rPr lang="en-US" sz="4500" dirty="0" err="1">
                <a:solidFill>
                  <a:srgbClr val="000000"/>
                </a:solidFill>
              </a:rPr>
              <a:t>paquete</a:t>
            </a:r>
            <a:r>
              <a:rPr lang="en-US" sz="4500" dirty="0">
                <a:solidFill>
                  <a:srgbClr val="000000"/>
                </a:solidFill>
              </a:rPr>
              <a:t>. 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US" sz="4500" dirty="0" err="1">
                <a:solidFill>
                  <a:srgbClr val="000000"/>
                </a:solidFill>
              </a:rPr>
              <a:t>También</a:t>
            </a:r>
            <a:r>
              <a:rPr lang="en-US" sz="4500" dirty="0">
                <a:solidFill>
                  <a:srgbClr val="000000"/>
                </a:solidFill>
              </a:rPr>
              <a:t> se </a:t>
            </a:r>
            <a:r>
              <a:rPr lang="en-US" sz="4500" dirty="0" err="1">
                <a:solidFill>
                  <a:srgbClr val="000000"/>
                </a:solidFill>
              </a:rPr>
              <a:t>puede</a:t>
            </a:r>
            <a:r>
              <a:rPr lang="en-US" sz="4500" dirty="0">
                <a:solidFill>
                  <a:srgbClr val="000000"/>
                </a:solidFill>
              </a:rPr>
              <a:t> </a:t>
            </a:r>
            <a:r>
              <a:rPr lang="en-US" sz="4500" dirty="0" err="1">
                <a:solidFill>
                  <a:srgbClr val="000000"/>
                </a:solidFill>
              </a:rPr>
              <a:t>modificar</a:t>
            </a:r>
            <a:r>
              <a:rPr lang="en-US" sz="4500" dirty="0">
                <a:solidFill>
                  <a:srgbClr val="000000"/>
                </a:solidFill>
              </a:rPr>
              <a:t> </a:t>
            </a:r>
            <a:r>
              <a:rPr lang="en-US" sz="4500" dirty="0" err="1">
                <a:solidFill>
                  <a:srgbClr val="000000"/>
                </a:solidFill>
              </a:rPr>
              <a:t>el</a:t>
            </a:r>
            <a:r>
              <a:rPr lang="en-US" sz="4500" dirty="0">
                <a:solidFill>
                  <a:srgbClr val="000000"/>
                </a:solidFill>
              </a:rPr>
              <a:t> </a:t>
            </a:r>
            <a:r>
              <a:rPr lang="en-US" sz="4500" dirty="0" err="1">
                <a:solidFill>
                  <a:srgbClr val="000000"/>
                </a:solidFill>
              </a:rPr>
              <a:t>permiso</a:t>
            </a:r>
            <a:r>
              <a:rPr lang="en-US" sz="4500" dirty="0">
                <a:solidFill>
                  <a:srgbClr val="000000"/>
                </a:solidFill>
              </a:rPr>
              <a:t> </a:t>
            </a:r>
            <a:r>
              <a:rPr lang="en-US" sz="4500" dirty="0" err="1">
                <a:solidFill>
                  <a:srgbClr val="000000"/>
                </a:solidFill>
              </a:rPr>
              <a:t>creación</a:t>
            </a:r>
            <a:r>
              <a:rPr lang="en-US" sz="4500" dirty="0">
                <a:solidFill>
                  <a:srgbClr val="000000"/>
                </a:solidFill>
              </a:rPr>
              <a:t> de </a:t>
            </a:r>
            <a:r>
              <a:rPr lang="en-US" sz="4500" dirty="0" err="1">
                <a:solidFill>
                  <a:srgbClr val="000000"/>
                </a:solidFill>
              </a:rPr>
              <a:t>objetos</a:t>
            </a:r>
            <a:r>
              <a:rPr lang="en-US" sz="4500" dirty="0">
                <a:solidFill>
                  <a:srgbClr val="000000"/>
                </a:solidFill>
              </a:rPr>
              <a:t>, </a:t>
            </a:r>
            <a:r>
              <a:rPr lang="en-US" sz="4500" dirty="0" err="1">
                <a:solidFill>
                  <a:srgbClr val="000000"/>
                </a:solidFill>
              </a:rPr>
              <a:t>cambiando</a:t>
            </a:r>
            <a:r>
              <a:rPr lang="en-US" sz="4500" dirty="0">
                <a:solidFill>
                  <a:srgbClr val="000000"/>
                </a:solidFill>
              </a:rPr>
              <a:t> </a:t>
            </a:r>
            <a:r>
              <a:rPr lang="en-US" sz="4500" dirty="0" err="1">
                <a:solidFill>
                  <a:srgbClr val="000000"/>
                </a:solidFill>
              </a:rPr>
              <a:t>el</a:t>
            </a:r>
            <a:r>
              <a:rPr lang="en-US" sz="4500" dirty="0">
                <a:solidFill>
                  <a:srgbClr val="000000"/>
                </a:solidFill>
              </a:rPr>
              <a:t> </a:t>
            </a:r>
            <a:r>
              <a:rPr lang="en-US" sz="4500" dirty="0" err="1">
                <a:solidFill>
                  <a:srgbClr val="000000"/>
                </a:solidFill>
              </a:rPr>
              <a:t>acceso</a:t>
            </a:r>
            <a:r>
              <a:rPr lang="en-US" sz="4500" dirty="0">
                <a:solidFill>
                  <a:srgbClr val="000000"/>
                </a:solidFill>
              </a:rPr>
              <a:t> a </a:t>
            </a:r>
            <a:r>
              <a:rPr lang="en-US" sz="4500" dirty="0" err="1">
                <a:solidFill>
                  <a:srgbClr val="000000"/>
                </a:solidFill>
              </a:rPr>
              <a:t>los</a:t>
            </a:r>
            <a:r>
              <a:rPr lang="en-US" sz="4500" dirty="0">
                <a:solidFill>
                  <a:srgbClr val="000000"/>
                </a:solidFill>
              </a:rPr>
              <a:t> </a:t>
            </a:r>
            <a:r>
              <a:rPr lang="en-US" sz="4500" dirty="0" err="1">
                <a:solidFill>
                  <a:srgbClr val="000000"/>
                </a:solidFill>
              </a:rPr>
              <a:t>métodos</a:t>
            </a:r>
            <a:r>
              <a:rPr lang="en-US" sz="4500" dirty="0">
                <a:solidFill>
                  <a:srgbClr val="000000"/>
                </a:solidFill>
              </a:rPr>
              <a:t> </a:t>
            </a:r>
            <a:r>
              <a:rPr lang="en-US" sz="4500" dirty="0" err="1">
                <a:solidFill>
                  <a:srgbClr val="000000"/>
                </a:solidFill>
              </a:rPr>
              <a:t>constructores</a:t>
            </a:r>
            <a:r>
              <a:rPr lang="en-US" sz="4500" dirty="0">
                <a:solidFill>
                  <a:srgbClr val="000000"/>
                </a:solidFill>
              </a:rPr>
              <a:t> de  </a:t>
            </a:r>
            <a:r>
              <a:rPr lang="en-US" sz="4500" dirty="0" err="1">
                <a:solidFill>
                  <a:srgbClr val="000000"/>
                </a:solidFill>
              </a:rPr>
              <a:t>una</a:t>
            </a:r>
            <a:r>
              <a:rPr lang="en-US" sz="4500" dirty="0">
                <a:solidFill>
                  <a:srgbClr val="000000"/>
                </a:solidFill>
              </a:rPr>
              <a:t> </a:t>
            </a:r>
            <a:r>
              <a:rPr lang="en-US" sz="4500" dirty="0" err="1">
                <a:solidFill>
                  <a:srgbClr val="000000"/>
                </a:solidFill>
              </a:rPr>
              <a:t>clase</a:t>
            </a:r>
            <a:r>
              <a:rPr lang="en-US" sz="4500" dirty="0">
                <a:solidFill>
                  <a:srgbClr val="000000"/>
                </a:solidFill>
              </a:rPr>
              <a:t>.</a:t>
            </a:r>
          </a:p>
          <a:p>
            <a:pPr marL="914400" lvl="1" indent="-3429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28571"/>
              <a:buFont typeface="Courier New"/>
              <a:buChar char="o"/>
            </a:pPr>
            <a:r>
              <a:rPr lang="en-US" sz="3200" dirty="0">
                <a:solidFill>
                  <a:srgbClr val="000000"/>
                </a:solidFill>
              </a:rPr>
              <a:t>public: se </a:t>
            </a:r>
            <a:r>
              <a:rPr lang="en-US" sz="3200" dirty="0" err="1">
                <a:solidFill>
                  <a:srgbClr val="000000"/>
                </a:solidFill>
              </a:rPr>
              <a:t>puede</a:t>
            </a:r>
            <a:r>
              <a:rPr lang="en-US" sz="3200" dirty="0">
                <a:solidFill>
                  <a:srgbClr val="000000"/>
                </a:solidFill>
              </a:rPr>
              <a:t> </a:t>
            </a:r>
            <a:r>
              <a:rPr lang="en-US" sz="3200" dirty="0" err="1">
                <a:solidFill>
                  <a:srgbClr val="000000"/>
                </a:solidFill>
              </a:rPr>
              <a:t>hacer</a:t>
            </a:r>
            <a:r>
              <a:rPr lang="en-US" sz="3200" dirty="0">
                <a:solidFill>
                  <a:srgbClr val="000000"/>
                </a:solidFill>
              </a:rPr>
              <a:t> “new” </a:t>
            </a:r>
            <a:r>
              <a:rPr lang="en-US" sz="3200" dirty="0" err="1">
                <a:solidFill>
                  <a:srgbClr val="000000"/>
                </a:solidFill>
              </a:rPr>
              <a:t>desde</a:t>
            </a:r>
            <a:r>
              <a:rPr lang="en-US" sz="3200" dirty="0">
                <a:solidFill>
                  <a:srgbClr val="000000"/>
                </a:solidFill>
              </a:rPr>
              <a:t> </a:t>
            </a:r>
            <a:r>
              <a:rPr lang="en-US" sz="3200" dirty="0" err="1">
                <a:solidFill>
                  <a:srgbClr val="000000"/>
                </a:solidFill>
              </a:rPr>
              <a:t>cualquier</a:t>
            </a:r>
            <a:r>
              <a:rPr lang="en-US" sz="3200" dirty="0">
                <a:solidFill>
                  <a:srgbClr val="000000"/>
                </a:solidFill>
              </a:rPr>
              <a:t> </a:t>
            </a:r>
            <a:r>
              <a:rPr lang="en-US" sz="3200" dirty="0" err="1">
                <a:solidFill>
                  <a:srgbClr val="000000"/>
                </a:solidFill>
              </a:rPr>
              <a:t>clase</a:t>
            </a:r>
            <a:r>
              <a:rPr lang="en-US" sz="3200" dirty="0">
                <a:solidFill>
                  <a:srgbClr val="000000"/>
                </a:solidFill>
              </a:rPr>
              <a:t>.</a:t>
            </a:r>
          </a:p>
          <a:p>
            <a:pPr marL="914400" lvl="1" indent="-3429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28571"/>
              <a:buFont typeface="Courier New"/>
              <a:buChar char="o"/>
            </a:pPr>
            <a:r>
              <a:rPr lang="en-US" sz="3200" dirty="0">
                <a:solidFill>
                  <a:srgbClr val="000000"/>
                </a:solidFill>
              </a:rPr>
              <a:t>(package): </a:t>
            </a:r>
            <a:r>
              <a:rPr lang="en-US" sz="3200" dirty="0" err="1">
                <a:solidFill>
                  <a:srgbClr val="000000"/>
                </a:solidFill>
              </a:rPr>
              <a:t>sólo</a:t>
            </a:r>
            <a:r>
              <a:rPr lang="en-US" sz="3200" dirty="0">
                <a:solidFill>
                  <a:srgbClr val="000000"/>
                </a:solidFill>
              </a:rPr>
              <a:t> </a:t>
            </a:r>
            <a:r>
              <a:rPr lang="en-US" sz="3200" dirty="0" err="1">
                <a:solidFill>
                  <a:srgbClr val="000000"/>
                </a:solidFill>
              </a:rPr>
              <a:t>pueden</a:t>
            </a:r>
            <a:r>
              <a:rPr lang="en-US" sz="3200" dirty="0">
                <a:solidFill>
                  <a:srgbClr val="000000"/>
                </a:solidFill>
              </a:rPr>
              <a:t> </a:t>
            </a:r>
            <a:r>
              <a:rPr lang="en-US" sz="3200" dirty="0" err="1">
                <a:solidFill>
                  <a:srgbClr val="000000"/>
                </a:solidFill>
              </a:rPr>
              <a:t>hacer</a:t>
            </a:r>
            <a:r>
              <a:rPr lang="en-US" sz="3200" dirty="0">
                <a:solidFill>
                  <a:srgbClr val="000000"/>
                </a:solidFill>
              </a:rPr>
              <a:t> “new” </a:t>
            </a:r>
            <a:r>
              <a:rPr lang="en-US" sz="3200" dirty="0" err="1">
                <a:solidFill>
                  <a:srgbClr val="000000"/>
                </a:solidFill>
              </a:rPr>
              <a:t>desde</a:t>
            </a:r>
            <a:r>
              <a:rPr lang="en-US" sz="3200" dirty="0">
                <a:solidFill>
                  <a:srgbClr val="000000"/>
                </a:solidFill>
              </a:rPr>
              <a:t> </a:t>
            </a:r>
            <a:r>
              <a:rPr lang="en-US" sz="3200" dirty="0" err="1">
                <a:solidFill>
                  <a:srgbClr val="000000"/>
                </a:solidFill>
              </a:rPr>
              <a:t>clases</a:t>
            </a:r>
            <a:r>
              <a:rPr lang="en-US" sz="3200" dirty="0">
                <a:solidFill>
                  <a:srgbClr val="000000"/>
                </a:solidFill>
              </a:rPr>
              <a:t> </a:t>
            </a:r>
            <a:r>
              <a:rPr lang="en-US" sz="3200" dirty="0" err="1">
                <a:solidFill>
                  <a:srgbClr val="000000"/>
                </a:solidFill>
              </a:rPr>
              <a:t>pertenecientes</a:t>
            </a:r>
            <a:r>
              <a:rPr lang="en-US" sz="3200" dirty="0">
                <a:solidFill>
                  <a:srgbClr val="000000"/>
                </a:solidFill>
              </a:rPr>
              <a:t> al </a:t>
            </a:r>
            <a:r>
              <a:rPr lang="en-US" sz="3200" dirty="0" err="1">
                <a:solidFill>
                  <a:srgbClr val="000000"/>
                </a:solidFill>
              </a:rPr>
              <a:t>mismo</a:t>
            </a:r>
            <a:r>
              <a:rPr lang="en-US" sz="3200" dirty="0">
                <a:solidFill>
                  <a:srgbClr val="000000"/>
                </a:solidFill>
              </a:rPr>
              <a:t> </a:t>
            </a:r>
            <a:r>
              <a:rPr lang="en-US" sz="3200" dirty="0" err="1">
                <a:solidFill>
                  <a:srgbClr val="000000"/>
                </a:solidFill>
              </a:rPr>
              <a:t>paquete</a:t>
            </a:r>
            <a:r>
              <a:rPr lang="en-US" sz="3200" dirty="0">
                <a:solidFill>
                  <a:srgbClr val="000000"/>
                </a:solidFill>
              </a:rPr>
              <a:t> que </a:t>
            </a:r>
            <a:r>
              <a:rPr lang="en-US" sz="3200" dirty="0" err="1">
                <a:solidFill>
                  <a:srgbClr val="000000"/>
                </a:solidFill>
              </a:rPr>
              <a:t>ésta</a:t>
            </a:r>
            <a:r>
              <a:rPr lang="en-US" sz="3200" dirty="0">
                <a:solidFill>
                  <a:srgbClr val="000000"/>
                </a:solidFill>
              </a:rPr>
              <a:t>.</a:t>
            </a:r>
          </a:p>
          <a:p>
            <a:pPr marL="914400" lvl="1" indent="-3429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28571"/>
              <a:buFont typeface="Courier New"/>
              <a:buChar char="o"/>
            </a:pPr>
            <a:r>
              <a:rPr lang="en-US" sz="3200" dirty="0">
                <a:solidFill>
                  <a:srgbClr val="FF0000"/>
                </a:solidFill>
              </a:rPr>
              <a:t>protected: </a:t>
            </a:r>
            <a:r>
              <a:rPr lang="en-US" sz="3200" dirty="0" err="1">
                <a:solidFill>
                  <a:srgbClr val="FF0000"/>
                </a:solidFill>
              </a:rPr>
              <a:t>puede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hacer</a:t>
            </a:r>
            <a:r>
              <a:rPr lang="en-US" sz="3200" dirty="0">
                <a:solidFill>
                  <a:srgbClr val="FF0000"/>
                </a:solidFill>
              </a:rPr>
              <a:t> “new” </a:t>
            </a:r>
            <a:r>
              <a:rPr lang="en-US" sz="3200" dirty="0" err="1">
                <a:solidFill>
                  <a:srgbClr val="FF0000"/>
                </a:solidFill>
              </a:rPr>
              <a:t>desde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culaquier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clase</a:t>
            </a:r>
            <a:r>
              <a:rPr lang="en-US" sz="3200" dirty="0">
                <a:solidFill>
                  <a:srgbClr val="FF0000"/>
                </a:solidFill>
              </a:rPr>
              <a:t> que se declare </a:t>
            </a:r>
            <a:r>
              <a:rPr lang="en-US" sz="3200" dirty="0" err="1">
                <a:solidFill>
                  <a:srgbClr val="FF0000"/>
                </a:solidFill>
              </a:rPr>
              <a:t>como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hija</a:t>
            </a:r>
            <a:r>
              <a:rPr lang="en-US" sz="3200" dirty="0">
                <a:solidFill>
                  <a:srgbClr val="FF0000"/>
                </a:solidFill>
              </a:rPr>
              <a:t> de </a:t>
            </a:r>
            <a:r>
              <a:rPr lang="en-US" sz="3200" dirty="0" err="1">
                <a:solidFill>
                  <a:srgbClr val="FF0000"/>
                </a:solidFill>
              </a:rPr>
              <a:t>ésta</a:t>
            </a:r>
            <a:r>
              <a:rPr lang="en-US" sz="3200" dirty="0">
                <a:solidFill>
                  <a:srgbClr val="FF0000"/>
                </a:solidFill>
              </a:rPr>
              <a:t>, </a:t>
            </a:r>
            <a:r>
              <a:rPr lang="en-US" sz="3200" dirty="0" err="1">
                <a:solidFill>
                  <a:srgbClr val="FF0000"/>
                </a:solidFill>
              </a:rPr>
              <a:t>aunque</a:t>
            </a:r>
            <a:r>
              <a:rPr lang="en-US" sz="3200" dirty="0">
                <a:solidFill>
                  <a:srgbClr val="FF0000"/>
                </a:solidFill>
              </a:rPr>
              <a:t> no </a:t>
            </a:r>
            <a:r>
              <a:rPr lang="en-US" sz="3200" dirty="0" err="1">
                <a:solidFill>
                  <a:srgbClr val="FF0000"/>
                </a:solidFill>
              </a:rPr>
              <a:t>esté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en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el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mismo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paquete</a:t>
            </a:r>
            <a:r>
              <a:rPr lang="en-US" sz="3200" dirty="0">
                <a:solidFill>
                  <a:srgbClr val="000000"/>
                </a:solidFill>
              </a:rPr>
              <a:t>.</a:t>
            </a:r>
          </a:p>
          <a:p>
            <a:pPr marL="914400" lvl="1" indent="-3429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28571"/>
              <a:buFont typeface="Courier New"/>
              <a:buChar char="o"/>
            </a:pPr>
            <a:r>
              <a:rPr lang="en-US" sz="3200" dirty="0">
                <a:solidFill>
                  <a:srgbClr val="000000"/>
                </a:solidFill>
              </a:rPr>
              <a:t>private: no </a:t>
            </a:r>
            <a:r>
              <a:rPr lang="en-US" sz="3200" dirty="0" err="1">
                <a:solidFill>
                  <a:srgbClr val="000000"/>
                </a:solidFill>
              </a:rPr>
              <a:t>puede</a:t>
            </a:r>
            <a:r>
              <a:rPr lang="en-US" sz="3200" dirty="0">
                <a:solidFill>
                  <a:srgbClr val="000000"/>
                </a:solidFill>
              </a:rPr>
              <a:t> </a:t>
            </a:r>
            <a:r>
              <a:rPr lang="en-US" sz="3200" dirty="0" err="1">
                <a:solidFill>
                  <a:srgbClr val="000000"/>
                </a:solidFill>
              </a:rPr>
              <a:t>hacer</a:t>
            </a:r>
            <a:r>
              <a:rPr lang="en-US" sz="3200" dirty="0">
                <a:solidFill>
                  <a:srgbClr val="000000"/>
                </a:solidFill>
              </a:rPr>
              <a:t> “new” </a:t>
            </a:r>
            <a:r>
              <a:rPr lang="en-US" sz="3200" dirty="0" err="1">
                <a:solidFill>
                  <a:srgbClr val="000000"/>
                </a:solidFill>
              </a:rPr>
              <a:t>nadie</a:t>
            </a:r>
            <a:r>
              <a:rPr lang="en-US" sz="3200" dirty="0">
                <a:solidFill>
                  <a:srgbClr val="000000"/>
                </a:solidFill>
              </a:rPr>
              <a:t>, </a:t>
            </a:r>
            <a:r>
              <a:rPr lang="en-US" sz="3200" dirty="0" err="1">
                <a:solidFill>
                  <a:srgbClr val="000000"/>
                </a:solidFill>
              </a:rPr>
              <a:t>sólo</a:t>
            </a:r>
            <a:r>
              <a:rPr lang="en-US" sz="3200" dirty="0">
                <a:solidFill>
                  <a:srgbClr val="000000"/>
                </a:solidFill>
              </a:rPr>
              <a:t> </a:t>
            </a:r>
            <a:r>
              <a:rPr lang="en-US" sz="3200" dirty="0" err="1">
                <a:solidFill>
                  <a:srgbClr val="000000"/>
                </a:solidFill>
              </a:rPr>
              <a:t>el</a:t>
            </a:r>
            <a:r>
              <a:rPr lang="en-US" sz="3200" dirty="0">
                <a:solidFill>
                  <a:srgbClr val="000000"/>
                </a:solidFill>
              </a:rPr>
              <a:t> </a:t>
            </a:r>
            <a:r>
              <a:rPr lang="en-US" sz="3200" dirty="0" err="1">
                <a:solidFill>
                  <a:srgbClr val="000000"/>
                </a:solidFill>
              </a:rPr>
              <a:t>propio</a:t>
            </a:r>
            <a:r>
              <a:rPr lang="en-US" sz="3200" dirty="0">
                <a:solidFill>
                  <a:srgbClr val="000000"/>
                </a:solidFill>
              </a:rPr>
              <a:t> </a:t>
            </a:r>
            <a:r>
              <a:rPr lang="en-US" sz="3200" dirty="0" err="1">
                <a:solidFill>
                  <a:srgbClr val="000000"/>
                </a:solidFill>
              </a:rPr>
              <a:t>objeto</a:t>
            </a:r>
            <a:r>
              <a:rPr lang="en-US" sz="3200" dirty="0">
                <a:solidFill>
                  <a:srgbClr val="000000"/>
                </a:solidFill>
              </a:rPr>
              <a:t>. </a:t>
            </a:r>
            <a:r>
              <a:rPr lang="en-US" sz="3200" dirty="0" err="1">
                <a:solidFill>
                  <a:srgbClr val="000000"/>
                </a:solidFill>
              </a:rPr>
              <a:t>Esto</a:t>
            </a:r>
            <a:r>
              <a:rPr lang="en-US" sz="3200" dirty="0">
                <a:solidFill>
                  <a:srgbClr val="000000"/>
                </a:solidFill>
              </a:rPr>
              <a:t> </a:t>
            </a:r>
            <a:r>
              <a:rPr lang="en-US" sz="3200" dirty="0" err="1">
                <a:solidFill>
                  <a:srgbClr val="000000"/>
                </a:solidFill>
              </a:rPr>
              <a:t>sólo</a:t>
            </a:r>
            <a:r>
              <a:rPr lang="en-US" sz="3200" dirty="0">
                <a:solidFill>
                  <a:srgbClr val="000000"/>
                </a:solidFill>
              </a:rPr>
              <a:t> </a:t>
            </a:r>
            <a:r>
              <a:rPr lang="en-US" sz="3200" dirty="0" err="1">
                <a:solidFill>
                  <a:srgbClr val="000000"/>
                </a:solidFill>
              </a:rPr>
              <a:t>tiene</a:t>
            </a:r>
            <a:r>
              <a:rPr lang="en-US" sz="3200" dirty="0">
                <a:solidFill>
                  <a:srgbClr val="000000"/>
                </a:solidFill>
              </a:rPr>
              <a:t> </a:t>
            </a:r>
            <a:r>
              <a:rPr lang="en-US" sz="3200" dirty="0" err="1">
                <a:solidFill>
                  <a:srgbClr val="000000"/>
                </a:solidFill>
              </a:rPr>
              <a:t>sentido</a:t>
            </a:r>
            <a:r>
              <a:rPr lang="en-US" sz="3200" dirty="0">
                <a:solidFill>
                  <a:srgbClr val="000000"/>
                </a:solidFill>
              </a:rPr>
              <a:t> </a:t>
            </a:r>
            <a:r>
              <a:rPr lang="en-US" sz="3200" dirty="0" err="1">
                <a:solidFill>
                  <a:srgbClr val="000000"/>
                </a:solidFill>
              </a:rPr>
              <a:t>combinado</a:t>
            </a:r>
            <a:r>
              <a:rPr lang="en-US" sz="3200" dirty="0">
                <a:solidFill>
                  <a:srgbClr val="000000"/>
                </a:solidFill>
              </a:rPr>
              <a:t> con </a:t>
            </a:r>
            <a:r>
              <a:rPr lang="en-US" sz="3200" dirty="0" err="1">
                <a:solidFill>
                  <a:srgbClr val="000000"/>
                </a:solidFill>
              </a:rPr>
              <a:t>métodos</a:t>
            </a:r>
            <a:r>
              <a:rPr lang="en-US" sz="3200" dirty="0">
                <a:solidFill>
                  <a:srgbClr val="000000"/>
                </a:solidFill>
              </a:rPr>
              <a:t> o </a:t>
            </a:r>
            <a:r>
              <a:rPr lang="en-US" sz="3200" dirty="0" err="1">
                <a:solidFill>
                  <a:srgbClr val="000000"/>
                </a:solidFill>
              </a:rPr>
              <a:t>atributos</a:t>
            </a:r>
            <a:r>
              <a:rPr lang="en-US" sz="3200" dirty="0">
                <a:solidFill>
                  <a:srgbClr val="000000"/>
                </a:solidFill>
              </a:rPr>
              <a:t> </a:t>
            </a:r>
            <a:r>
              <a:rPr lang="en-US" sz="3200" dirty="0" err="1">
                <a:solidFill>
                  <a:srgbClr val="000000"/>
                </a:solidFill>
              </a:rPr>
              <a:t>estáticos</a:t>
            </a:r>
            <a:r>
              <a:rPr lang="en-US" sz="3200" dirty="0">
                <a:solidFill>
                  <a:srgbClr val="000000"/>
                </a:solidFill>
              </a:rPr>
              <a:t> </a:t>
            </a:r>
            <a:r>
              <a:rPr lang="en-US" sz="3200" dirty="0" err="1">
                <a:solidFill>
                  <a:srgbClr val="000000"/>
                </a:solidFill>
              </a:rPr>
              <a:t>como</a:t>
            </a:r>
            <a:r>
              <a:rPr lang="en-US" sz="3200" dirty="0">
                <a:solidFill>
                  <a:srgbClr val="000000"/>
                </a:solidFill>
              </a:rPr>
              <a:t> </a:t>
            </a:r>
            <a:r>
              <a:rPr lang="en-US" sz="3200" dirty="0" err="1">
                <a:solidFill>
                  <a:srgbClr val="000000"/>
                </a:solidFill>
              </a:rPr>
              <a:t>por</a:t>
            </a:r>
            <a:r>
              <a:rPr lang="en-US" sz="3200" dirty="0">
                <a:solidFill>
                  <a:srgbClr val="000000"/>
                </a:solidFill>
              </a:rPr>
              <a:t> </a:t>
            </a:r>
            <a:r>
              <a:rPr lang="en-US" sz="3200" dirty="0" err="1">
                <a:solidFill>
                  <a:srgbClr val="000000"/>
                </a:solidFill>
              </a:rPr>
              <a:t>ejemplo</a:t>
            </a:r>
            <a:r>
              <a:rPr lang="en-US" sz="3200" dirty="0">
                <a:solidFill>
                  <a:srgbClr val="000000"/>
                </a:solidFill>
              </a:rPr>
              <a:t>, </a:t>
            </a:r>
            <a:r>
              <a:rPr lang="en-US" sz="3200" dirty="0" err="1">
                <a:solidFill>
                  <a:srgbClr val="000000"/>
                </a:solidFill>
              </a:rPr>
              <a:t>el</a:t>
            </a:r>
            <a:r>
              <a:rPr lang="en-US" sz="3200" dirty="0">
                <a:solidFill>
                  <a:srgbClr val="000000"/>
                </a:solidFill>
              </a:rPr>
              <a:t> que propone </a:t>
            </a:r>
            <a:r>
              <a:rPr lang="en-US" sz="3200" dirty="0" err="1">
                <a:solidFill>
                  <a:srgbClr val="000000"/>
                </a:solidFill>
              </a:rPr>
              <a:t>el</a:t>
            </a:r>
            <a:r>
              <a:rPr lang="en-US" sz="3200" dirty="0">
                <a:solidFill>
                  <a:srgbClr val="000000"/>
                </a:solidFill>
              </a:rPr>
              <a:t> </a:t>
            </a:r>
            <a:r>
              <a:rPr lang="en-US" sz="3200" dirty="0" err="1">
                <a:solidFill>
                  <a:srgbClr val="000000"/>
                </a:solidFill>
              </a:rPr>
              <a:t>patrón</a:t>
            </a:r>
            <a:r>
              <a:rPr lang="en-US" sz="3200" dirty="0">
                <a:solidFill>
                  <a:srgbClr val="000000"/>
                </a:solidFill>
              </a:rPr>
              <a:t> “Singleton” que </a:t>
            </a:r>
            <a:r>
              <a:rPr lang="en-US" sz="3200" dirty="0" err="1">
                <a:solidFill>
                  <a:srgbClr val="000000"/>
                </a:solidFill>
              </a:rPr>
              <a:t>veremos</a:t>
            </a:r>
            <a:r>
              <a:rPr lang="en-US" sz="3200" dirty="0">
                <a:solidFill>
                  <a:srgbClr val="000000"/>
                </a:solidFill>
              </a:rPr>
              <a:t> </a:t>
            </a:r>
            <a:r>
              <a:rPr lang="en-US" sz="3200" dirty="0" err="1">
                <a:solidFill>
                  <a:srgbClr val="000000"/>
                </a:solidFill>
              </a:rPr>
              <a:t>más</a:t>
            </a:r>
            <a:r>
              <a:rPr lang="en-US" sz="3200" dirty="0">
                <a:solidFill>
                  <a:srgbClr val="000000"/>
                </a:solidFill>
              </a:rPr>
              <a:t> </a:t>
            </a:r>
            <a:r>
              <a:rPr lang="en-US" sz="3200" dirty="0" err="1">
                <a:solidFill>
                  <a:srgbClr val="000000"/>
                </a:solidFill>
              </a:rPr>
              <a:t>adelante</a:t>
            </a:r>
            <a:r>
              <a:rPr lang="en-US" sz="3200" dirty="0">
                <a:solidFill>
                  <a:srgbClr val="000000"/>
                </a:solidFill>
              </a:rPr>
              <a:t>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124923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Circuito</Template>
  <TotalTime>2062</TotalTime>
  <Words>1107</Words>
  <Application>Microsoft Office PowerPoint</Application>
  <PresentationFormat>Panorámica</PresentationFormat>
  <Paragraphs>67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Circuito</vt:lpstr>
      <vt:lpstr>Desarrollo de Clases</vt:lpstr>
      <vt:lpstr>El método Main</vt:lpstr>
      <vt:lpstr>String [] args</vt:lpstr>
      <vt:lpstr>Clase Main</vt:lpstr>
      <vt:lpstr>No static</vt:lpstr>
      <vt:lpstr>Ejemplo no Static</vt:lpstr>
      <vt:lpstr>static</vt:lpstr>
      <vt:lpstr>Ejemplo static</vt:lpstr>
      <vt:lpstr>Static y No static pueden coexistir…</vt:lpstr>
      <vt:lpstr>Organización del código</vt:lpstr>
      <vt:lpstr>Overloading</vt:lpstr>
      <vt:lpstr>Organización del código</vt:lpstr>
      <vt:lpstr>Encapsulación y visibilidad</vt:lpstr>
      <vt:lpstr>Encapsulación y visibilidad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la programación</dc:title>
  <dc:creator>SChiesa</dc:creator>
  <cp:lastModifiedBy>SChiesa</cp:lastModifiedBy>
  <cp:revision>37</cp:revision>
  <dcterms:created xsi:type="dcterms:W3CDTF">2022-09-10T09:06:03Z</dcterms:created>
  <dcterms:modified xsi:type="dcterms:W3CDTF">2022-12-11T15:18:05Z</dcterms:modified>
</cp:coreProperties>
</file>