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0"/>
  </p:notesMasterIdLst>
  <p:sldIdLst>
    <p:sldId id="256" r:id="rId2"/>
    <p:sldId id="257" r:id="rId3"/>
    <p:sldId id="258" r:id="rId4"/>
    <p:sldId id="259" r:id="rId5"/>
    <p:sldId id="260" r:id="rId6"/>
    <p:sldId id="261" r:id="rId7"/>
    <p:sldId id="262" r:id="rId8"/>
    <p:sldId id="269" r:id="rId9"/>
    <p:sldId id="270" r:id="rId10"/>
    <p:sldId id="263" r:id="rId11"/>
    <p:sldId id="264" r:id="rId12"/>
    <p:sldId id="271" r:id="rId13"/>
    <p:sldId id="265" r:id="rId14"/>
    <p:sldId id="266" r:id="rId15"/>
    <p:sldId id="267" r:id="rId16"/>
    <p:sldId id="273" r:id="rId17"/>
    <p:sldId id="268"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A851865-6A2E-4E15-965B-7BD9BEB27286}">
          <p14:sldIdLst>
            <p14:sldId id="256"/>
            <p14:sldId id="257"/>
            <p14:sldId id="258"/>
            <p14:sldId id="259"/>
            <p14:sldId id="260"/>
            <p14:sldId id="261"/>
            <p14:sldId id="262"/>
            <p14:sldId id="269"/>
            <p14:sldId id="270"/>
            <p14:sldId id="263"/>
            <p14:sldId id="264"/>
            <p14:sldId id="271"/>
            <p14:sldId id="265"/>
            <p14:sldId id="266"/>
            <p14:sldId id="267"/>
            <p14:sldId id="273"/>
            <p14:sldId id="268"/>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576"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EC63E5-E612-4798-83B5-FEE8583B8D85}" type="datetimeFigureOut">
              <a:rPr lang="es-ES" smtClean="0"/>
              <a:t>12/02/2023</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77B384-FB42-438C-97CA-E8E772628748}" type="slidenum">
              <a:rPr lang="es-ES" smtClean="0"/>
              <a:t>‹Nº›</a:t>
            </a:fld>
            <a:endParaRPr lang="es-ES" dirty="0"/>
          </a:p>
        </p:txBody>
      </p:sp>
    </p:spTree>
    <p:extLst>
      <p:ext uri="{BB962C8B-B14F-4D97-AF65-F5344CB8AC3E}">
        <p14:creationId xmlns:p14="http://schemas.microsoft.com/office/powerpoint/2010/main" val="2950923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0E0D341-7D63-4718-93BC-7EE0D41121A0}" type="datetimeFigureOut">
              <a:rPr lang="es-ES" smtClean="0"/>
              <a:t>12/02/2023</a:t>
            </a:fld>
            <a:endParaRPr lang="es-ES" dirty="0"/>
          </a:p>
        </p:txBody>
      </p:sp>
      <p:sp>
        <p:nvSpPr>
          <p:cNvPr id="5" name="Footer Placeholder 4"/>
          <p:cNvSpPr>
            <a:spLocks noGrp="1"/>
          </p:cNvSpPr>
          <p:nvPr>
            <p:ph type="ftr" sz="quarter" idx="11"/>
          </p:nvPr>
        </p:nvSpPr>
        <p:spPr>
          <a:xfrm>
            <a:off x="1876424" y="5410201"/>
            <a:ext cx="5124886" cy="365125"/>
          </a:xfrm>
        </p:spPr>
        <p:txBody>
          <a:bodyPr/>
          <a:lstStyle/>
          <a:p>
            <a:endParaRPr lang="es-ES" dirty="0"/>
          </a:p>
        </p:txBody>
      </p:sp>
      <p:sp>
        <p:nvSpPr>
          <p:cNvPr id="6" name="Slide Number Placeholder 5"/>
          <p:cNvSpPr>
            <a:spLocks noGrp="1"/>
          </p:cNvSpPr>
          <p:nvPr>
            <p:ph type="sldNum" sz="quarter" idx="12"/>
          </p:nvPr>
        </p:nvSpPr>
        <p:spPr>
          <a:xfrm>
            <a:off x="9896911" y="5410199"/>
            <a:ext cx="771089" cy="365125"/>
          </a:xfrm>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4183177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141413" y="52753"/>
            <a:ext cx="9905998" cy="627185"/>
          </a:xfrm>
        </p:spPr>
        <p:txBody>
          <a:bodyPr/>
          <a:lstStyle/>
          <a:p>
            <a:r>
              <a:rPr lang="es-ES" dirty="0"/>
              <a:t>Haga clic para modificar el estilo de título del patrón</a:t>
            </a:r>
            <a:endParaRPr lang="en-US" dirty="0"/>
          </a:p>
        </p:txBody>
      </p:sp>
      <p:sp>
        <p:nvSpPr>
          <p:cNvPr id="3" name="Content Placeholder 2"/>
          <p:cNvSpPr>
            <a:spLocks noGrp="1"/>
          </p:cNvSpPr>
          <p:nvPr>
            <p:ph idx="1"/>
          </p:nvPr>
        </p:nvSpPr>
        <p:spPr>
          <a:xfrm>
            <a:off x="1141412" y="762000"/>
            <a:ext cx="9905999" cy="5678122"/>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322105" y="6440122"/>
            <a:ext cx="2743200" cy="365125"/>
          </a:xfrm>
        </p:spPr>
        <p:txBody>
          <a:bodyPr/>
          <a:lstStyle/>
          <a:p>
            <a:fld id="{B0E0D341-7D63-4718-93BC-7EE0D41121A0}" type="datetimeFigureOut">
              <a:rPr lang="es-ES" smtClean="0"/>
              <a:t>12/02/2023</a:t>
            </a:fld>
            <a:endParaRPr lang="es-ES" dirty="0"/>
          </a:p>
        </p:txBody>
      </p:sp>
      <p:sp>
        <p:nvSpPr>
          <p:cNvPr id="5" name="Footer Placeholder 4"/>
          <p:cNvSpPr>
            <a:spLocks noGrp="1"/>
          </p:cNvSpPr>
          <p:nvPr>
            <p:ph type="ftr" sz="quarter" idx="11"/>
          </p:nvPr>
        </p:nvSpPr>
        <p:spPr>
          <a:xfrm>
            <a:off x="983149" y="6440122"/>
            <a:ext cx="6239309" cy="365125"/>
          </a:xfrm>
        </p:spPr>
        <p:txBody>
          <a:bodyPr/>
          <a:lstStyle/>
          <a:p>
            <a:endParaRPr lang="es-ES" dirty="0"/>
          </a:p>
        </p:txBody>
      </p:sp>
      <p:sp>
        <p:nvSpPr>
          <p:cNvPr id="6" name="Slide Number Placeholder 5"/>
          <p:cNvSpPr>
            <a:spLocks noGrp="1"/>
          </p:cNvSpPr>
          <p:nvPr>
            <p:ph type="sldNum" sz="quarter" idx="12"/>
          </p:nvPr>
        </p:nvSpPr>
        <p:spPr>
          <a:xfrm>
            <a:off x="10264598" y="6482007"/>
            <a:ext cx="771089" cy="365125"/>
          </a:xfrm>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969082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267542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419446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8" name="Footer Placeholder 7"/>
          <p:cNvSpPr>
            <a:spLocks noGrp="1"/>
          </p:cNvSpPr>
          <p:nvPr>
            <p:ph type="ftr" sz="quarter" idx="11"/>
          </p:nvPr>
        </p:nvSpPr>
        <p:spPr/>
        <p:txBody>
          <a:bodyPr/>
          <a:lstStyle/>
          <a:p>
            <a:endParaRPr lang="es-ES" dirty="0"/>
          </a:p>
        </p:txBody>
      </p:sp>
      <p:sp>
        <p:nvSpPr>
          <p:cNvPr id="9" name="Slide Number Placeholder 8"/>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301135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4021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494915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81889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521703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dirty="0"/>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728263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699557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34356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813496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607423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7509999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26792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0E0D341-7D63-4718-93BC-7EE0D41121A0}" type="datetimeFigureOut">
              <a:rPr lang="es-ES" smtClean="0"/>
              <a:t>12/02/2023</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570264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0E0D341-7D63-4718-93BC-7EE0D41121A0}" type="datetimeFigureOut">
              <a:rPr lang="es-ES" smtClean="0"/>
              <a:t>12/02/2023</a:t>
            </a:fld>
            <a:endParaRPr lang="es-E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E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13464430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7F8FD9-B607-0741-7085-1F122FA01320}"/>
              </a:ext>
            </a:extLst>
          </p:cNvPr>
          <p:cNvSpPr>
            <a:spLocks noGrp="1"/>
          </p:cNvSpPr>
          <p:nvPr>
            <p:ph type="ctrTitle"/>
          </p:nvPr>
        </p:nvSpPr>
        <p:spPr>
          <a:xfrm>
            <a:off x="1876424" y="1122363"/>
            <a:ext cx="9867341" cy="2387600"/>
          </a:xfrm>
        </p:spPr>
        <p:txBody>
          <a:bodyPr/>
          <a:lstStyle/>
          <a:p>
            <a:r>
              <a:rPr lang="es-ES" dirty="0"/>
              <a:t>Manejo de Excepciones</a:t>
            </a:r>
          </a:p>
        </p:txBody>
      </p:sp>
      <p:sp>
        <p:nvSpPr>
          <p:cNvPr id="3" name="Subtítulo 2">
            <a:extLst>
              <a:ext uri="{FF2B5EF4-FFF2-40B4-BE49-F238E27FC236}">
                <a16:creationId xmlns:a16="http://schemas.microsoft.com/office/drawing/2014/main" id="{FCA8AE28-4B06-3AF7-6438-0933E99DBB4F}"/>
              </a:ext>
            </a:extLst>
          </p:cNvPr>
          <p:cNvSpPr>
            <a:spLocks noGrp="1"/>
          </p:cNvSpPr>
          <p:nvPr>
            <p:ph type="subTitle" idx="1"/>
          </p:nvPr>
        </p:nvSpPr>
        <p:spPr/>
        <p:txBody>
          <a:bodyPr/>
          <a:lstStyle/>
          <a:p>
            <a:r>
              <a:rPr lang="es-ES" dirty="0"/>
              <a:t>IES Rosa </a:t>
            </a:r>
            <a:r>
              <a:rPr lang="es-ES" dirty="0" err="1"/>
              <a:t>chacel</a:t>
            </a:r>
            <a:endParaRPr lang="es-ES" dirty="0"/>
          </a:p>
        </p:txBody>
      </p:sp>
    </p:spTree>
    <p:extLst>
      <p:ext uri="{BB962C8B-B14F-4D97-AF65-F5344CB8AC3E}">
        <p14:creationId xmlns:p14="http://schemas.microsoft.com/office/powerpoint/2010/main" val="2234276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875369-197B-C0C4-B5AE-ED8DD2DE69AD}"/>
              </a:ext>
            </a:extLst>
          </p:cNvPr>
          <p:cNvSpPr>
            <a:spLocks noGrp="1"/>
          </p:cNvSpPr>
          <p:nvPr>
            <p:ph type="title"/>
          </p:nvPr>
        </p:nvSpPr>
        <p:spPr/>
        <p:txBody>
          <a:bodyPr/>
          <a:lstStyle/>
          <a:p>
            <a:r>
              <a:rPr lang="es-ES" dirty="0"/>
              <a:t>Concepto	</a:t>
            </a:r>
          </a:p>
        </p:txBody>
      </p:sp>
      <p:sp>
        <p:nvSpPr>
          <p:cNvPr id="3" name="Marcador de contenido 2">
            <a:extLst>
              <a:ext uri="{FF2B5EF4-FFF2-40B4-BE49-F238E27FC236}">
                <a16:creationId xmlns:a16="http://schemas.microsoft.com/office/drawing/2014/main" id="{F9944128-5447-CE0A-4C3B-9F34E44F7630}"/>
              </a:ext>
            </a:extLst>
          </p:cNvPr>
          <p:cNvSpPr>
            <a:spLocks noGrp="1"/>
          </p:cNvSpPr>
          <p:nvPr>
            <p:ph idx="1"/>
          </p:nvPr>
        </p:nvSpPr>
        <p:spPr/>
        <p:txBody>
          <a:bodyPr>
            <a:normAutofit/>
          </a:bodyPr>
          <a:lstStyle/>
          <a:p>
            <a:r>
              <a:rPr lang="es-ES" sz="3200" dirty="0"/>
              <a:t>Una excepción es un error (fallo del programa) que ocurre </a:t>
            </a:r>
            <a:r>
              <a:rPr lang="es-ES" sz="3200" b="1" dirty="0"/>
              <a:t>en tiempo de ejecución</a:t>
            </a:r>
          </a:p>
          <a:p>
            <a:r>
              <a:rPr lang="es-ES" sz="3200" dirty="0"/>
              <a:t>Cuando un error ocurre, lo más normal es que se detenga el programa y se proporcione un mensaje que explique el fallo</a:t>
            </a:r>
          </a:p>
          <a:p>
            <a:r>
              <a:rPr lang="es-ES" sz="3200" dirty="0"/>
              <a:t>Java proporciona un mecanismo para controlar situaciones que normalmente provocarían la interrupción de ejecución, permitiendo gestionar él comportamiento del programa en caso de error</a:t>
            </a:r>
          </a:p>
        </p:txBody>
      </p:sp>
    </p:spTree>
    <p:extLst>
      <p:ext uri="{BB962C8B-B14F-4D97-AF65-F5344CB8AC3E}">
        <p14:creationId xmlns:p14="http://schemas.microsoft.com/office/powerpoint/2010/main" val="431151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CB5DD5-6F95-0220-0979-5479754DD889}"/>
              </a:ext>
            </a:extLst>
          </p:cNvPr>
          <p:cNvSpPr>
            <a:spLocks noGrp="1"/>
          </p:cNvSpPr>
          <p:nvPr>
            <p:ph type="title"/>
          </p:nvPr>
        </p:nvSpPr>
        <p:spPr/>
        <p:txBody>
          <a:bodyPr/>
          <a:lstStyle/>
          <a:p>
            <a:r>
              <a:rPr lang="es-ES" dirty="0"/>
              <a:t>Manejo de errores “pesimista”</a:t>
            </a:r>
          </a:p>
        </p:txBody>
      </p:sp>
      <p:sp>
        <p:nvSpPr>
          <p:cNvPr id="3" name="Marcador de contenido 2">
            <a:extLst>
              <a:ext uri="{FF2B5EF4-FFF2-40B4-BE49-F238E27FC236}">
                <a16:creationId xmlns:a16="http://schemas.microsoft.com/office/drawing/2014/main" id="{E5CD75B7-56AD-1809-3198-26B987215E2F}"/>
              </a:ext>
            </a:extLst>
          </p:cNvPr>
          <p:cNvSpPr>
            <a:spLocks noGrp="1"/>
          </p:cNvSpPr>
          <p:nvPr>
            <p:ph idx="1"/>
          </p:nvPr>
        </p:nvSpPr>
        <p:spPr/>
        <p:txBody>
          <a:bodyPr>
            <a:normAutofit/>
          </a:bodyPr>
          <a:lstStyle/>
          <a:p>
            <a:r>
              <a:rPr lang="es-ES" sz="4000" dirty="0"/>
              <a:t>Una forma para evitar los errores, consiste en proteger las zonas peligrosas usando </a:t>
            </a:r>
            <a:r>
              <a:rPr lang="es-ES" sz="4000" dirty="0" err="1"/>
              <a:t>if</a:t>
            </a:r>
            <a:r>
              <a:rPr lang="es-ES" sz="4000" dirty="0"/>
              <a:t> que aseguren que los datos sean los adecuados.</a:t>
            </a:r>
          </a:p>
          <a:p>
            <a:r>
              <a:rPr lang="es-ES" sz="4000" dirty="0"/>
              <a:t>Este enfoque tiene dos problemas</a:t>
            </a:r>
          </a:p>
          <a:p>
            <a:pPr lvl="1"/>
            <a:r>
              <a:rPr lang="es-ES" sz="3600" dirty="0"/>
              <a:t>Es difícil prever todos los posibles fallos</a:t>
            </a:r>
          </a:p>
          <a:p>
            <a:pPr lvl="1"/>
            <a:r>
              <a:rPr lang="es-ES" sz="3600" dirty="0"/>
              <a:t>Si los datos son correctos, estoy sobrecargando el programa con </a:t>
            </a:r>
            <a:r>
              <a:rPr lang="es-ES" sz="3600" dirty="0" err="1"/>
              <a:t>if</a:t>
            </a:r>
            <a:r>
              <a:rPr lang="es-ES" sz="3600" dirty="0"/>
              <a:t> “innecesarios”</a:t>
            </a:r>
          </a:p>
        </p:txBody>
      </p:sp>
    </p:spTree>
    <p:extLst>
      <p:ext uri="{BB962C8B-B14F-4D97-AF65-F5344CB8AC3E}">
        <p14:creationId xmlns:p14="http://schemas.microsoft.com/office/powerpoint/2010/main" val="2411692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5BCA8-0F15-D092-AB65-5D5C655A454C}"/>
              </a:ext>
            </a:extLst>
          </p:cNvPr>
          <p:cNvSpPr>
            <a:spLocks noGrp="1"/>
          </p:cNvSpPr>
          <p:nvPr>
            <p:ph type="title"/>
          </p:nvPr>
        </p:nvSpPr>
        <p:spPr/>
        <p:txBody>
          <a:bodyPr/>
          <a:lstStyle/>
          <a:p>
            <a:r>
              <a:rPr lang="es-ES" dirty="0"/>
              <a:t>Manejo de excepciones “optimista”</a:t>
            </a:r>
          </a:p>
        </p:txBody>
      </p:sp>
      <p:sp>
        <p:nvSpPr>
          <p:cNvPr id="3" name="Marcador de contenido 2">
            <a:extLst>
              <a:ext uri="{FF2B5EF4-FFF2-40B4-BE49-F238E27FC236}">
                <a16:creationId xmlns:a16="http://schemas.microsoft.com/office/drawing/2014/main" id="{8C0FD14B-7DFC-A918-766A-7AD17CBB115D}"/>
              </a:ext>
            </a:extLst>
          </p:cNvPr>
          <p:cNvSpPr>
            <a:spLocks noGrp="1"/>
          </p:cNvSpPr>
          <p:nvPr>
            <p:ph idx="1"/>
          </p:nvPr>
        </p:nvSpPr>
        <p:spPr>
          <a:xfrm>
            <a:off x="1141412" y="563671"/>
            <a:ext cx="9905999" cy="6187857"/>
          </a:xfrm>
        </p:spPr>
        <p:txBody>
          <a:bodyPr>
            <a:normAutofit fontScale="85000" lnSpcReduction="20000"/>
          </a:bodyPr>
          <a:lstStyle/>
          <a:p>
            <a:r>
              <a:rPr lang="es-ES" sz="3500" dirty="0"/>
              <a:t>Se asume que la mayoría de las veces el código “peligroso” no provocará fallos. En el caso en que un error ocurra, se ejecuta una porción de código extra en lugar de parar la ejecución.</a:t>
            </a:r>
          </a:p>
          <a:p>
            <a:r>
              <a:rPr lang="es-ES" sz="3500" dirty="0"/>
              <a:t>Para esto en java se protege el código potencialmente peligroso usando una estructura try-catch</a:t>
            </a:r>
          </a:p>
          <a:p>
            <a:r>
              <a:rPr lang="es-ES" sz="3500" dirty="0"/>
              <a:t>try{</a:t>
            </a:r>
            <a:br>
              <a:rPr lang="es-ES" sz="3500" dirty="0"/>
            </a:br>
            <a:r>
              <a:rPr lang="es-ES" sz="3500" dirty="0"/>
              <a:t>	 //código que puede causar errores</a:t>
            </a:r>
            <a:br>
              <a:rPr lang="es-ES" sz="3500" dirty="0"/>
            </a:br>
            <a:r>
              <a:rPr lang="es-ES" sz="3500" dirty="0"/>
              <a:t>}</a:t>
            </a:r>
            <a:br>
              <a:rPr lang="es-ES" sz="3500" dirty="0"/>
            </a:br>
            <a:r>
              <a:rPr lang="es-ES" sz="3500" dirty="0"/>
              <a:t>catch (</a:t>
            </a:r>
            <a:r>
              <a:rPr lang="es-ES" sz="3500" dirty="0" err="1"/>
              <a:t>Exception</a:t>
            </a:r>
            <a:r>
              <a:rPr lang="es-ES" sz="3500" dirty="0"/>
              <a:t> e){</a:t>
            </a:r>
          </a:p>
          <a:p>
            <a:pPr marL="0" indent="0">
              <a:buNone/>
            </a:pPr>
            <a:r>
              <a:rPr lang="es-ES" sz="3500" dirty="0"/>
              <a:t>	//código que se ejecuta si un error ocurre</a:t>
            </a:r>
          </a:p>
          <a:p>
            <a:pPr marL="0" indent="0">
              <a:buNone/>
            </a:pPr>
            <a:r>
              <a:rPr lang="es-ES" sz="3500" dirty="0"/>
              <a:t>   }</a:t>
            </a:r>
          </a:p>
          <a:p>
            <a:pPr marL="0" indent="0">
              <a:buNone/>
            </a:pPr>
            <a:endParaRPr lang="es-ES" dirty="0"/>
          </a:p>
        </p:txBody>
      </p:sp>
    </p:spTree>
    <p:extLst>
      <p:ext uri="{BB962C8B-B14F-4D97-AF65-F5344CB8AC3E}">
        <p14:creationId xmlns:p14="http://schemas.microsoft.com/office/powerpoint/2010/main" val="1028054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A51E7-61D8-F47B-98B6-AB57A4F3E7C1}"/>
              </a:ext>
            </a:extLst>
          </p:cNvPr>
          <p:cNvSpPr>
            <a:spLocks noGrp="1"/>
          </p:cNvSpPr>
          <p:nvPr>
            <p:ph type="title"/>
          </p:nvPr>
        </p:nvSpPr>
        <p:spPr/>
        <p:txBody>
          <a:bodyPr/>
          <a:lstStyle/>
          <a:p>
            <a:r>
              <a:rPr lang="es-ES" dirty="0"/>
              <a:t>Pesimista vs optimista</a:t>
            </a:r>
          </a:p>
        </p:txBody>
      </p:sp>
      <p:pic>
        <p:nvPicPr>
          <p:cNvPr id="5" name="Imagen 4">
            <a:extLst>
              <a:ext uri="{FF2B5EF4-FFF2-40B4-BE49-F238E27FC236}">
                <a16:creationId xmlns:a16="http://schemas.microsoft.com/office/drawing/2014/main" id="{2C0C08C9-D88F-AE14-8513-722A9FA5E1A5}"/>
              </a:ext>
            </a:extLst>
          </p:cNvPr>
          <p:cNvPicPr>
            <a:picLocks noChangeAspect="1"/>
          </p:cNvPicPr>
          <p:nvPr/>
        </p:nvPicPr>
        <p:blipFill>
          <a:blip r:embed="rId2"/>
          <a:stretch>
            <a:fillRect/>
          </a:stretch>
        </p:blipFill>
        <p:spPr>
          <a:xfrm>
            <a:off x="0" y="1336634"/>
            <a:ext cx="6296289" cy="3896268"/>
          </a:xfrm>
          <a:prstGeom prst="rect">
            <a:avLst/>
          </a:prstGeom>
        </p:spPr>
      </p:pic>
      <p:pic>
        <p:nvPicPr>
          <p:cNvPr id="7" name="Imagen 6">
            <a:extLst>
              <a:ext uri="{FF2B5EF4-FFF2-40B4-BE49-F238E27FC236}">
                <a16:creationId xmlns:a16="http://schemas.microsoft.com/office/drawing/2014/main" id="{545881B8-4F89-4F25-A175-1FDB4C4800A3}"/>
              </a:ext>
            </a:extLst>
          </p:cNvPr>
          <p:cNvPicPr>
            <a:picLocks noChangeAspect="1"/>
          </p:cNvPicPr>
          <p:nvPr/>
        </p:nvPicPr>
        <p:blipFill>
          <a:blip r:embed="rId3"/>
          <a:stretch>
            <a:fillRect/>
          </a:stretch>
        </p:blipFill>
        <p:spPr>
          <a:xfrm>
            <a:off x="6296289" y="1218001"/>
            <a:ext cx="5899646" cy="4014901"/>
          </a:xfrm>
          <a:prstGeom prst="rect">
            <a:avLst/>
          </a:prstGeom>
        </p:spPr>
      </p:pic>
    </p:spTree>
    <p:extLst>
      <p:ext uri="{BB962C8B-B14F-4D97-AF65-F5344CB8AC3E}">
        <p14:creationId xmlns:p14="http://schemas.microsoft.com/office/powerpoint/2010/main" val="3324330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BA1CD1-262A-983F-9D96-EB1A10B52381}"/>
              </a:ext>
            </a:extLst>
          </p:cNvPr>
          <p:cNvSpPr>
            <a:spLocks noGrp="1"/>
          </p:cNvSpPr>
          <p:nvPr>
            <p:ph type="title"/>
          </p:nvPr>
        </p:nvSpPr>
        <p:spPr/>
        <p:txBody>
          <a:bodyPr/>
          <a:lstStyle/>
          <a:p>
            <a:r>
              <a:rPr lang="es-ES" dirty="0"/>
              <a:t>Clase </a:t>
            </a:r>
            <a:r>
              <a:rPr lang="es-ES" dirty="0" err="1"/>
              <a:t>exception</a:t>
            </a:r>
            <a:endParaRPr lang="es-ES" dirty="0"/>
          </a:p>
        </p:txBody>
      </p:sp>
      <p:sp>
        <p:nvSpPr>
          <p:cNvPr id="3" name="Marcador de contenido 2">
            <a:extLst>
              <a:ext uri="{FF2B5EF4-FFF2-40B4-BE49-F238E27FC236}">
                <a16:creationId xmlns:a16="http://schemas.microsoft.com/office/drawing/2014/main" id="{7C22190F-FA93-A5FA-3BE3-15AB122BB4AE}"/>
              </a:ext>
            </a:extLst>
          </p:cNvPr>
          <p:cNvSpPr>
            <a:spLocks noGrp="1"/>
          </p:cNvSpPr>
          <p:nvPr>
            <p:ph idx="1"/>
          </p:nvPr>
        </p:nvSpPr>
        <p:spPr>
          <a:xfrm>
            <a:off x="1141412" y="507304"/>
            <a:ext cx="9905999" cy="5932818"/>
          </a:xfrm>
        </p:spPr>
        <p:txBody>
          <a:bodyPr>
            <a:normAutofit fontScale="92500"/>
          </a:bodyPr>
          <a:lstStyle/>
          <a:p>
            <a:r>
              <a:rPr lang="es-ES" sz="3200" dirty="0"/>
              <a:t>Cuando hay una excepción, la JVM crea un objeto de la clase </a:t>
            </a:r>
            <a:r>
              <a:rPr lang="es-ES" sz="3200" dirty="0" err="1"/>
              <a:t>Exception</a:t>
            </a:r>
            <a:r>
              <a:rPr lang="es-ES" sz="3200" dirty="0"/>
              <a:t> (o un objeto de una clase que hereda de ella).</a:t>
            </a:r>
          </a:p>
          <a:p>
            <a:r>
              <a:rPr lang="es-ES" sz="3200" dirty="0"/>
              <a:t>En este objeto se guarda la información relevante del error: quien lo ha producido, cuándo, qué ha causado el error…</a:t>
            </a:r>
          </a:p>
          <a:p>
            <a:r>
              <a:rPr lang="es-ES" sz="3200" dirty="0"/>
              <a:t>Un mismo código “peligroso” podría causar distintos tipos de excepciones. La JVM creará un objecto de la subclase más apropiada</a:t>
            </a:r>
          </a:p>
          <a:p>
            <a:pPr lvl="1"/>
            <a:r>
              <a:rPr lang="es-ES" sz="2800" dirty="0" err="1"/>
              <a:t>NullPointerException</a:t>
            </a:r>
            <a:endParaRPr lang="es-ES" sz="2800" dirty="0"/>
          </a:p>
          <a:p>
            <a:pPr lvl="1"/>
            <a:r>
              <a:rPr lang="es-ES" sz="2800" dirty="0" err="1"/>
              <a:t>NumberFormatException</a:t>
            </a:r>
            <a:endParaRPr lang="es-ES" sz="2800" dirty="0"/>
          </a:p>
          <a:p>
            <a:pPr lvl="1"/>
            <a:r>
              <a:rPr lang="es-ES" sz="2800" dirty="0" err="1"/>
              <a:t>IOException</a:t>
            </a:r>
            <a:endParaRPr lang="es-ES" sz="2800" dirty="0"/>
          </a:p>
        </p:txBody>
      </p:sp>
    </p:spTree>
    <p:extLst>
      <p:ext uri="{BB962C8B-B14F-4D97-AF65-F5344CB8AC3E}">
        <p14:creationId xmlns:p14="http://schemas.microsoft.com/office/powerpoint/2010/main" val="937734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16D2A4-E8FA-2499-CE9D-FB75BFCA8B64}"/>
              </a:ext>
            </a:extLst>
          </p:cNvPr>
          <p:cNvSpPr>
            <a:spLocks noGrp="1"/>
          </p:cNvSpPr>
          <p:nvPr>
            <p:ph type="title"/>
          </p:nvPr>
        </p:nvSpPr>
        <p:spPr/>
        <p:txBody>
          <a:bodyPr/>
          <a:lstStyle/>
          <a:p>
            <a:r>
              <a:rPr lang="es-ES" dirty="0"/>
              <a:t>Manejo de </a:t>
            </a:r>
            <a:r>
              <a:rPr lang="es-ES" dirty="0" err="1"/>
              <a:t>exceptiones</a:t>
            </a:r>
            <a:r>
              <a:rPr lang="es-ES" dirty="0"/>
              <a:t> fino</a:t>
            </a:r>
          </a:p>
        </p:txBody>
      </p:sp>
      <p:sp>
        <p:nvSpPr>
          <p:cNvPr id="3" name="Marcador de contenido 2">
            <a:extLst>
              <a:ext uri="{FF2B5EF4-FFF2-40B4-BE49-F238E27FC236}">
                <a16:creationId xmlns:a16="http://schemas.microsoft.com/office/drawing/2014/main" id="{5DF23EAA-4147-84C8-F4F8-7CAD2B284430}"/>
              </a:ext>
            </a:extLst>
          </p:cNvPr>
          <p:cNvSpPr>
            <a:spLocks noGrp="1"/>
          </p:cNvSpPr>
          <p:nvPr>
            <p:ph idx="1"/>
          </p:nvPr>
        </p:nvSpPr>
        <p:spPr/>
        <p:txBody>
          <a:bodyPr>
            <a:normAutofit fontScale="92500"/>
          </a:bodyPr>
          <a:lstStyle/>
          <a:p>
            <a:r>
              <a:rPr lang="es-ES" sz="3200" dirty="0"/>
              <a:t>Para cada bloque try, podemos escribir un bloque "catch" para cada excepción de naturaleza diferente sea capaz de producir, de esta manera, trataremos excepciones diferentes de maneras diferentes.</a:t>
            </a:r>
          </a:p>
          <a:p>
            <a:r>
              <a:rPr lang="es-ES" sz="3200" dirty="0"/>
              <a:t>Si no nos interesa manejarlas de forma diferente podemos capturar una sola excepción de la clase </a:t>
            </a:r>
            <a:r>
              <a:rPr lang="es-ES" sz="3200" dirty="0" err="1"/>
              <a:t>Exception</a:t>
            </a:r>
            <a:r>
              <a:rPr lang="es-ES" sz="3200" dirty="0"/>
              <a:t>, que "encajará" con cualquiera que se produzca.</a:t>
            </a:r>
          </a:p>
          <a:p>
            <a:r>
              <a:rPr lang="es-ES" sz="3200" dirty="0"/>
              <a:t>Adicionalmente, se puede escribir detrás de los catch un bloque "</a:t>
            </a:r>
            <a:r>
              <a:rPr lang="es-ES" sz="3200" dirty="0" err="1"/>
              <a:t>finally</a:t>
            </a:r>
            <a:r>
              <a:rPr lang="es-ES" sz="3200" dirty="0"/>
              <a:t>", que se ejecutará siempre</a:t>
            </a:r>
          </a:p>
          <a:p>
            <a:endParaRPr lang="es-ES" dirty="0"/>
          </a:p>
        </p:txBody>
      </p:sp>
    </p:spTree>
    <p:extLst>
      <p:ext uri="{BB962C8B-B14F-4D97-AF65-F5344CB8AC3E}">
        <p14:creationId xmlns:p14="http://schemas.microsoft.com/office/powerpoint/2010/main" val="3351777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A40F4F-D7CA-B5AD-F92E-84C956AE262E}"/>
              </a:ext>
            </a:extLst>
          </p:cNvPr>
          <p:cNvSpPr>
            <a:spLocks noGrp="1"/>
          </p:cNvSpPr>
          <p:nvPr>
            <p:ph type="title"/>
          </p:nvPr>
        </p:nvSpPr>
        <p:spPr/>
        <p:txBody>
          <a:bodyPr/>
          <a:lstStyle/>
          <a:p>
            <a:endParaRPr lang="es-ES"/>
          </a:p>
        </p:txBody>
      </p:sp>
      <p:pic>
        <p:nvPicPr>
          <p:cNvPr id="5" name="Imagen 4">
            <a:extLst>
              <a:ext uri="{FF2B5EF4-FFF2-40B4-BE49-F238E27FC236}">
                <a16:creationId xmlns:a16="http://schemas.microsoft.com/office/drawing/2014/main" id="{CCAAB7B5-11EC-EE6C-10EA-8A02427FB8A8}"/>
              </a:ext>
            </a:extLst>
          </p:cNvPr>
          <p:cNvPicPr>
            <a:picLocks noChangeAspect="1"/>
          </p:cNvPicPr>
          <p:nvPr/>
        </p:nvPicPr>
        <p:blipFill>
          <a:blip r:embed="rId2"/>
          <a:stretch>
            <a:fillRect/>
          </a:stretch>
        </p:blipFill>
        <p:spPr>
          <a:xfrm>
            <a:off x="0" y="119461"/>
            <a:ext cx="12192000" cy="6456239"/>
          </a:xfrm>
          <a:prstGeom prst="rect">
            <a:avLst/>
          </a:prstGeom>
        </p:spPr>
      </p:pic>
      <p:sp>
        <p:nvSpPr>
          <p:cNvPr id="6" name="Flecha: hacia la izquierda 5">
            <a:extLst>
              <a:ext uri="{FF2B5EF4-FFF2-40B4-BE49-F238E27FC236}">
                <a16:creationId xmlns:a16="http://schemas.microsoft.com/office/drawing/2014/main" id="{9D2BC11D-37A3-E400-8C5B-D7C4E21A4022}"/>
              </a:ext>
            </a:extLst>
          </p:cNvPr>
          <p:cNvSpPr/>
          <p:nvPr/>
        </p:nvSpPr>
        <p:spPr>
          <a:xfrm>
            <a:off x="8711852" y="811462"/>
            <a:ext cx="3037561" cy="2749062"/>
          </a:xfrm>
          <a:prstGeom prst="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dirty="0"/>
              <a:t>EL ORDEN ES IMPORTANTE</a:t>
            </a:r>
          </a:p>
        </p:txBody>
      </p:sp>
    </p:spTree>
    <p:extLst>
      <p:ext uri="{BB962C8B-B14F-4D97-AF65-F5344CB8AC3E}">
        <p14:creationId xmlns:p14="http://schemas.microsoft.com/office/powerpoint/2010/main" val="20044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76BF9BC-FEF3-0FF9-E59F-DDEB4160DF18}"/>
              </a:ext>
            </a:extLst>
          </p:cNvPr>
          <p:cNvPicPr>
            <a:picLocks noChangeAspect="1"/>
          </p:cNvPicPr>
          <p:nvPr/>
        </p:nvPicPr>
        <p:blipFill>
          <a:blip r:embed="rId2"/>
          <a:stretch>
            <a:fillRect/>
          </a:stretch>
        </p:blipFill>
        <p:spPr>
          <a:xfrm>
            <a:off x="0" y="52472"/>
            <a:ext cx="12192000" cy="6239490"/>
          </a:xfrm>
          <a:prstGeom prst="rect">
            <a:avLst/>
          </a:prstGeom>
        </p:spPr>
      </p:pic>
    </p:spTree>
    <p:extLst>
      <p:ext uri="{BB962C8B-B14F-4D97-AF65-F5344CB8AC3E}">
        <p14:creationId xmlns:p14="http://schemas.microsoft.com/office/powerpoint/2010/main" val="571584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3242BF-934B-5E25-5EDE-44707A570857}"/>
              </a:ext>
            </a:extLst>
          </p:cNvPr>
          <p:cNvSpPr>
            <a:spLocks noGrp="1"/>
          </p:cNvSpPr>
          <p:nvPr>
            <p:ph type="title"/>
          </p:nvPr>
        </p:nvSpPr>
        <p:spPr/>
        <p:txBody>
          <a:bodyPr/>
          <a:lstStyle/>
          <a:p>
            <a:r>
              <a:rPr lang="es-ES" dirty="0"/>
              <a:t>Métodos de </a:t>
            </a:r>
            <a:r>
              <a:rPr lang="es-ES" dirty="0" err="1"/>
              <a:t>Exception</a:t>
            </a:r>
            <a:endParaRPr lang="es-ES" dirty="0"/>
          </a:p>
        </p:txBody>
      </p:sp>
      <p:sp>
        <p:nvSpPr>
          <p:cNvPr id="3" name="Marcador de contenido 2">
            <a:extLst>
              <a:ext uri="{FF2B5EF4-FFF2-40B4-BE49-F238E27FC236}">
                <a16:creationId xmlns:a16="http://schemas.microsoft.com/office/drawing/2014/main" id="{F2433ECA-B88B-18CF-FCA5-2ED5FFCA7833}"/>
              </a:ext>
            </a:extLst>
          </p:cNvPr>
          <p:cNvSpPr>
            <a:spLocks noGrp="1"/>
          </p:cNvSpPr>
          <p:nvPr>
            <p:ph idx="1"/>
          </p:nvPr>
        </p:nvSpPr>
        <p:spPr/>
        <p:txBody>
          <a:bodyPr>
            <a:normAutofit lnSpcReduction="10000"/>
          </a:bodyPr>
          <a:lstStyle/>
          <a:p>
            <a:r>
              <a:rPr lang="es-ES" sz="3200" dirty="0" err="1"/>
              <a:t>getMessage</a:t>
            </a:r>
            <a:r>
              <a:rPr lang="es-ES" sz="3200" dirty="0"/>
              <a:t>():</a:t>
            </a:r>
            <a:r>
              <a:rPr lang="es-ES" sz="3200" dirty="0" err="1"/>
              <a:t>String</a:t>
            </a:r>
            <a:r>
              <a:rPr lang="es-ES" sz="3200" dirty="0"/>
              <a:t>: devuelve un </a:t>
            </a:r>
            <a:r>
              <a:rPr lang="es-ES" sz="3200" dirty="0" err="1"/>
              <a:t>String</a:t>
            </a:r>
            <a:r>
              <a:rPr lang="es-ES" sz="3200" dirty="0"/>
              <a:t> que sugiere la razón por la que ha ocurrido la excepción.</a:t>
            </a:r>
          </a:p>
          <a:p>
            <a:r>
              <a:rPr lang="es-ES" sz="3200" dirty="0" err="1"/>
              <a:t>toString</a:t>
            </a:r>
            <a:r>
              <a:rPr lang="es-ES" sz="3200" dirty="0"/>
              <a:t>():</a:t>
            </a:r>
            <a:r>
              <a:rPr lang="es-ES" sz="3200" dirty="0" err="1"/>
              <a:t>String</a:t>
            </a:r>
            <a:r>
              <a:rPr lang="es-ES" sz="3200" dirty="0"/>
              <a:t>: devuelve la clase de la excepción concatenada con el </a:t>
            </a:r>
            <a:r>
              <a:rPr lang="es-ES" sz="3200" dirty="0" err="1"/>
              <a:t>String</a:t>
            </a:r>
            <a:r>
              <a:rPr lang="es-ES" sz="3200" dirty="0"/>
              <a:t> que devuelve </a:t>
            </a:r>
            <a:r>
              <a:rPr lang="es-ES" sz="3200" dirty="0" err="1"/>
              <a:t>getMessage</a:t>
            </a:r>
            <a:r>
              <a:rPr lang="es-ES" sz="3200" dirty="0"/>
              <a:t>()</a:t>
            </a:r>
          </a:p>
          <a:p>
            <a:r>
              <a:rPr lang="es-ES" sz="3200" dirty="0" err="1"/>
              <a:t>Exception</a:t>
            </a:r>
            <a:r>
              <a:rPr lang="es-ES" sz="3200" dirty="0"/>
              <a:t>(</a:t>
            </a:r>
            <a:r>
              <a:rPr lang="es-ES" sz="3200" dirty="0" err="1"/>
              <a:t>String</a:t>
            </a:r>
            <a:r>
              <a:rPr lang="es-ES" sz="3200" dirty="0"/>
              <a:t>): constructor de la clase que sirve para crear una excepción con un mensaje personalizado (el que devuelve </a:t>
            </a:r>
            <a:r>
              <a:rPr lang="es-ES" sz="3200" dirty="0" err="1"/>
              <a:t>getMessage</a:t>
            </a:r>
            <a:r>
              <a:rPr lang="es-ES" sz="3200" dirty="0"/>
              <a:t> )</a:t>
            </a:r>
          </a:p>
          <a:p>
            <a:r>
              <a:rPr lang="es-ES" sz="3200" dirty="0" err="1"/>
              <a:t>printStackTrace</a:t>
            </a:r>
            <a:r>
              <a:rPr lang="es-ES" sz="3200" dirty="0"/>
              <a:t>(): muestra por pantalla la cadena de excepciones que han llevado al lanzamiento de ésta</a:t>
            </a:r>
          </a:p>
          <a:p>
            <a:endParaRPr lang="es-ES" dirty="0"/>
          </a:p>
        </p:txBody>
      </p:sp>
    </p:spTree>
    <p:extLst>
      <p:ext uri="{BB962C8B-B14F-4D97-AF65-F5344CB8AC3E}">
        <p14:creationId xmlns:p14="http://schemas.microsoft.com/office/powerpoint/2010/main" val="250761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EC67C0-F8E6-16CF-DCCA-D2DBFB889F96}"/>
              </a:ext>
            </a:extLst>
          </p:cNvPr>
          <p:cNvSpPr>
            <a:spLocks noGrp="1"/>
          </p:cNvSpPr>
          <p:nvPr>
            <p:ph type="title"/>
          </p:nvPr>
        </p:nvSpPr>
        <p:spPr/>
        <p:txBody>
          <a:bodyPr/>
          <a:lstStyle/>
          <a:p>
            <a:r>
              <a:rPr lang="es-ES" dirty="0"/>
              <a:t>Lanzar excepciones</a:t>
            </a:r>
          </a:p>
        </p:txBody>
      </p:sp>
      <p:sp>
        <p:nvSpPr>
          <p:cNvPr id="3" name="Marcador de contenido 2">
            <a:extLst>
              <a:ext uri="{FF2B5EF4-FFF2-40B4-BE49-F238E27FC236}">
                <a16:creationId xmlns:a16="http://schemas.microsoft.com/office/drawing/2014/main" id="{23C873AF-6FA5-F217-BB32-79FD253F8490}"/>
              </a:ext>
            </a:extLst>
          </p:cNvPr>
          <p:cNvSpPr>
            <a:spLocks noGrp="1"/>
          </p:cNvSpPr>
          <p:nvPr>
            <p:ph idx="1"/>
          </p:nvPr>
        </p:nvSpPr>
        <p:spPr/>
        <p:txBody>
          <a:bodyPr>
            <a:normAutofit lnSpcReduction="10000"/>
          </a:bodyPr>
          <a:lstStyle/>
          <a:p>
            <a:r>
              <a:rPr lang="es-ES" sz="3600" dirty="0"/>
              <a:t>Hasta ahora sabíamos cómo se "capturaban" las excepciones (con un bloque catch).</a:t>
            </a:r>
          </a:p>
          <a:p>
            <a:r>
              <a:rPr lang="es-ES" sz="3600" dirty="0"/>
              <a:t>Se pueden lanzar excepciones con el comando </a:t>
            </a:r>
          </a:p>
          <a:p>
            <a:pPr marL="0" indent="0">
              <a:buNone/>
            </a:pPr>
            <a:r>
              <a:rPr lang="es-ES" sz="3600" dirty="0"/>
              <a:t>	</a:t>
            </a:r>
            <a:r>
              <a:rPr lang="es-ES" sz="3600" dirty="0" err="1"/>
              <a:t>throw</a:t>
            </a:r>
            <a:r>
              <a:rPr lang="es-ES" sz="3600" dirty="0"/>
              <a:t> &lt;</a:t>
            </a:r>
            <a:r>
              <a:rPr lang="es-ES" sz="3600" dirty="0" err="1"/>
              <a:t>objetoException</a:t>
            </a:r>
            <a:r>
              <a:rPr lang="es-ES" sz="3600" dirty="0"/>
              <a:t>&gt;</a:t>
            </a:r>
          </a:p>
          <a:p>
            <a:r>
              <a:rPr lang="es-ES" sz="3600" dirty="0"/>
              <a:t>El objeto que se le pasa a </a:t>
            </a:r>
            <a:r>
              <a:rPr lang="es-ES" sz="3600" dirty="0" err="1"/>
              <a:t>throw</a:t>
            </a:r>
            <a:r>
              <a:rPr lang="es-ES" sz="3600" dirty="0"/>
              <a:t>  tiene que ser de la clase </a:t>
            </a:r>
            <a:r>
              <a:rPr lang="es-ES" sz="3600" dirty="0" err="1"/>
              <a:t>Exception</a:t>
            </a:r>
            <a:r>
              <a:rPr lang="es-ES" sz="3600" dirty="0"/>
              <a:t> o de cualquier subclase  que la "extienda" (incluyendo excepciones personalizadas que veremos a continuación)</a:t>
            </a:r>
          </a:p>
          <a:p>
            <a:endParaRPr lang="es-ES" sz="3600" dirty="0"/>
          </a:p>
        </p:txBody>
      </p:sp>
    </p:spTree>
    <p:extLst>
      <p:ext uri="{BB962C8B-B14F-4D97-AF65-F5344CB8AC3E}">
        <p14:creationId xmlns:p14="http://schemas.microsoft.com/office/powerpoint/2010/main" val="13684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73B094-6A1B-9B76-4B1C-326D57B8AB3C}"/>
              </a:ext>
            </a:extLst>
          </p:cNvPr>
          <p:cNvSpPr>
            <a:spLocks noGrp="1"/>
          </p:cNvSpPr>
          <p:nvPr>
            <p:ph type="title"/>
          </p:nvPr>
        </p:nvSpPr>
        <p:spPr/>
        <p:txBody>
          <a:bodyPr/>
          <a:lstStyle/>
          <a:p>
            <a:r>
              <a:rPr lang="es-ES" dirty="0" err="1"/>
              <a:t>throw</a:t>
            </a:r>
            <a:endParaRPr lang="es-ES" dirty="0"/>
          </a:p>
        </p:txBody>
      </p:sp>
      <p:sp>
        <p:nvSpPr>
          <p:cNvPr id="3" name="Marcador de contenido 2">
            <a:extLst>
              <a:ext uri="{FF2B5EF4-FFF2-40B4-BE49-F238E27FC236}">
                <a16:creationId xmlns:a16="http://schemas.microsoft.com/office/drawing/2014/main" id="{28613116-F5BA-E717-91FE-A61B173A784C}"/>
              </a:ext>
            </a:extLst>
          </p:cNvPr>
          <p:cNvSpPr>
            <a:spLocks noGrp="1"/>
          </p:cNvSpPr>
          <p:nvPr>
            <p:ph idx="1"/>
          </p:nvPr>
        </p:nvSpPr>
        <p:spPr/>
        <p:txBody>
          <a:bodyPr>
            <a:normAutofit/>
          </a:bodyPr>
          <a:lstStyle/>
          <a:p>
            <a:r>
              <a:rPr lang="es-ES" sz="2800" dirty="0"/>
              <a:t>Se sale inmediatamente del bloque de código actual</a:t>
            </a:r>
          </a:p>
          <a:p>
            <a:r>
              <a:rPr lang="es-ES" sz="2800" dirty="0"/>
              <a:t>Si el bloque tiene asociada una cláusula catch adecuada para el tipo de la excepción generada, se ejecuta el cuerpo de la cláusula catch.</a:t>
            </a:r>
          </a:p>
          <a:p>
            <a:r>
              <a:rPr lang="es-ES" sz="2800" dirty="0"/>
              <a:t>Si no, se sale inmediatamente del bloque (o método) dentro del cual está el bloque en el que se produjo la excepción y se busca una cláusula catch apropiada.</a:t>
            </a:r>
          </a:p>
          <a:p>
            <a:r>
              <a:rPr lang="es-ES" sz="2800" dirty="0"/>
              <a:t>El proceso continúa hasta llegar al método </a:t>
            </a:r>
            <a:r>
              <a:rPr lang="es-ES" sz="2800" dirty="0" err="1"/>
              <a:t>main</a:t>
            </a:r>
            <a:r>
              <a:rPr lang="es-ES" sz="2800" dirty="0"/>
              <a:t> de la aplicación. Si ahí tampoco existe una cláusula catch adecuada, la máquina virtual Java finaliza su ejecución con un mensaje de error</a:t>
            </a:r>
          </a:p>
        </p:txBody>
      </p:sp>
    </p:spTree>
    <p:extLst>
      <p:ext uri="{BB962C8B-B14F-4D97-AF65-F5344CB8AC3E}">
        <p14:creationId xmlns:p14="http://schemas.microsoft.com/office/powerpoint/2010/main" val="588771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478182-21CA-6D8F-1A88-DAD5701FC5A7}"/>
              </a:ext>
            </a:extLst>
          </p:cNvPr>
          <p:cNvSpPr>
            <a:spLocks noGrp="1"/>
          </p:cNvSpPr>
          <p:nvPr>
            <p:ph type="title"/>
          </p:nvPr>
        </p:nvSpPr>
        <p:spPr/>
        <p:txBody>
          <a:bodyPr/>
          <a:lstStyle/>
          <a:p>
            <a:r>
              <a:rPr lang="es-ES" dirty="0" err="1"/>
              <a:t>tHROWS</a:t>
            </a:r>
            <a:endParaRPr lang="es-ES" dirty="0"/>
          </a:p>
        </p:txBody>
      </p:sp>
      <p:sp>
        <p:nvSpPr>
          <p:cNvPr id="3" name="Marcador de contenido 2">
            <a:extLst>
              <a:ext uri="{FF2B5EF4-FFF2-40B4-BE49-F238E27FC236}">
                <a16:creationId xmlns:a16="http://schemas.microsoft.com/office/drawing/2014/main" id="{E8500FB2-EC09-25FD-06D5-F393AA7707B5}"/>
              </a:ext>
            </a:extLst>
          </p:cNvPr>
          <p:cNvSpPr>
            <a:spLocks noGrp="1"/>
          </p:cNvSpPr>
          <p:nvPr>
            <p:ph idx="1"/>
          </p:nvPr>
        </p:nvSpPr>
        <p:spPr/>
        <p:txBody>
          <a:bodyPr>
            <a:normAutofit lnSpcReduction="10000"/>
          </a:bodyPr>
          <a:lstStyle/>
          <a:p>
            <a:r>
              <a:rPr lang="es-ES" sz="3200" dirty="0"/>
              <a:t>Si en el código de un método f() se lanza una excepción de la clase E, en el prototipo del método debemos indicarlo con la palabra reservada </a:t>
            </a:r>
            <a:r>
              <a:rPr lang="es-ES" sz="3200" dirty="0" err="1"/>
              <a:t>throws</a:t>
            </a:r>
            <a:endParaRPr lang="es-ES" sz="3200" dirty="0"/>
          </a:p>
          <a:p>
            <a:pPr marL="0" indent="0">
              <a:buNone/>
            </a:pPr>
            <a:r>
              <a:rPr lang="es-ES" sz="3200" dirty="0"/>
              <a:t>	p.ej. </a:t>
            </a:r>
            <a:r>
              <a:rPr lang="es-ES" sz="3200" dirty="0" err="1"/>
              <a:t>public</a:t>
            </a:r>
            <a:r>
              <a:rPr lang="es-ES" sz="3200" dirty="0"/>
              <a:t> </a:t>
            </a:r>
            <a:r>
              <a:rPr lang="es-ES" sz="3200" dirty="0" err="1"/>
              <a:t>void</a:t>
            </a:r>
            <a:r>
              <a:rPr lang="es-ES" sz="3200" dirty="0"/>
              <a:t> f() </a:t>
            </a:r>
            <a:r>
              <a:rPr lang="es-ES" sz="3200" dirty="0" err="1"/>
              <a:t>throws</a:t>
            </a:r>
            <a:r>
              <a:rPr lang="es-ES" sz="3200" dirty="0"/>
              <a:t> E</a:t>
            </a:r>
          </a:p>
          <a:p>
            <a:r>
              <a:rPr lang="es-ES" sz="3200" dirty="0"/>
              <a:t>Esto sirve para que potenciales usuarios de f() sepan a qué atenerse</a:t>
            </a:r>
          </a:p>
          <a:p>
            <a:r>
              <a:rPr lang="es-ES" sz="3200" dirty="0"/>
              <a:t>Si un método lanza más de un tipo de excepciones se indicarán detrás de "</a:t>
            </a:r>
            <a:r>
              <a:rPr lang="es-ES" sz="3200" dirty="0" err="1"/>
              <a:t>throws</a:t>
            </a:r>
            <a:r>
              <a:rPr lang="es-ES" sz="3200" dirty="0"/>
              <a:t>" separadas por comas</a:t>
            </a:r>
          </a:p>
          <a:p>
            <a:pPr marL="0" indent="0">
              <a:buNone/>
            </a:pPr>
            <a:r>
              <a:rPr lang="es-ES" sz="3200" dirty="0"/>
              <a:t>	</a:t>
            </a:r>
            <a:r>
              <a:rPr lang="es-ES" sz="3200" dirty="0" err="1"/>
              <a:t>public</a:t>
            </a:r>
            <a:r>
              <a:rPr lang="es-ES" sz="3200" dirty="0"/>
              <a:t> </a:t>
            </a:r>
            <a:r>
              <a:rPr lang="es-ES" sz="3200" dirty="0" err="1"/>
              <a:t>void</a:t>
            </a:r>
            <a:r>
              <a:rPr lang="es-ES" sz="3200" dirty="0"/>
              <a:t> f() </a:t>
            </a:r>
            <a:r>
              <a:rPr lang="es-ES" sz="3200" dirty="0" err="1"/>
              <a:t>throws</a:t>
            </a:r>
            <a:r>
              <a:rPr lang="es-ES" sz="3200" dirty="0"/>
              <a:t> E1, E2, E3, ....</a:t>
            </a:r>
          </a:p>
        </p:txBody>
      </p:sp>
    </p:spTree>
    <p:extLst>
      <p:ext uri="{BB962C8B-B14F-4D97-AF65-F5344CB8AC3E}">
        <p14:creationId xmlns:p14="http://schemas.microsoft.com/office/powerpoint/2010/main" val="2183968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52728F-6EEA-51E4-D473-B1B73D184787}"/>
              </a:ext>
            </a:extLst>
          </p:cNvPr>
          <p:cNvSpPr>
            <a:spLocks noGrp="1"/>
          </p:cNvSpPr>
          <p:nvPr>
            <p:ph type="title"/>
          </p:nvPr>
        </p:nvSpPr>
        <p:spPr>
          <a:xfrm>
            <a:off x="1141413" y="52754"/>
            <a:ext cx="9905998" cy="391920"/>
          </a:xfrm>
        </p:spPr>
        <p:txBody>
          <a:bodyPr>
            <a:normAutofit fontScale="90000"/>
          </a:bodyPr>
          <a:lstStyle/>
          <a:p>
            <a:r>
              <a:rPr lang="es-ES" dirty="0"/>
              <a:t>LANZAR </a:t>
            </a:r>
            <a:r>
              <a:rPr lang="es-ES" dirty="0" err="1"/>
              <a:t>eXCEPCIONES</a:t>
            </a:r>
            <a:endParaRPr lang="es-ES" dirty="0"/>
          </a:p>
        </p:txBody>
      </p:sp>
      <p:sp>
        <p:nvSpPr>
          <p:cNvPr id="3" name="Marcador de contenido 2">
            <a:extLst>
              <a:ext uri="{FF2B5EF4-FFF2-40B4-BE49-F238E27FC236}">
                <a16:creationId xmlns:a16="http://schemas.microsoft.com/office/drawing/2014/main" id="{40C7B330-F9F6-3CE3-45B2-C07F57D18868}"/>
              </a:ext>
            </a:extLst>
          </p:cNvPr>
          <p:cNvSpPr>
            <a:spLocks noGrp="1"/>
          </p:cNvSpPr>
          <p:nvPr>
            <p:ph idx="1"/>
          </p:nvPr>
        </p:nvSpPr>
        <p:spPr>
          <a:xfrm>
            <a:off x="1020870" y="663878"/>
            <a:ext cx="10340237" cy="6194121"/>
          </a:xfrm>
        </p:spPr>
        <p:txBody>
          <a:bodyPr>
            <a:normAutofit fontScale="77500" lnSpcReduction="20000"/>
          </a:bodyPr>
          <a:lstStyle/>
          <a:p>
            <a:r>
              <a:rPr lang="es-ES" sz="3900" dirty="0"/>
              <a:t>Cuando en un código utilizamos métodos que lanzan potencialmente excepciones (es decir que en su prototipo tengan "</a:t>
            </a:r>
            <a:r>
              <a:rPr lang="es-ES" sz="3900" dirty="0" err="1"/>
              <a:t>throws</a:t>
            </a:r>
            <a:r>
              <a:rPr lang="es-ES" sz="3900" dirty="0"/>
              <a:t>", estamos obligados a hacer una de estas dos cosas:</a:t>
            </a:r>
          </a:p>
          <a:p>
            <a:pPr lvl="1"/>
            <a:r>
              <a:rPr lang="es-ES" sz="3900" dirty="0"/>
              <a:t>Proteger la llamada a dicho método con un bloque try...catch</a:t>
            </a:r>
          </a:p>
          <a:p>
            <a:pPr lvl="1"/>
            <a:r>
              <a:rPr lang="es-ES" sz="3900" dirty="0"/>
              <a:t>Indicar en el prototipo del método </a:t>
            </a:r>
            <a:r>
              <a:rPr lang="es-ES" sz="3900" dirty="0" err="1"/>
              <a:t>invocante</a:t>
            </a:r>
            <a:r>
              <a:rPr lang="es-ES" sz="3900" dirty="0"/>
              <a:t> que puede lanzar una excepción (utilizando la palabra reservada </a:t>
            </a:r>
            <a:r>
              <a:rPr lang="es-ES" sz="3900" dirty="0" err="1"/>
              <a:t>throws</a:t>
            </a:r>
            <a:r>
              <a:rPr lang="es-ES" sz="3900" dirty="0"/>
              <a:t>)</a:t>
            </a:r>
          </a:p>
          <a:p>
            <a:r>
              <a:rPr lang="es-ES" sz="3900" dirty="0"/>
              <a:t>Esto delega la responsabilidad del manejo a otras clases </a:t>
            </a:r>
            <a:r>
              <a:rPr lang="es-ES" sz="3900" dirty="0" err="1"/>
              <a:t>invocantes</a:t>
            </a:r>
            <a:r>
              <a:rPr lang="es-ES" sz="3900" dirty="0"/>
              <a:t>, y de ahí viene el sentido de </a:t>
            </a:r>
            <a:r>
              <a:rPr lang="es-ES" sz="3900" dirty="0" err="1"/>
              <a:t>printStackTrace</a:t>
            </a:r>
            <a:r>
              <a:rPr lang="es-ES" sz="3900" dirty="0"/>
              <a:t>() que muestra toda esta cadena de llamadas</a:t>
            </a:r>
          </a:p>
          <a:p>
            <a:r>
              <a:rPr lang="es-ES" sz="3900" dirty="0"/>
              <a:t>Si la </a:t>
            </a:r>
            <a:r>
              <a:rPr lang="es-ES" sz="3900" dirty="0" err="1"/>
              <a:t>Exception</a:t>
            </a:r>
            <a:r>
              <a:rPr lang="es-ES" sz="3900" dirty="0"/>
              <a:t> lanzada es hija de </a:t>
            </a:r>
            <a:r>
              <a:rPr lang="es-ES" sz="3900" dirty="0" err="1"/>
              <a:t>RuntimeException</a:t>
            </a:r>
            <a:r>
              <a:rPr lang="es-ES" sz="3900" dirty="0"/>
              <a:t>, no es necesario manejarla</a:t>
            </a:r>
          </a:p>
          <a:p>
            <a:endParaRPr lang="es-ES" dirty="0"/>
          </a:p>
        </p:txBody>
      </p:sp>
    </p:spTree>
    <p:extLst>
      <p:ext uri="{BB962C8B-B14F-4D97-AF65-F5344CB8AC3E}">
        <p14:creationId xmlns:p14="http://schemas.microsoft.com/office/powerpoint/2010/main" val="3750769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F38412-C076-5603-1C6A-46D516671200}"/>
              </a:ext>
            </a:extLst>
          </p:cNvPr>
          <p:cNvSpPr>
            <a:spLocks noGrp="1"/>
          </p:cNvSpPr>
          <p:nvPr>
            <p:ph type="title"/>
          </p:nvPr>
        </p:nvSpPr>
        <p:spPr/>
        <p:txBody>
          <a:bodyPr/>
          <a:lstStyle/>
          <a:p>
            <a:r>
              <a:rPr lang="es-ES" dirty="0" err="1"/>
              <a:t>Jerarquia</a:t>
            </a:r>
            <a:r>
              <a:rPr lang="es-ES" dirty="0"/>
              <a:t> de excepciones</a:t>
            </a:r>
          </a:p>
        </p:txBody>
      </p:sp>
      <p:sp>
        <p:nvSpPr>
          <p:cNvPr id="3" name="Marcador de contenido 2">
            <a:extLst>
              <a:ext uri="{FF2B5EF4-FFF2-40B4-BE49-F238E27FC236}">
                <a16:creationId xmlns:a16="http://schemas.microsoft.com/office/drawing/2014/main" id="{DB561E6C-C061-5682-3903-0C62489C1A35}"/>
              </a:ext>
            </a:extLst>
          </p:cNvPr>
          <p:cNvSpPr>
            <a:spLocks noGrp="1"/>
          </p:cNvSpPr>
          <p:nvPr>
            <p:ph idx="1"/>
          </p:nvPr>
        </p:nvSpPr>
        <p:spPr/>
        <p:txBody>
          <a:bodyPr>
            <a:normAutofit lnSpcReduction="10000"/>
          </a:bodyPr>
          <a:lstStyle/>
          <a:p>
            <a:r>
              <a:rPr lang="es-ES" sz="3200" dirty="0" err="1"/>
              <a:t>Throwable</a:t>
            </a:r>
            <a:r>
              <a:rPr lang="es-ES" sz="3200" dirty="0"/>
              <a:t> (cualquier error)</a:t>
            </a:r>
          </a:p>
          <a:p>
            <a:pPr lvl="1"/>
            <a:r>
              <a:rPr lang="es-ES" sz="2800" dirty="0"/>
              <a:t>Error: errores graves, que no deberían ser manejados</a:t>
            </a:r>
          </a:p>
          <a:p>
            <a:pPr lvl="2"/>
            <a:r>
              <a:rPr lang="es-ES" sz="2400" dirty="0" err="1"/>
              <a:t>Ej</a:t>
            </a:r>
            <a:r>
              <a:rPr lang="es-ES" sz="2400" dirty="0"/>
              <a:t>: </a:t>
            </a:r>
            <a:r>
              <a:rPr lang="es-ES" sz="2400" dirty="0" err="1"/>
              <a:t>VirtualMachineError</a:t>
            </a:r>
            <a:r>
              <a:rPr lang="es-ES" sz="2400" dirty="0"/>
              <a:t>, </a:t>
            </a:r>
            <a:r>
              <a:rPr lang="es-ES" sz="2400" dirty="0" err="1"/>
              <a:t>AssertionError</a:t>
            </a:r>
            <a:endParaRPr lang="es-ES" sz="2400" dirty="0"/>
          </a:p>
          <a:p>
            <a:pPr lvl="1"/>
            <a:r>
              <a:rPr lang="es-ES" sz="2800" dirty="0" err="1"/>
              <a:t>Exception</a:t>
            </a:r>
            <a:r>
              <a:rPr lang="es-ES" sz="2800" dirty="0"/>
              <a:t>: errores "manejables" o recuperables</a:t>
            </a:r>
          </a:p>
          <a:p>
            <a:pPr lvl="2"/>
            <a:r>
              <a:rPr lang="es-ES" sz="2400" dirty="0" err="1"/>
              <a:t>RunTimeException</a:t>
            </a:r>
            <a:r>
              <a:rPr lang="es-ES" sz="2400" dirty="0"/>
              <a:t>: errores habituales de ejecución que no estamos obligados a declarar su manejo o vigilancia, debido al costo computacional que supondría esto.</a:t>
            </a:r>
          </a:p>
          <a:p>
            <a:pPr lvl="3"/>
            <a:r>
              <a:rPr lang="es-ES" sz="2000" dirty="0" err="1"/>
              <a:t>Ej</a:t>
            </a:r>
            <a:r>
              <a:rPr lang="es-ES" sz="2000" dirty="0"/>
              <a:t>:  </a:t>
            </a:r>
            <a:r>
              <a:rPr lang="es-ES" sz="2000" dirty="0" err="1"/>
              <a:t>ArithmeticException</a:t>
            </a:r>
            <a:r>
              <a:rPr lang="es-ES" sz="2000" dirty="0"/>
              <a:t>, </a:t>
            </a:r>
            <a:r>
              <a:rPr lang="es-ES" sz="2000" dirty="0" err="1"/>
              <a:t>IndexOutOfBoundsException</a:t>
            </a:r>
            <a:r>
              <a:rPr lang="es-ES" sz="2000" dirty="0"/>
              <a:t>, </a:t>
            </a:r>
            <a:r>
              <a:rPr lang="es-ES" sz="2000" dirty="0" err="1"/>
              <a:t>NullPointerException</a:t>
            </a:r>
            <a:endParaRPr lang="es-ES" sz="2000" dirty="0"/>
          </a:p>
          <a:p>
            <a:pPr lvl="2"/>
            <a:r>
              <a:rPr lang="es-ES" sz="2400" dirty="0"/>
              <a:t>El resto: excepciones que obligan a que quien use código que las pueda lanzar: las maneje o "avise" a los demás (mediante una </a:t>
            </a:r>
            <a:r>
              <a:rPr lang="es-ES" sz="2400" dirty="0" err="1"/>
              <a:t>claúsula</a:t>
            </a:r>
            <a:r>
              <a:rPr lang="es-ES" sz="2400" dirty="0"/>
              <a:t> "</a:t>
            </a:r>
            <a:r>
              <a:rPr lang="es-ES" sz="2400" dirty="0" err="1"/>
              <a:t>throws</a:t>
            </a:r>
            <a:r>
              <a:rPr lang="es-ES" sz="2400" dirty="0"/>
              <a:t>").</a:t>
            </a:r>
          </a:p>
          <a:p>
            <a:pPr lvl="3"/>
            <a:r>
              <a:rPr lang="es-ES" sz="2000" dirty="0" err="1"/>
              <a:t>Ej</a:t>
            </a:r>
            <a:r>
              <a:rPr lang="es-ES" sz="2000" dirty="0"/>
              <a:t>: </a:t>
            </a:r>
            <a:r>
              <a:rPr lang="es-ES" sz="2000" dirty="0" err="1"/>
              <a:t>CertificateException</a:t>
            </a:r>
            <a:r>
              <a:rPr lang="es-ES" sz="2000" dirty="0"/>
              <a:t>, </a:t>
            </a:r>
            <a:r>
              <a:rPr lang="es-ES" sz="2000" dirty="0" err="1"/>
              <a:t>CloneNotSupportedException</a:t>
            </a:r>
            <a:r>
              <a:rPr lang="es-ES" sz="2000" dirty="0"/>
              <a:t>...</a:t>
            </a:r>
          </a:p>
          <a:p>
            <a:endParaRPr lang="es-ES" dirty="0"/>
          </a:p>
        </p:txBody>
      </p:sp>
    </p:spTree>
    <p:extLst>
      <p:ext uri="{BB962C8B-B14F-4D97-AF65-F5344CB8AC3E}">
        <p14:creationId xmlns:p14="http://schemas.microsoft.com/office/powerpoint/2010/main" val="805847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jpg" descr="Resultado de imagen de jerarquía de excepciones en java">
            <a:extLst>
              <a:ext uri="{FF2B5EF4-FFF2-40B4-BE49-F238E27FC236}">
                <a16:creationId xmlns:a16="http://schemas.microsoft.com/office/drawing/2014/main" id="{DBEA54CD-4B1B-0885-B8FB-EC506E659C21}"/>
              </a:ext>
            </a:extLst>
          </p:cNvPr>
          <p:cNvPicPr/>
          <p:nvPr/>
        </p:nvPicPr>
        <p:blipFill>
          <a:blip r:embed="rId2"/>
          <a:srcRect/>
          <a:stretch>
            <a:fillRect/>
          </a:stretch>
        </p:blipFill>
        <p:spPr>
          <a:xfrm>
            <a:off x="0" y="-45816"/>
            <a:ext cx="12192000" cy="6903815"/>
          </a:xfrm>
          <a:prstGeom prst="rect">
            <a:avLst/>
          </a:prstGeom>
          <a:ln/>
        </p:spPr>
      </p:pic>
    </p:spTree>
    <p:extLst>
      <p:ext uri="{BB962C8B-B14F-4D97-AF65-F5344CB8AC3E}">
        <p14:creationId xmlns:p14="http://schemas.microsoft.com/office/powerpoint/2010/main" val="1579820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F0EA5-3C27-F01A-BF21-97554C4FF7C6}"/>
              </a:ext>
            </a:extLst>
          </p:cNvPr>
          <p:cNvSpPr>
            <a:spLocks noGrp="1"/>
          </p:cNvSpPr>
          <p:nvPr>
            <p:ph type="title"/>
          </p:nvPr>
        </p:nvSpPr>
        <p:spPr/>
        <p:txBody>
          <a:bodyPr/>
          <a:lstStyle/>
          <a:p>
            <a:r>
              <a:rPr lang="es-ES" dirty="0"/>
              <a:t>Excepciones personalizadas</a:t>
            </a:r>
          </a:p>
        </p:txBody>
      </p:sp>
      <p:sp>
        <p:nvSpPr>
          <p:cNvPr id="3" name="Marcador de contenido 2">
            <a:extLst>
              <a:ext uri="{FF2B5EF4-FFF2-40B4-BE49-F238E27FC236}">
                <a16:creationId xmlns:a16="http://schemas.microsoft.com/office/drawing/2014/main" id="{8DD68F16-92C0-8F5F-2FAD-B8A5488A50D2}"/>
              </a:ext>
            </a:extLst>
          </p:cNvPr>
          <p:cNvSpPr>
            <a:spLocks noGrp="1"/>
          </p:cNvSpPr>
          <p:nvPr>
            <p:ph idx="1"/>
          </p:nvPr>
        </p:nvSpPr>
        <p:spPr/>
        <p:txBody>
          <a:bodyPr>
            <a:normAutofit lnSpcReduction="10000"/>
          </a:bodyPr>
          <a:lstStyle/>
          <a:p>
            <a:r>
              <a:rPr lang="es-ES" sz="3200" dirty="0"/>
              <a:t>Para crear nuevas situaciones excepcionales, no previstas por JAVA o que sólo tienen sentido en nuestro código, basta con heredar de </a:t>
            </a:r>
            <a:r>
              <a:rPr lang="es-ES" sz="3200" dirty="0" err="1"/>
              <a:t>Throwable</a:t>
            </a:r>
            <a:r>
              <a:rPr lang="es-ES" sz="3200" dirty="0"/>
              <a:t> o de alguna de sus "hijas".</a:t>
            </a:r>
          </a:p>
          <a:p>
            <a:pPr lvl="1"/>
            <a:r>
              <a:rPr lang="es-ES" sz="2800" dirty="0" err="1"/>
              <a:t>public</a:t>
            </a:r>
            <a:r>
              <a:rPr lang="es-ES" sz="2800" dirty="0"/>
              <a:t> </a:t>
            </a:r>
            <a:r>
              <a:rPr lang="es-ES" sz="2800" dirty="0" err="1"/>
              <a:t>class</a:t>
            </a:r>
            <a:r>
              <a:rPr lang="es-ES" sz="2800" dirty="0"/>
              <a:t> </a:t>
            </a:r>
            <a:r>
              <a:rPr lang="es-ES" sz="2800" dirty="0" err="1"/>
              <a:t>MiException</a:t>
            </a:r>
            <a:r>
              <a:rPr lang="es-ES" sz="2800" dirty="0"/>
              <a:t> </a:t>
            </a:r>
            <a:r>
              <a:rPr lang="es-ES" sz="2800" dirty="0" err="1"/>
              <a:t>extends</a:t>
            </a:r>
            <a:r>
              <a:rPr lang="es-ES" sz="2800" dirty="0"/>
              <a:t> </a:t>
            </a:r>
            <a:r>
              <a:rPr lang="es-ES" sz="2800" dirty="0" err="1"/>
              <a:t>Exception</a:t>
            </a:r>
            <a:r>
              <a:rPr lang="es-ES" sz="2800" dirty="0"/>
              <a:t> { ... }</a:t>
            </a:r>
          </a:p>
          <a:p>
            <a:r>
              <a:rPr lang="es-ES" sz="3200" dirty="0"/>
              <a:t>Lo que se suele hacer cuando se crea una excepción personalizada es crear un constructor del estilo:</a:t>
            </a:r>
          </a:p>
          <a:p>
            <a:pPr lvl="1"/>
            <a:r>
              <a:rPr lang="es-ES" sz="2800" dirty="0" err="1"/>
              <a:t>public</a:t>
            </a:r>
            <a:r>
              <a:rPr lang="es-ES" sz="2800" dirty="0"/>
              <a:t> </a:t>
            </a:r>
            <a:r>
              <a:rPr lang="es-ES" sz="2800" dirty="0" err="1"/>
              <a:t>MiException</a:t>
            </a:r>
            <a:r>
              <a:rPr lang="es-ES" sz="2800" dirty="0"/>
              <a:t>(</a:t>
            </a:r>
            <a:r>
              <a:rPr lang="es-ES" sz="2800" dirty="0" err="1"/>
              <a:t>String</a:t>
            </a:r>
            <a:r>
              <a:rPr lang="es-ES" sz="2800" dirty="0"/>
              <a:t> s) {super(s);}</a:t>
            </a:r>
          </a:p>
          <a:p>
            <a:r>
              <a:rPr lang="es-ES" sz="3200" dirty="0"/>
              <a:t>De esta forma se puedan crear objetos de esta clase con un mensaje personalizado (el asociado a </a:t>
            </a:r>
            <a:r>
              <a:rPr lang="es-ES" sz="3200" dirty="0" err="1"/>
              <a:t>getMessage</a:t>
            </a:r>
            <a:r>
              <a:rPr lang="es-ES" sz="3200" dirty="0"/>
              <a:t>() )</a:t>
            </a:r>
          </a:p>
        </p:txBody>
      </p:sp>
    </p:spTree>
    <p:extLst>
      <p:ext uri="{BB962C8B-B14F-4D97-AF65-F5344CB8AC3E}">
        <p14:creationId xmlns:p14="http://schemas.microsoft.com/office/powerpoint/2010/main" val="2588998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F219B00-3950-BDF5-C3A4-4A48CA1F8714}"/>
              </a:ext>
            </a:extLst>
          </p:cNvPr>
          <p:cNvPicPr>
            <a:picLocks noChangeAspect="1"/>
          </p:cNvPicPr>
          <p:nvPr/>
        </p:nvPicPr>
        <p:blipFill>
          <a:blip r:embed="rId2"/>
          <a:stretch>
            <a:fillRect/>
          </a:stretch>
        </p:blipFill>
        <p:spPr>
          <a:xfrm>
            <a:off x="1265130" y="3755041"/>
            <a:ext cx="9781626" cy="3102959"/>
          </a:xfrm>
          <a:prstGeom prst="rect">
            <a:avLst/>
          </a:prstGeom>
        </p:spPr>
      </p:pic>
      <p:pic>
        <p:nvPicPr>
          <p:cNvPr id="7" name="Imagen 6">
            <a:extLst>
              <a:ext uri="{FF2B5EF4-FFF2-40B4-BE49-F238E27FC236}">
                <a16:creationId xmlns:a16="http://schemas.microsoft.com/office/drawing/2014/main" id="{92BA074D-37B7-7285-AA6E-65E62072C1BF}"/>
              </a:ext>
            </a:extLst>
          </p:cNvPr>
          <p:cNvPicPr>
            <a:picLocks noChangeAspect="1"/>
          </p:cNvPicPr>
          <p:nvPr/>
        </p:nvPicPr>
        <p:blipFill>
          <a:blip r:embed="rId3"/>
          <a:stretch>
            <a:fillRect/>
          </a:stretch>
        </p:blipFill>
        <p:spPr>
          <a:xfrm>
            <a:off x="1287074" y="0"/>
            <a:ext cx="9759682" cy="2956142"/>
          </a:xfrm>
          <a:prstGeom prst="rect">
            <a:avLst/>
          </a:prstGeom>
        </p:spPr>
      </p:pic>
      <p:sp>
        <p:nvSpPr>
          <p:cNvPr id="8" name="Rectángulo 7">
            <a:extLst>
              <a:ext uri="{FF2B5EF4-FFF2-40B4-BE49-F238E27FC236}">
                <a16:creationId xmlns:a16="http://schemas.microsoft.com/office/drawing/2014/main" id="{2AC04536-AF2E-93F7-B02F-F6AEE2F1528C}"/>
              </a:ext>
            </a:extLst>
          </p:cNvPr>
          <p:cNvSpPr/>
          <p:nvPr/>
        </p:nvSpPr>
        <p:spPr>
          <a:xfrm>
            <a:off x="450937" y="3206664"/>
            <a:ext cx="11173216" cy="12526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11850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Circuito</Template>
  <TotalTime>2706</TotalTime>
  <Words>1018</Words>
  <Application>Microsoft Office PowerPoint</Application>
  <PresentationFormat>Panorámica</PresentationFormat>
  <Paragraphs>72</Paragraphs>
  <Slides>18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Calibri Light</vt:lpstr>
      <vt:lpstr>Circuito</vt:lpstr>
      <vt:lpstr>Manejo de Excepciones</vt:lpstr>
      <vt:lpstr>Concepto </vt:lpstr>
      <vt:lpstr>Manejo de errores “pesimista”</vt:lpstr>
      <vt:lpstr>Manejo de excepciones “optimista”</vt:lpstr>
      <vt:lpstr>Pesimista vs optimista</vt:lpstr>
      <vt:lpstr>Clase exception</vt:lpstr>
      <vt:lpstr>Manejo de exceptiones fino</vt:lpstr>
      <vt:lpstr>Presentación de PowerPoint</vt:lpstr>
      <vt:lpstr>Presentación de PowerPoint</vt:lpstr>
      <vt:lpstr>Métodos de Exception</vt:lpstr>
      <vt:lpstr>Lanzar excepciones</vt:lpstr>
      <vt:lpstr>throw</vt:lpstr>
      <vt:lpstr>tHROWS</vt:lpstr>
      <vt:lpstr>LANZAR eXCEPCIONES</vt:lpstr>
      <vt:lpstr>Jerarquia de excepciones</vt:lpstr>
      <vt:lpstr>Presentación de PowerPoint</vt:lpstr>
      <vt:lpstr>Excepciones personalizadas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programación</dc:title>
  <dc:creator>SChiesa</dc:creator>
  <cp:lastModifiedBy>S Chiesa</cp:lastModifiedBy>
  <cp:revision>51</cp:revision>
  <dcterms:created xsi:type="dcterms:W3CDTF">2022-09-10T09:06:03Z</dcterms:created>
  <dcterms:modified xsi:type="dcterms:W3CDTF">2023-02-12T11:58:40Z</dcterms:modified>
</cp:coreProperties>
</file>