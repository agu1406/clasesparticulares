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EA851865-6A2E-4E15-965B-7BD9BEB27286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9"/>
            <p14:sldId id="268"/>
            <p14:sldId id="270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35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EC63E5-E612-4798-83B5-FEE8583B8D85}" type="datetimeFigureOut">
              <a:rPr lang="es-ES" smtClean="0"/>
              <a:t>14/10/2022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77B384-FB42-438C-97CA-E8E772628748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50923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B0E0D341-7D63-4718-93BC-7EE0D41121A0}" type="datetimeFigureOut">
              <a:rPr lang="es-ES" smtClean="0"/>
              <a:t>14/10/2022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83177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14/10/2022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69082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14/10/2022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675425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14/10/2022</a:t>
            </a:fld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9446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14/10/2022</a:t>
            </a:fld>
            <a:endParaRPr lang="es-E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01135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14/10/2022</a:t>
            </a:fld>
            <a:endParaRPr lang="es-E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02195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14/10/2022</a:t>
            </a:fld>
            <a:endParaRPr lang="es-E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94915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14/10/2022</a:t>
            </a:fld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1889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14/10/2022</a:t>
            </a:fld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21703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14/10/2022</a:t>
            </a:fld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28263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14/10/2022</a:t>
            </a:fld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995579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14/10/2022</a:t>
            </a:fld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343563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14/10/2022</a:t>
            </a:fld>
            <a:endParaRPr lang="es-E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134962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14/10/2022</a:t>
            </a:fld>
            <a:endParaRPr lang="es-E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074231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14/10/2022</a:t>
            </a:fld>
            <a:endParaRPr lang="es-E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509999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14/10/2022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679216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0D341-7D63-4718-93BC-7EE0D41121A0}" type="datetimeFigureOut">
              <a:rPr lang="es-ES" smtClean="0"/>
              <a:t>14/10/2022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70264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E0D341-7D63-4718-93BC-7EE0D41121A0}" type="datetimeFigureOut">
              <a:rPr lang="es-ES" smtClean="0"/>
              <a:t>14/10/2022</a:t>
            </a:fld>
            <a:endParaRPr lang="es-E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4EAC2B-6F96-448F-AFA3-1917236365EF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34644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  <p:sldLayoutId id="214748373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7F8FD9-B607-0741-7085-1F122FA013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9867341" cy="2387600"/>
          </a:xfrm>
        </p:spPr>
        <p:txBody>
          <a:bodyPr/>
          <a:lstStyle/>
          <a:p>
            <a:r>
              <a:rPr lang="es-ES" dirty="0" err="1"/>
              <a:t>Arrays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A8AE28-4B06-3AF7-6438-0933E99DBB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IES Rosa </a:t>
            </a:r>
            <a:r>
              <a:rPr lang="es-ES" dirty="0" err="1"/>
              <a:t>chacel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34276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770E6A-79D6-6572-CEE0-AA42116D2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55055"/>
            <a:ext cx="9905998" cy="533877"/>
          </a:xfrm>
        </p:spPr>
        <p:txBody>
          <a:bodyPr>
            <a:normAutofit fontScale="90000"/>
          </a:bodyPr>
          <a:lstStyle/>
          <a:p>
            <a:r>
              <a:rPr lang="es-ES" dirty="0"/>
              <a:t>Definición de Array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11E7D8-4244-1C0B-77D2-707E4854A9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0408" y="1848654"/>
            <a:ext cx="9905999" cy="3541714"/>
          </a:xfrm>
        </p:spPr>
        <p:txBody>
          <a:bodyPr/>
          <a:lstStyle/>
          <a:p>
            <a:r>
              <a:rPr lang="es-ES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 array Java es una estructura de datos que nos permite almacenar un conjunto de datos de un mismo tipo. </a:t>
            </a:r>
          </a:p>
          <a:p>
            <a:endParaRPr lang="es-ES" sz="2800" dirty="0">
              <a:solidFill>
                <a:srgbClr val="00000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s-ES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 tamaño de los </a:t>
            </a:r>
            <a:r>
              <a:rPr lang="es-ES" sz="2800" dirty="0" err="1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arrays</a:t>
            </a:r>
            <a:r>
              <a:rPr lang="es-ES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se declara en un primer momento y </a:t>
            </a:r>
            <a:r>
              <a:rPr lang="es-ES" sz="2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s-ES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puede cambiar en tiempo de ejecución </a:t>
            </a:r>
            <a:r>
              <a:rPr lang="es-ES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como puede producirse en otros lenguajes. </a:t>
            </a:r>
            <a:endParaRPr lang="es-E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01881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0F0C8D-90C1-15E2-3A35-6B8D99575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61110"/>
            <a:ext cx="9905998" cy="665400"/>
          </a:xfrm>
        </p:spPr>
        <p:txBody>
          <a:bodyPr/>
          <a:lstStyle/>
          <a:p>
            <a:r>
              <a:rPr lang="es-ES" dirty="0" err="1"/>
              <a:t>Arrays</a:t>
            </a:r>
            <a:r>
              <a:rPr lang="es-ES" dirty="0"/>
              <a:t> en java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E077D10-7025-95E2-EB97-C50C3FF21A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3190" y="726510"/>
            <a:ext cx="10114222" cy="5899758"/>
          </a:xfrm>
        </p:spPr>
        <p:txBody>
          <a:bodyPr>
            <a:normAutofit fontScale="92500" lnSpcReduction="20000"/>
          </a:bodyPr>
          <a:lstStyle/>
          <a:p>
            <a:pPr marL="457200" lvl="0" indent="-368300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s" sz="3000" b="1" dirty="0">
                <a:solidFill>
                  <a:srgbClr val="000000"/>
                </a:solidFill>
              </a:rPr>
              <a:t>Declaración</a:t>
            </a:r>
            <a:r>
              <a:rPr lang="es" sz="3000" dirty="0">
                <a:solidFill>
                  <a:srgbClr val="000000"/>
                </a:solidFill>
              </a:rPr>
              <a:t>:</a:t>
            </a:r>
          </a:p>
          <a:p>
            <a:pPr marL="914400" lvl="1" indent="-368300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Courier New"/>
              <a:buChar char="o"/>
            </a:pPr>
            <a:r>
              <a:rPr lang="es" sz="3000" dirty="0">
                <a:solidFill>
                  <a:srgbClr val="000000"/>
                </a:solidFill>
              </a:rPr>
              <a:t>&lt;tipo&gt;[ ] &lt;nombre_array&gt;;</a:t>
            </a:r>
          </a:p>
          <a:p>
            <a:pPr marL="1371600" lvl="2" indent="-368300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/>
              <a:buChar char="§"/>
            </a:pPr>
            <a:r>
              <a:rPr lang="es" sz="3000" dirty="0">
                <a:solidFill>
                  <a:srgbClr val="000000"/>
                </a:solidFill>
              </a:rPr>
              <a:t>int[ ] miArrayDeInt;</a:t>
            </a:r>
          </a:p>
          <a:p>
            <a:pPr marL="1371600" lvl="2" indent="-368300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/>
              <a:buChar char="§"/>
            </a:pPr>
            <a:r>
              <a:rPr lang="es" sz="3000" dirty="0">
                <a:solidFill>
                  <a:srgbClr val="000000"/>
                </a:solidFill>
              </a:rPr>
              <a:t>String[]  miArrayDeString;</a:t>
            </a:r>
          </a:p>
          <a:p>
            <a:pPr marL="457200" lvl="0" indent="-368300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s" sz="3000" b="1" dirty="0">
                <a:solidFill>
                  <a:srgbClr val="000000"/>
                </a:solidFill>
              </a:rPr>
              <a:t>Inicialización</a:t>
            </a:r>
            <a:r>
              <a:rPr lang="es" sz="3000" dirty="0">
                <a:solidFill>
                  <a:srgbClr val="000000"/>
                </a:solidFill>
              </a:rPr>
              <a:t>:</a:t>
            </a:r>
          </a:p>
          <a:p>
            <a:pPr marL="914400" lvl="1" indent="-368300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Courier New"/>
              <a:buChar char="o"/>
            </a:pPr>
            <a:r>
              <a:rPr lang="es" sz="3000" dirty="0">
                <a:solidFill>
                  <a:srgbClr val="000000"/>
                </a:solidFill>
              </a:rPr>
              <a:t>&lt;nombreArray&gt;=new &lt;tipo&gt;[tamaño];</a:t>
            </a:r>
          </a:p>
          <a:p>
            <a:pPr marL="1371600" lvl="2" indent="-368300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/>
              <a:buChar char="§"/>
            </a:pPr>
            <a:r>
              <a:rPr lang="es" sz="3000" dirty="0">
                <a:solidFill>
                  <a:srgbClr val="000000"/>
                </a:solidFill>
              </a:rPr>
              <a:t>miArrayDeInt = new int[20];</a:t>
            </a:r>
          </a:p>
          <a:p>
            <a:pPr marL="1371600" lvl="2" indent="-368300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/>
              <a:buChar char="§"/>
            </a:pPr>
            <a:r>
              <a:rPr lang="es" sz="3000" dirty="0">
                <a:solidFill>
                  <a:srgbClr val="000000"/>
                </a:solidFill>
              </a:rPr>
              <a:t>miArrayDeString = new String[15];</a:t>
            </a:r>
          </a:p>
          <a:p>
            <a:pPr marL="457200" lvl="0" indent="-368300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s" sz="3000" b="1" dirty="0">
                <a:solidFill>
                  <a:srgbClr val="000000"/>
                </a:solidFill>
              </a:rPr>
              <a:t>Asignación de valores a sus celdas</a:t>
            </a:r>
            <a:r>
              <a:rPr lang="es" sz="3000" dirty="0">
                <a:solidFill>
                  <a:srgbClr val="000000"/>
                </a:solidFill>
              </a:rPr>
              <a:t>:</a:t>
            </a:r>
          </a:p>
          <a:p>
            <a:pPr marL="914400" lvl="1" indent="-368300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Courier New"/>
              <a:buChar char="o"/>
            </a:pPr>
            <a:r>
              <a:rPr lang="es" sz="3000" dirty="0">
                <a:solidFill>
                  <a:srgbClr val="000000"/>
                </a:solidFill>
              </a:rPr>
              <a:t>&lt;nombreArray&gt;[num_celda]=&lt;valor&gt;;</a:t>
            </a:r>
          </a:p>
          <a:p>
            <a:pPr marL="1371600" lvl="2" indent="-368300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/>
              <a:buChar char="§"/>
            </a:pPr>
            <a:r>
              <a:rPr lang="es" sz="3000" dirty="0">
                <a:solidFill>
                  <a:srgbClr val="000000"/>
                </a:solidFill>
              </a:rPr>
              <a:t>miArrayDeInt[0]=16; …..; miArrayDeInt[19]=-2;</a:t>
            </a:r>
          </a:p>
          <a:p>
            <a:pPr marL="1371600" lvl="2" indent="-368300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/>
              <a:buChar char="§"/>
            </a:pPr>
            <a:r>
              <a:rPr lang="es" sz="3000" dirty="0">
                <a:solidFill>
                  <a:srgbClr val="000000"/>
                </a:solidFill>
              </a:rPr>
              <a:t>miArrayDeString[0]=“Pepe”;...;miArrayDeString[14]=“Ana”;</a:t>
            </a:r>
          </a:p>
          <a:p>
            <a:pPr marL="457200" lvl="0" indent="-368300" rtl="0">
              <a:lnSpc>
                <a:spcPct val="115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Arial"/>
              <a:buChar char="●"/>
            </a:pPr>
            <a:r>
              <a:rPr lang="es" sz="3000" b="1" dirty="0">
                <a:solidFill>
                  <a:srgbClr val="000000"/>
                </a:solidFill>
              </a:rPr>
              <a:t>TODO EN UNO</a:t>
            </a:r>
            <a:r>
              <a:rPr lang="es" sz="3000" dirty="0">
                <a:solidFill>
                  <a:srgbClr val="000000"/>
                </a:solidFill>
              </a:rPr>
              <a:t>: int[ ] miArrayDeInt = { 1, -2, 3 };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67874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89FCBF-6602-8529-AB45-DB810ABAE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Variables índice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4CEEC8-CDC0-05AE-8A3A-6809E7B367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979112"/>
            <a:ext cx="9905999" cy="4177430"/>
          </a:xfrm>
        </p:spPr>
        <p:txBody>
          <a:bodyPr>
            <a:normAutofit fontScale="92500" lnSpcReduction="20000"/>
          </a:bodyPr>
          <a:lstStyle/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es" sz="3500" dirty="0"/>
              <a:t>Una de las ventajas de los arrays es que se puede acceder a cada "compartimento" utilizando un número entero (int).</a:t>
            </a:r>
          </a:p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endParaRPr lang="es" sz="3500" dirty="0"/>
          </a:p>
          <a:p>
            <a:pPr marL="457200" lvl="0" indent="-4191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es" sz="3500" dirty="0"/>
              <a:t>Si este número no es literal (p.ej. a[1]=10), sino variable (p.ej.a[i]=10), podremos cambiar el valor de i según necesitemos creando potentes algoritmos de búsqueda, ordenación o recorrido del array.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56186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BDE0D2-BF80-C431-664B-11D0ED2B9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Ejemplo</a:t>
            </a:r>
          </a:p>
        </p:txBody>
      </p:sp>
      <p:pic>
        <p:nvPicPr>
          <p:cNvPr id="4" name="Google Shape;98;p17">
            <a:extLst>
              <a:ext uri="{FF2B5EF4-FFF2-40B4-BE49-F238E27FC236}">
                <a16:creationId xmlns:a16="http://schemas.microsoft.com/office/drawing/2014/main" id="{DBDAD1EC-3545-53B7-9CCF-ABCFD95D3BF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14507" y="1739919"/>
            <a:ext cx="10070274" cy="50429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20103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D6552B-260C-8AFE-7017-60C2282A5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9588" y="67373"/>
            <a:ext cx="9905998" cy="978550"/>
          </a:xfrm>
        </p:spPr>
        <p:txBody>
          <a:bodyPr/>
          <a:lstStyle/>
          <a:p>
            <a:r>
              <a:rPr lang="es-ES" dirty="0"/>
              <a:t>Array </a:t>
            </a:r>
            <a:r>
              <a:rPr lang="es-ES" dirty="0" err="1"/>
              <a:t>index</a:t>
            </a:r>
            <a:r>
              <a:rPr lang="es-ES" dirty="0"/>
              <a:t> </a:t>
            </a:r>
            <a:r>
              <a:rPr lang="es-ES" dirty="0" err="1"/>
              <a:t>out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bounds</a:t>
            </a:r>
            <a:endParaRPr lang="es-ES" dirty="0"/>
          </a:p>
        </p:txBody>
      </p:sp>
      <p:pic>
        <p:nvPicPr>
          <p:cNvPr id="4" name="Google Shape;105;p18">
            <a:extLst>
              <a:ext uri="{FF2B5EF4-FFF2-40B4-BE49-F238E27FC236}">
                <a16:creationId xmlns:a16="http://schemas.microsoft.com/office/drawing/2014/main" id="{4BA2AB60-45CA-726E-5A41-7619A6E97143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>
          <a:blip r:embed="rId2">
            <a:alphaModFix/>
          </a:blip>
          <a:stretch>
            <a:fillRect/>
          </a:stretch>
        </p:blipFill>
        <p:spPr>
          <a:xfrm>
            <a:off x="1209588" y="933189"/>
            <a:ext cx="9042965" cy="330153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Flecha: hacia abajo 4">
            <a:extLst>
              <a:ext uri="{FF2B5EF4-FFF2-40B4-BE49-F238E27FC236}">
                <a16:creationId xmlns:a16="http://schemas.microsoft.com/office/drawing/2014/main" id="{DD77D209-6BC4-C7AA-537A-A492E616EB35}"/>
              </a:ext>
            </a:extLst>
          </p:cNvPr>
          <p:cNvSpPr/>
          <p:nvPr/>
        </p:nvSpPr>
        <p:spPr>
          <a:xfrm>
            <a:off x="9181578" y="67373"/>
            <a:ext cx="682669" cy="1780216"/>
          </a:xfrm>
          <a:prstGeom prst="down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s-ES" dirty="0"/>
              <a:t>¡Cuidado!</a:t>
            </a:r>
          </a:p>
        </p:txBody>
      </p:sp>
      <p:pic>
        <p:nvPicPr>
          <p:cNvPr id="6" name="Google Shape;106;p18">
            <a:extLst>
              <a:ext uri="{FF2B5EF4-FFF2-40B4-BE49-F238E27FC236}">
                <a16:creationId xmlns:a16="http://schemas.microsoft.com/office/drawing/2014/main" id="{E477293E-8C23-14F2-418D-D0293DD8B05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0246" y="4460124"/>
            <a:ext cx="8661647" cy="10099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403901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97479-17E3-9FEB-C2D6-4A5879E8F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9096" y="155055"/>
            <a:ext cx="9905998" cy="496298"/>
          </a:xfrm>
        </p:spPr>
        <p:txBody>
          <a:bodyPr>
            <a:normAutofit fontScale="90000"/>
          </a:bodyPr>
          <a:lstStyle/>
          <a:p>
            <a:r>
              <a:rPr lang="es-ES" dirty="0" err="1"/>
              <a:t>length</a:t>
            </a:r>
            <a:endParaRPr lang="es-ES" dirty="0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DBE98B88-86A4-4F9A-9E88-7730368EB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851770"/>
            <a:ext cx="9905999" cy="585117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7000"/>
              </a:lnSpc>
              <a:spcAft>
                <a:spcPts val="750"/>
              </a:spcAft>
              <a:buClrTx/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rgbClr val="555555"/>
                </a:solidFill>
                <a:effectLst/>
                <a:latin typeface="Source Sans Pro" panose="020B0503030403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 atributo </a:t>
            </a:r>
            <a:r>
              <a:rPr lang="es-ES" sz="2800" dirty="0" err="1">
                <a:solidFill>
                  <a:srgbClr val="555555"/>
                </a:solidFill>
                <a:effectLst/>
                <a:latin typeface="Source Sans Pro" panose="020B0503030403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r>
              <a:rPr lang="es-ES" sz="2800" dirty="0">
                <a:solidFill>
                  <a:srgbClr val="555555"/>
                </a:solidFill>
                <a:effectLst/>
                <a:latin typeface="Source Sans Pro" panose="020B0503030403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nos devuelve el número de elementos que posee el array.</a:t>
            </a:r>
          </a:p>
          <a:p>
            <a:pPr>
              <a:lnSpc>
                <a:spcPct val="107000"/>
              </a:lnSpc>
              <a:spcAft>
                <a:spcPts val="750"/>
              </a:spcAft>
              <a:buClrTx/>
              <a:buFont typeface="Arial" panose="020B0604020202020204" pitchFamily="34" charset="0"/>
              <a:buChar char="•"/>
            </a:pPr>
            <a:r>
              <a:rPr lang="es-ES" sz="2800" dirty="0">
                <a:solidFill>
                  <a:srgbClr val="555555"/>
                </a:solidFill>
                <a:effectLst/>
                <a:latin typeface="Source Sans Pro" panose="020B0503030403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Hay que tener en cuenta que es una variable de solo lectura, es por ello que no podremos realizar una asignación a dicha variable. Por ejemplo esto nos serviría a la hora de mostrar el contenido de los elementos de un array:</a:t>
            </a:r>
            <a:endParaRPr lang="es-E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latinLnBrk="1">
              <a:lnSpc>
                <a:spcPct val="107000"/>
              </a:lnSpc>
              <a:spcAft>
                <a:spcPts val="75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s-ES" sz="2800" b="1" dirty="0">
                <a:solidFill>
                  <a:srgbClr val="44558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s-ES" sz="2800" b="1" dirty="0" err="1">
                <a:solidFill>
                  <a:srgbClr val="44558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char</a:t>
            </a:r>
            <a:r>
              <a:rPr lang="es-ES" sz="280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array</a:t>
            </a:r>
            <a:r>
              <a:rPr lang="es-ES" sz="2800" b="1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[];</a:t>
            </a:r>
            <a:endParaRPr lang="es-E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latinLnBrk="1">
              <a:lnSpc>
                <a:spcPct val="107000"/>
              </a:lnSpc>
              <a:spcAft>
                <a:spcPts val="75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s-ES" sz="280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	array </a:t>
            </a:r>
            <a:r>
              <a:rPr lang="es-ES" sz="2800" b="1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s-ES" sz="280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800" b="1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s-ES" sz="280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800" b="1" dirty="0" err="1">
                <a:solidFill>
                  <a:srgbClr val="44558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char</a:t>
            </a:r>
            <a:r>
              <a:rPr lang="es-ES" sz="2800" b="1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s-ES" sz="2800" dirty="0">
                <a:solidFill>
                  <a:srgbClr val="0099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s-ES" sz="2800" b="1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];</a:t>
            </a:r>
            <a:endParaRPr lang="es-E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latinLnBrk="1">
              <a:lnSpc>
                <a:spcPct val="107000"/>
              </a:lnSpc>
              <a:spcAft>
                <a:spcPts val="75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s-ES" sz="2800" b="1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s-ES" sz="2800" b="1" dirty="0" err="1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s-ES" sz="280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2800" b="1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s-ES" sz="2800" b="1" dirty="0" err="1">
                <a:solidFill>
                  <a:srgbClr val="44558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s-ES" sz="280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</a:t>
            </a:r>
            <a:r>
              <a:rPr lang="es-ES" sz="2800" b="1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s-ES" sz="2800" dirty="0">
                <a:solidFill>
                  <a:srgbClr val="0099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s-ES" sz="2800" b="1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s-ES" sz="280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s-ES" sz="2800" b="1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s-ES" sz="2800" dirty="0" err="1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array</a:t>
            </a:r>
            <a:r>
              <a:rPr lang="es-ES" sz="2800" b="1" dirty="0" err="1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s-ES" sz="2800" dirty="0" err="1">
                <a:solidFill>
                  <a:srgbClr val="008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r>
              <a:rPr lang="es-ES" sz="2800" b="1" dirty="0" err="1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s-ES" sz="2800" dirty="0" err="1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s-ES" sz="2800" b="1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  <a:endParaRPr lang="es-E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latinLnBrk="1">
              <a:lnSpc>
                <a:spcPct val="107000"/>
              </a:lnSpc>
              <a:spcAft>
                <a:spcPts val="750"/>
              </a:spcAft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s-ES" sz="2800" b="1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s-ES" sz="2800" b="1" dirty="0" err="1">
                <a:solidFill>
                  <a:srgbClr val="445588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es-ES" sz="2800" b="1" dirty="0" err="1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s-ES" sz="2800" dirty="0" err="1">
                <a:solidFill>
                  <a:srgbClr val="008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s-ES" sz="2800" b="1" dirty="0" err="1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s-ES" sz="2800" dirty="0" err="1">
                <a:solidFill>
                  <a:srgbClr val="00808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printnln</a:t>
            </a:r>
            <a:r>
              <a:rPr lang="es-ES" sz="2800" b="1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s-ES" sz="280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array</a:t>
            </a:r>
            <a:r>
              <a:rPr lang="es-ES" sz="2800" b="1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s-ES" sz="280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s-ES" sz="2800" b="1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]);</a:t>
            </a:r>
            <a:endParaRPr lang="es-E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80131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4028EA-4ECE-589D-FB56-B387C2147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54847"/>
            <a:ext cx="9905998" cy="734293"/>
          </a:xfrm>
        </p:spPr>
        <p:txBody>
          <a:bodyPr/>
          <a:lstStyle/>
          <a:p>
            <a:r>
              <a:rPr lang="es-ES" dirty="0"/>
              <a:t>Recorrer un Array</a:t>
            </a:r>
          </a:p>
        </p:txBody>
      </p:sp>
      <p:pic>
        <p:nvPicPr>
          <p:cNvPr id="4" name="Google Shape;137;p23">
            <a:extLst>
              <a:ext uri="{FF2B5EF4-FFF2-40B4-BE49-F238E27FC236}">
                <a16:creationId xmlns:a16="http://schemas.microsoft.com/office/drawing/2014/main" id="{26410913-7B8E-6CDF-2FBD-2473D31A613A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751694" y="684169"/>
            <a:ext cx="8275391" cy="59546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25787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278CE7-1471-8882-0CC3-86B198BAA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517" y="0"/>
            <a:ext cx="9905998" cy="626301"/>
          </a:xfrm>
        </p:spPr>
        <p:txBody>
          <a:bodyPr/>
          <a:lstStyle/>
          <a:p>
            <a:r>
              <a:rPr lang="es-ES" dirty="0"/>
              <a:t>Recorrer un array: estructura </a:t>
            </a:r>
            <a:r>
              <a:rPr lang="es-ES" dirty="0" err="1"/>
              <a:t>foreach</a:t>
            </a:r>
            <a:endParaRPr lang="es-ES" dirty="0"/>
          </a:p>
        </p:txBody>
      </p:sp>
      <p:pic>
        <p:nvPicPr>
          <p:cNvPr id="4" name="Google Shape;152;p25">
            <a:extLst>
              <a:ext uri="{FF2B5EF4-FFF2-40B4-BE49-F238E27FC236}">
                <a16:creationId xmlns:a16="http://schemas.microsoft.com/office/drawing/2014/main" id="{37B20506-D368-F852-729E-C1D45D6FCF3F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64250" y="740101"/>
            <a:ext cx="8301246" cy="586737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7557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CA71A3-56EF-4839-41D8-84B33B595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618518"/>
            <a:ext cx="9905998" cy="364775"/>
          </a:xfrm>
        </p:spPr>
        <p:txBody>
          <a:bodyPr>
            <a:normAutofit fontScale="90000"/>
          </a:bodyPr>
          <a:lstStyle/>
          <a:p>
            <a:r>
              <a:rPr lang="es-ES" dirty="0"/>
              <a:t>Escribir el contenido de un array</a:t>
            </a:r>
          </a:p>
        </p:txBody>
      </p:sp>
      <p:pic>
        <p:nvPicPr>
          <p:cNvPr id="4" name="Google Shape;144;p24">
            <a:extLst>
              <a:ext uri="{FF2B5EF4-FFF2-40B4-BE49-F238E27FC236}">
                <a16:creationId xmlns:a16="http://schemas.microsoft.com/office/drawing/2014/main" id="{8A319ECA-A275-F950-7E15-1B7258B79076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>
          <a:blip r:embed="rId2">
            <a:alphaModFix/>
          </a:blip>
          <a:stretch>
            <a:fillRect/>
          </a:stretch>
        </p:blipFill>
        <p:spPr>
          <a:xfrm>
            <a:off x="1439225" y="983292"/>
            <a:ext cx="9502259" cy="58747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232670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B76B63-A5C1-3008-892B-8A85C59E5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0306" y="148792"/>
            <a:ext cx="9905998" cy="815712"/>
          </a:xfrm>
        </p:spPr>
        <p:txBody>
          <a:bodyPr/>
          <a:lstStyle/>
          <a:p>
            <a:r>
              <a:rPr lang="es-ES" dirty="0"/>
              <a:t>Copia de un array</a:t>
            </a:r>
          </a:p>
        </p:txBody>
      </p:sp>
      <p:sp>
        <p:nvSpPr>
          <p:cNvPr id="5" name="Google Shape;171;p28">
            <a:extLst>
              <a:ext uri="{FF2B5EF4-FFF2-40B4-BE49-F238E27FC236}">
                <a16:creationId xmlns:a16="http://schemas.microsoft.com/office/drawing/2014/main" id="{DED5062D-CEEE-0C7C-91DA-45AA13E0BFCC}"/>
              </a:ext>
            </a:extLst>
          </p:cNvPr>
          <p:cNvSpPr txBox="1">
            <a:spLocks/>
          </p:cNvSpPr>
          <p:nvPr/>
        </p:nvSpPr>
        <p:spPr>
          <a:xfrm>
            <a:off x="607512" y="1277654"/>
            <a:ext cx="11480104" cy="4922729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spcFirstLastPara="1" vert="horz" wrap="square" lIns="91425" tIns="91425" rIns="91425" bIns="91425" rtlCol="0" anchor="t" anchorCtr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s-ES" sz="11200" dirty="0"/>
              <a:t>Si asignamos un array a otro, aunque se realiza la copia, los dos tendrán la misma referencia (Un cambio en cualquiera de ellos, se produce en los dos)</a:t>
            </a:r>
          </a:p>
          <a:p>
            <a:pPr marL="457200" indent="0">
              <a:lnSpc>
                <a:spcPct val="108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endParaRPr lang="es-ES" sz="56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s-ES" sz="12800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s-ES" sz="128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[] x = {"uno", "dos", "tres", "cuatro", "cinco"};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s-ES" sz="12800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s-ES" sz="128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[] y = x;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s-ES" sz="128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x[3]=”siete”;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s-ES" sz="12800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//y[3] contendrá “siete” igualmente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09331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AAD58BB2-E605-F597-6502-F0DBB3889CEA}"/>
              </a:ext>
            </a:extLst>
          </p:cNvPr>
          <p:cNvSpPr txBox="1"/>
          <p:nvPr/>
        </p:nvSpPr>
        <p:spPr>
          <a:xfrm>
            <a:off x="1018458" y="367409"/>
            <a:ext cx="9801942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s-ES" sz="2400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s-ES" sz="24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[] x = {"uno", "dos", "tres", "cuatro", "cinco"};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endParaRPr lang="es-ES" sz="2400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endParaRPr lang="es-ES" sz="2400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s-ES" sz="2400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s-ES" sz="24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[] y = x;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endParaRPr lang="es-ES" sz="2400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endParaRPr lang="es-ES" sz="2400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endParaRPr lang="es-ES" sz="2400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s-ES" sz="24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x[3]=”siete”;</a:t>
            </a:r>
            <a:endParaRPr lang="es-ES" sz="2400" dirty="0">
              <a:solidFill>
                <a:srgbClr val="000000"/>
              </a:solidFill>
              <a:highlight>
                <a:srgbClr val="FFFF00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s-ES" sz="2400" dirty="0">
                <a:solidFill>
                  <a:srgbClr val="000000"/>
                </a:solidFill>
                <a:highlight>
                  <a:srgbClr val="FFFF00"/>
                </a:highlight>
                <a:latin typeface="Courier New"/>
                <a:ea typeface="Courier New"/>
                <a:cs typeface="Courier New"/>
                <a:sym typeface="Courier New"/>
              </a:rPr>
              <a:t>//y[3] contendrá “siete” igualmente</a:t>
            </a:r>
          </a:p>
        </p:txBody>
      </p:sp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D7B32247-40B2-88F6-E473-B17D6BA813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3840245"/>
              </p:ext>
            </p:extLst>
          </p:nvPr>
        </p:nvGraphicFramePr>
        <p:xfrm>
          <a:off x="5409503" y="1220788"/>
          <a:ext cx="596811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3622">
                  <a:extLst>
                    <a:ext uri="{9D8B030D-6E8A-4147-A177-3AD203B41FA5}">
                      <a16:colId xmlns:a16="http://schemas.microsoft.com/office/drawing/2014/main" val="1578473711"/>
                    </a:ext>
                  </a:extLst>
                </a:gridCol>
                <a:gridCol w="1193622">
                  <a:extLst>
                    <a:ext uri="{9D8B030D-6E8A-4147-A177-3AD203B41FA5}">
                      <a16:colId xmlns:a16="http://schemas.microsoft.com/office/drawing/2014/main" val="630515931"/>
                    </a:ext>
                  </a:extLst>
                </a:gridCol>
                <a:gridCol w="1193622">
                  <a:extLst>
                    <a:ext uri="{9D8B030D-6E8A-4147-A177-3AD203B41FA5}">
                      <a16:colId xmlns:a16="http://schemas.microsoft.com/office/drawing/2014/main" val="4222220425"/>
                    </a:ext>
                  </a:extLst>
                </a:gridCol>
                <a:gridCol w="1193622">
                  <a:extLst>
                    <a:ext uri="{9D8B030D-6E8A-4147-A177-3AD203B41FA5}">
                      <a16:colId xmlns:a16="http://schemas.microsoft.com/office/drawing/2014/main" val="3076587048"/>
                    </a:ext>
                  </a:extLst>
                </a:gridCol>
                <a:gridCol w="1193622">
                  <a:extLst>
                    <a:ext uri="{9D8B030D-6E8A-4147-A177-3AD203B41FA5}">
                      <a16:colId xmlns:a16="http://schemas.microsoft.com/office/drawing/2014/main" val="26753071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46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uno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tres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Cuatro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cinco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2190174"/>
                  </a:ext>
                </a:extLst>
              </a:tr>
            </a:tbl>
          </a:graphicData>
        </a:graphic>
      </p:graphicFrame>
      <p:sp>
        <p:nvSpPr>
          <p:cNvPr id="7" name="Flecha: a la derecha 6">
            <a:extLst>
              <a:ext uri="{FF2B5EF4-FFF2-40B4-BE49-F238E27FC236}">
                <a16:creationId xmlns:a16="http://schemas.microsoft.com/office/drawing/2014/main" id="{A432624E-9CC6-23CE-7226-5BF8209EAEC9}"/>
              </a:ext>
            </a:extLst>
          </p:cNvPr>
          <p:cNvSpPr/>
          <p:nvPr/>
        </p:nvSpPr>
        <p:spPr>
          <a:xfrm>
            <a:off x="2810353" y="1369291"/>
            <a:ext cx="2292263" cy="4446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x</a:t>
            </a:r>
          </a:p>
        </p:txBody>
      </p:sp>
      <p:graphicFrame>
        <p:nvGraphicFramePr>
          <p:cNvPr id="10" name="Tabla 4">
            <a:extLst>
              <a:ext uri="{FF2B5EF4-FFF2-40B4-BE49-F238E27FC236}">
                <a16:creationId xmlns:a16="http://schemas.microsoft.com/office/drawing/2014/main" id="{808175C7-A550-D831-239E-85D85D000BA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51150620"/>
              </p:ext>
            </p:extLst>
          </p:nvPr>
        </p:nvGraphicFramePr>
        <p:xfrm>
          <a:off x="5205432" y="3005889"/>
          <a:ext cx="596811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3622">
                  <a:extLst>
                    <a:ext uri="{9D8B030D-6E8A-4147-A177-3AD203B41FA5}">
                      <a16:colId xmlns:a16="http://schemas.microsoft.com/office/drawing/2014/main" val="1578473711"/>
                    </a:ext>
                  </a:extLst>
                </a:gridCol>
                <a:gridCol w="1193622">
                  <a:extLst>
                    <a:ext uri="{9D8B030D-6E8A-4147-A177-3AD203B41FA5}">
                      <a16:colId xmlns:a16="http://schemas.microsoft.com/office/drawing/2014/main" val="630515931"/>
                    </a:ext>
                  </a:extLst>
                </a:gridCol>
                <a:gridCol w="1193622">
                  <a:extLst>
                    <a:ext uri="{9D8B030D-6E8A-4147-A177-3AD203B41FA5}">
                      <a16:colId xmlns:a16="http://schemas.microsoft.com/office/drawing/2014/main" val="4222220425"/>
                    </a:ext>
                  </a:extLst>
                </a:gridCol>
                <a:gridCol w="1193622">
                  <a:extLst>
                    <a:ext uri="{9D8B030D-6E8A-4147-A177-3AD203B41FA5}">
                      <a16:colId xmlns:a16="http://schemas.microsoft.com/office/drawing/2014/main" val="3076587048"/>
                    </a:ext>
                  </a:extLst>
                </a:gridCol>
                <a:gridCol w="1193622">
                  <a:extLst>
                    <a:ext uri="{9D8B030D-6E8A-4147-A177-3AD203B41FA5}">
                      <a16:colId xmlns:a16="http://schemas.microsoft.com/office/drawing/2014/main" val="26753071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46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uno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tres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Cuatro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cinco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2190174"/>
                  </a:ext>
                </a:extLst>
              </a:tr>
            </a:tbl>
          </a:graphicData>
        </a:graphic>
      </p:graphicFrame>
      <p:sp>
        <p:nvSpPr>
          <p:cNvPr id="11" name="Flecha: a la derecha 10">
            <a:extLst>
              <a:ext uri="{FF2B5EF4-FFF2-40B4-BE49-F238E27FC236}">
                <a16:creationId xmlns:a16="http://schemas.microsoft.com/office/drawing/2014/main" id="{C6519D61-3C36-A783-7879-ACF5CD6AAFB1}"/>
              </a:ext>
            </a:extLst>
          </p:cNvPr>
          <p:cNvSpPr/>
          <p:nvPr/>
        </p:nvSpPr>
        <p:spPr>
          <a:xfrm>
            <a:off x="2606282" y="2932055"/>
            <a:ext cx="2292263" cy="4446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x</a:t>
            </a:r>
          </a:p>
        </p:txBody>
      </p:sp>
      <p:sp>
        <p:nvSpPr>
          <p:cNvPr id="14" name="Flecha: a la derecha 13">
            <a:extLst>
              <a:ext uri="{FF2B5EF4-FFF2-40B4-BE49-F238E27FC236}">
                <a16:creationId xmlns:a16="http://schemas.microsoft.com/office/drawing/2014/main" id="{F64F435B-A9BF-A435-8E53-CD92ED3DEEB7}"/>
              </a:ext>
            </a:extLst>
          </p:cNvPr>
          <p:cNvSpPr/>
          <p:nvPr/>
        </p:nvSpPr>
        <p:spPr>
          <a:xfrm>
            <a:off x="2606281" y="3376729"/>
            <a:ext cx="2292263" cy="444674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y</a:t>
            </a:r>
          </a:p>
        </p:txBody>
      </p:sp>
      <p:graphicFrame>
        <p:nvGraphicFramePr>
          <p:cNvPr id="15" name="Tabla 4">
            <a:extLst>
              <a:ext uri="{FF2B5EF4-FFF2-40B4-BE49-F238E27FC236}">
                <a16:creationId xmlns:a16="http://schemas.microsoft.com/office/drawing/2014/main" id="{26ABF273-AAB3-7D55-E549-A80082DCD9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85031901"/>
              </p:ext>
            </p:extLst>
          </p:nvPr>
        </p:nvGraphicFramePr>
        <p:xfrm>
          <a:off x="4760932" y="5711046"/>
          <a:ext cx="596811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3622">
                  <a:extLst>
                    <a:ext uri="{9D8B030D-6E8A-4147-A177-3AD203B41FA5}">
                      <a16:colId xmlns:a16="http://schemas.microsoft.com/office/drawing/2014/main" val="1578473711"/>
                    </a:ext>
                  </a:extLst>
                </a:gridCol>
                <a:gridCol w="1193622">
                  <a:extLst>
                    <a:ext uri="{9D8B030D-6E8A-4147-A177-3AD203B41FA5}">
                      <a16:colId xmlns:a16="http://schemas.microsoft.com/office/drawing/2014/main" val="630515931"/>
                    </a:ext>
                  </a:extLst>
                </a:gridCol>
                <a:gridCol w="1193622">
                  <a:extLst>
                    <a:ext uri="{9D8B030D-6E8A-4147-A177-3AD203B41FA5}">
                      <a16:colId xmlns:a16="http://schemas.microsoft.com/office/drawing/2014/main" val="4222220425"/>
                    </a:ext>
                  </a:extLst>
                </a:gridCol>
                <a:gridCol w="1193622">
                  <a:extLst>
                    <a:ext uri="{9D8B030D-6E8A-4147-A177-3AD203B41FA5}">
                      <a16:colId xmlns:a16="http://schemas.microsoft.com/office/drawing/2014/main" val="3076587048"/>
                    </a:ext>
                  </a:extLst>
                </a:gridCol>
                <a:gridCol w="1193622">
                  <a:extLst>
                    <a:ext uri="{9D8B030D-6E8A-4147-A177-3AD203B41FA5}">
                      <a16:colId xmlns:a16="http://schemas.microsoft.com/office/drawing/2014/main" val="26753071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46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uno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tres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siete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cinco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2190174"/>
                  </a:ext>
                </a:extLst>
              </a:tr>
            </a:tbl>
          </a:graphicData>
        </a:graphic>
      </p:graphicFrame>
      <p:sp>
        <p:nvSpPr>
          <p:cNvPr id="16" name="Flecha: a la derecha 15">
            <a:extLst>
              <a:ext uri="{FF2B5EF4-FFF2-40B4-BE49-F238E27FC236}">
                <a16:creationId xmlns:a16="http://schemas.microsoft.com/office/drawing/2014/main" id="{467387F7-2844-74A8-DABD-00ABDA78FCFB}"/>
              </a:ext>
            </a:extLst>
          </p:cNvPr>
          <p:cNvSpPr/>
          <p:nvPr/>
        </p:nvSpPr>
        <p:spPr>
          <a:xfrm>
            <a:off x="2161782" y="5637212"/>
            <a:ext cx="2292263" cy="4446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x</a:t>
            </a:r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E5352A52-7989-0BFC-0D27-0428CFE87620}"/>
              </a:ext>
            </a:extLst>
          </p:cNvPr>
          <p:cNvSpPr/>
          <p:nvPr/>
        </p:nvSpPr>
        <p:spPr>
          <a:xfrm>
            <a:off x="2161781" y="6081886"/>
            <a:ext cx="2292263" cy="444674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39218932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7FCB5D-A3BF-5373-C597-4EE57B2A9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562582"/>
          </a:xfrm>
        </p:spPr>
        <p:txBody>
          <a:bodyPr>
            <a:normAutofit fontScale="90000"/>
          </a:bodyPr>
          <a:lstStyle/>
          <a:p>
            <a:r>
              <a:rPr lang="es-ES" dirty="0"/>
              <a:t>Copia de un array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E6CB4E0-AD97-1E30-1666-9F5EDBD70B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181100"/>
            <a:ext cx="9905999" cy="461010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s-ES" sz="3200" dirty="0"/>
              <a:t>Para copiar de verdad un array, tengo que crear otro del mismo tamaño y luego copiar compartimiento por compartimiento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br>
              <a:rPr lang="es-ES" dirty="0"/>
            </a:br>
            <a:r>
              <a:rPr lang="es-ES" sz="2400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s-ES" sz="24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[] x = {"uno", "dos", "tres", "cuatro", "cinco"};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s-ES" sz="2400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s-ES" sz="24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[] y = new </a:t>
            </a:r>
            <a:r>
              <a:rPr lang="es-ES" sz="2400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s-ES" sz="24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[5];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s-ES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es-ES" sz="2400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or</a:t>
            </a:r>
            <a:r>
              <a:rPr lang="es-ES" sz="24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ES" sz="2400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s-ES" sz="24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i=0</a:t>
            </a:r>
            <a:r>
              <a:rPr lang="es-ES" sz="24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;i&lt;</a:t>
            </a:r>
            <a:r>
              <a:rPr lang="es-ES" sz="2400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x.length;i</a:t>
            </a:r>
            <a:r>
              <a:rPr lang="es-ES" sz="24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++){y[i]=x[i];}</a:t>
            </a:r>
          </a:p>
          <a:p>
            <a:pPr marL="0" indent="0">
              <a:buNone/>
            </a:pPr>
            <a:r>
              <a:rPr lang="es-ES" dirty="0"/>
              <a:t>// cuidado: ahora si cambio un valor en x, no se modificará en y</a:t>
            </a:r>
          </a:p>
        </p:txBody>
      </p:sp>
    </p:spTree>
    <p:extLst>
      <p:ext uri="{BB962C8B-B14F-4D97-AF65-F5344CB8AC3E}">
        <p14:creationId xmlns:p14="http://schemas.microsoft.com/office/powerpoint/2010/main" val="35220282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AAD58BB2-E605-F597-6502-F0DBB3889CEA}"/>
              </a:ext>
            </a:extLst>
          </p:cNvPr>
          <p:cNvSpPr txBox="1"/>
          <p:nvPr/>
        </p:nvSpPr>
        <p:spPr>
          <a:xfrm>
            <a:off x="1018458" y="0"/>
            <a:ext cx="9801942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s-ES" sz="2400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s-ES" sz="24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[] x = {"uno", "dos", "tres", "cuatro", "cinco"};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endParaRPr lang="es-ES" sz="2400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endParaRPr lang="es-ES" sz="2400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s-ES" sz="2400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s-ES" sz="24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[] y = new </a:t>
            </a:r>
            <a:r>
              <a:rPr lang="es-ES" sz="2400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String</a:t>
            </a:r>
            <a:r>
              <a:rPr lang="es-ES" sz="24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[5];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endParaRPr lang="es-ES" sz="2400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endParaRPr lang="es-ES" sz="2400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endParaRPr lang="es-ES" sz="2400"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indent="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s-ES" sz="3200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es-ES" sz="2400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or</a:t>
            </a:r>
            <a:r>
              <a:rPr lang="es-ES" sz="24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s-ES" sz="2400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s-ES" sz="24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i=0;i&lt;</a:t>
            </a:r>
            <a:r>
              <a:rPr lang="es-ES" sz="2400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x.length;i</a:t>
            </a:r>
            <a:r>
              <a:rPr lang="es-ES" sz="24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++){y[i]=x[i];}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</a:pPr>
            <a:r>
              <a:rPr lang="es-ES" sz="2400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X[3]=“siete”;</a:t>
            </a:r>
          </a:p>
        </p:txBody>
      </p:sp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D7B32247-40B2-88F6-E473-B17D6BA813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3017920"/>
              </p:ext>
            </p:extLst>
          </p:nvPr>
        </p:nvGraphicFramePr>
        <p:xfrm>
          <a:off x="5377753" y="781116"/>
          <a:ext cx="596811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3622">
                  <a:extLst>
                    <a:ext uri="{9D8B030D-6E8A-4147-A177-3AD203B41FA5}">
                      <a16:colId xmlns:a16="http://schemas.microsoft.com/office/drawing/2014/main" val="1578473711"/>
                    </a:ext>
                  </a:extLst>
                </a:gridCol>
                <a:gridCol w="1193622">
                  <a:extLst>
                    <a:ext uri="{9D8B030D-6E8A-4147-A177-3AD203B41FA5}">
                      <a16:colId xmlns:a16="http://schemas.microsoft.com/office/drawing/2014/main" val="630515931"/>
                    </a:ext>
                  </a:extLst>
                </a:gridCol>
                <a:gridCol w="1193622">
                  <a:extLst>
                    <a:ext uri="{9D8B030D-6E8A-4147-A177-3AD203B41FA5}">
                      <a16:colId xmlns:a16="http://schemas.microsoft.com/office/drawing/2014/main" val="4222220425"/>
                    </a:ext>
                  </a:extLst>
                </a:gridCol>
                <a:gridCol w="1193622">
                  <a:extLst>
                    <a:ext uri="{9D8B030D-6E8A-4147-A177-3AD203B41FA5}">
                      <a16:colId xmlns:a16="http://schemas.microsoft.com/office/drawing/2014/main" val="3076587048"/>
                    </a:ext>
                  </a:extLst>
                </a:gridCol>
                <a:gridCol w="1193622">
                  <a:extLst>
                    <a:ext uri="{9D8B030D-6E8A-4147-A177-3AD203B41FA5}">
                      <a16:colId xmlns:a16="http://schemas.microsoft.com/office/drawing/2014/main" val="26753071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46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uno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tres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Cuatro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cinco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2190174"/>
                  </a:ext>
                </a:extLst>
              </a:tr>
            </a:tbl>
          </a:graphicData>
        </a:graphic>
      </p:graphicFrame>
      <p:sp>
        <p:nvSpPr>
          <p:cNvPr id="7" name="Flecha: a la derecha 6">
            <a:extLst>
              <a:ext uri="{FF2B5EF4-FFF2-40B4-BE49-F238E27FC236}">
                <a16:creationId xmlns:a16="http://schemas.microsoft.com/office/drawing/2014/main" id="{A432624E-9CC6-23CE-7226-5BF8209EAEC9}"/>
              </a:ext>
            </a:extLst>
          </p:cNvPr>
          <p:cNvSpPr/>
          <p:nvPr/>
        </p:nvSpPr>
        <p:spPr>
          <a:xfrm>
            <a:off x="2842103" y="929619"/>
            <a:ext cx="2292263" cy="4446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x</a:t>
            </a:r>
          </a:p>
        </p:txBody>
      </p:sp>
      <p:graphicFrame>
        <p:nvGraphicFramePr>
          <p:cNvPr id="10" name="Tabla 4">
            <a:extLst>
              <a:ext uri="{FF2B5EF4-FFF2-40B4-BE49-F238E27FC236}">
                <a16:creationId xmlns:a16="http://schemas.microsoft.com/office/drawing/2014/main" id="{808175C7-A550-D831-239E-85D85D000BA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96452963"/>
              </p:ext>
            </p:extLst>
          </p:nvPr>
        </p:nvGraphicFramePr>
        <p:xfrm>
          <a:off x="5205432" y="2509251"/>
          <a:ext cx="596811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3622">
                  <a:extLst>
                    <a:ext uri="{9D8B030D-6E8A-4147-A177-3AD203B41FA5}">
                      <a16:colId xmlns:a16="http://schemas.microsoft.com/office/drawing/2014/main" val="1578473711"/>
                    </a:ext>
                  </a:extLst>
                </a:gridCol>
                <a:gridCol w="1193622">
                  <a:extLst>
                    <a:ext uri="{9D8B030D-6E8A-4147-A177-3AD203B41FA5}">
                      <a16:colId xmlns:a16="http://schemas.microsoft.com/office/drawing/2014/main" val="630515931"/>
                    </a:ext>
                  </a:extLst>
                </a:gridCol>
                <a:gridCol w="1193622">
                  <a:extLst>
                    <a:ext uri="{9D8B030D-6E8A-4147-A177-3AD203B41FA5}">
                      <a16:colId xmlns:a16="http://schemas.microsoft.com/office/drawing/2014/main" val="4222220425"/>
                    </a:ext>
                  </a:extLst>
                </a:gridCol>
                <a:gridCol w="1193622">
                  <a:extLst>
                    <a:ext uri="{9D8B030D-6E8A-4147-A177-3AD203B41FA5}">
                      <a16:colId xmlns:a16="http://schemas.microsoft.com/office/drawing/2014/main" val="3076587048"/>
                    </a:ext>
                  </a:extLst>
                </a:gridCol>
                <a:gridCol w="1193622">
                  <a:extLst>
                    <a:ext uri="{9D8B030D-6E8A-4147-A177-3AD203B41FA5}">
                      <a16:colId xmlns:a16="http://schemas.microsoft.com/office/drawing/2014/main" val="26753071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46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uno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tres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Cuatro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cinco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2190174"/>
                  </a:ext>
                </a:extLst>
              </a:tr>
            </a:tbl>
          </a:graphicData>
        </a:graphic>
      </p:graphicFrame>
      <p:sp>
        <p:nvSpPr>
          <p:cNvPr id="11" name="Flecha: a la derecha 10">
            <a:extLst>
              <a:ext uri="{FF2B5EF4-FFF2-40B4-BE49-F238E27FC236}">
                <a16:creationId xmlns:a16="http://schemas.microsoft.com/office/drawing/2014/main" id="{C6519D61-3C36-A783-7879-ACF5CD6AAFB1}"/>
              </a:ext>
            </a:extLst>
          </p:cNvPr>
          <p:cNvSpPr/>
          <p:nvPr/>
        </p:nvSpPr>
        <p:spPr>
          <a:xfrm>
            <a:off x="2606282" y="2625459"/>
            <a:ext cx="2292263" cy="4446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x</a:t>
            </a:r>
          </a:p>
        </p:txBody>
      </p:sp>
      <p:sp>
        <p:nvSpPr>
          <p:cNvPr id="14" name="Flecha: a la derecha 13">
            <a:extLst>
              <a:ext uri="{FF2B5EF4-FFF2-40B4-BE49-F238E27FC236}">
                <a16:creationId xmlns:a16="http://schemas.microsoft.com/office/drawing/2014/main" id="{F64F435B-A9BF-A435-8E53-CD92ED3DEEB7}"/>
              </a:ext>
            </a:extLst>
          </p:cNvPr>
          <p:cNvSpPr/>
          <p:nvPr/>
        </p:nvSpPr>
        <p:spPr>
          <a:xfrm>
            <a:off x="2606281" y="3629178"/>
            <a:ext cx="2292263" cy="444674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y</a:t>
            </a:r>
          </a:p>
        </p:txBody>
      </p:sp>
      <p:graphicFrame>
        <p:nvGraphicFramePr>
          <p:cNvPr id="15" name="Tabla 4">
            <a:extLst>
              <a:ext uri="{FF2B5EF4-FFF2-40B4-BE49-F238E27FC236}">
                <a16:creationId xmlns:a16="http://schemas.microsoft.com/office/drawing/2014/main" id="{26ABF273-AAB3-7D55-E549-A80082DCD9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10206937"/>
              </p:ext>
            </p:extLst>
          </p:nvPr>
        </p:nvGraphicFramePr>
        <p:xfrm>
          <a:off x="4753902" y="5292850"/>
          <a:ext cx="596811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3622">
                  <a:extLst>
                    <a:ext uri="{9D8B030D-6E8A-4147-A177-3AD203B41FA5}">
                      <a16:colId xmlns:a16="http://schemas.microsoft.com/office/drawing/2014/main" val="1578473711"/>
                    </a:ext>
                  </a:extLst>
                </a:gridCol>
                <a:gridCol w="1193622">
                  <a:extLst>
                    <a:ext uri="{9D8B030D-6E8A-4147-A177-3AD203B41FA5}">
                      <a16:colId xmlns:a16="http://schemas.microsoft.com/office/drawing/2014/main" val="630515931"/>
                    </a:ext>
                  </a:extLst>
                </a:gridCol>
                <a:gridCol w="1193622">
                  <a:extLst>
                    <a:ext uri="{9D8B030D-6E8A-4147-A177-3AD203B41FA5}">
                      <a16:colId xmlns:a16="http://schemas.microsoft.com/office/drawing/2014/main" val="4222220425"/>
                    </a:ext>
                  </a:extLst>
                </a:gridCol>
                <a:gridCol w="1193622">
                  <a:extLst>
                    <a:ext uri="{9D8B030D-6E8A-4147-A177-3AD203B41FA5}">
                      <a16:colId xmlns:a16="http://schemas.microsoft.com/office/drawing/2014/main" val="3076587048"/>
                    </a:ext>
                  </a:extLst>
                </a:gridCol>
                <a:gridCol w="1193622">
                  <a:extLst>
                    <a:ext uri="{9D8B030D-6E8A-4147-A177-3AD203B41FA5}">
                      <a16:colId xmlns:a16="http://schemas.microsoft.com/office/drawing/2014/main" val="26753071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46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uno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tres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siete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cinco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2190174"/>
                  </a:ext>
                </a:extLst>
              </a:tr>
            </a:tbl>
          </a:graphicData>
        </a:graphic>
      </p:graphicFrame>
      <p:sp>
        <p:nvSpPr>
          <p:cNvPr id="16" name="Flecha: a la derecha 15">
            <a:extLst>
              <a:ext uri="{FF2B5EF4-FFF2-40B4-BE49-F238E27FC236}">
                <a16:creationId xmlns:a16="http://schemas.microsoft.com/office/drawing/2014/main" id="{467387F7-2844-74A8-DABD-00ABDA78FCFB}"/>
              </a:ext>
            </a:extLst>
          </p:cNvPr>
          <p:cNvSpPr/>
          <p:nvPr/>
        </p:nvSpPr>
        <p:spPr>
          <a:xfrm>
            <a:off x="2276082" y="5395694"/>
            <a:ext cx="2292263" cy="44467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x</a:t>
            </a:r>
          </a:p>
        </p:txBody>
      </p:sp>
      <p:sp>
        <p:nvSpPr>
          <p:cNvPr id="17" name="Flecha: a la derecha 16">
            <a:extLst>
              <a:ext uri="{FF2B5EF4-FFF2-40B4-BE49-F238E27FC236}">
                <a16:creationId xmlns:a16="http://schemas.microsoft.com/office/drawing/2014/main" id="{E5352A52-7989-0BFC-0D27-0428CFE87620}"/>
              </a:ext>
            </a:extLst>
          </p:cNvPr>
          <p:cNvSpPr/>
          <p:nvPr/>
        </p:nvSpPr>
        <p:spPr>
          <a:xfrm>
            <a:off x="2168131" y="6268254"/>
            <a:ext cx="2292263" cy="444674"/>
          </a:xfrm>
          <a:prstGeom prst="rightArrow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y</a:t>
            </a:r>
          </a:p>
        </p:txBody>
      </p:sp>
      <p:graphicFrame>
        <p:nvGraphicFramePr>
          <p:cNvPr id="2" name="Tabla 4">
            <a:extLst>
              <a:ext uri="{FF2B5EF4-FFF2-40B4-BE49-F238E27FC236}">
                <a16:creationId xmlns:a16="http://schemas.microsoft.com/office/drawing/2014/main" id="{90119EDE-CC9F-0F50-B84E-AFDCF1493B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50155099"/>
              </p:ext>
            </p:extLst>
          </p:nvPr>
        </p:nvGraphicFramePr>
        <p:xfrm>
          <a:off x="5180032" y="3480675"/>
          <a:ext cx="596811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193622">
                  <a:extLst>
                    <a:ext uri="{9D8B030D-6E8A-4147-A177-3AD203B41FA5}">
                      <a16:colId xmlns:a16="http://schemas.microsoft.com/office/drawing/2014/main" val="1578473711"/>
                    </a:ext>
                  </a:extLst>
                </a:gridCol>
                <a:gridCol w="1193622">
                  <a:extLst>
                    <a:ext uri="{9D8B030D-6E8A-4147-A177-3AD203B41FA5}">
                      <a16:colId xmlns:a16="http://schemas.microsoft.com/office/drawing/2014/main" val="630515931"/>
                    </a:ext>
                  </a:extLst>
                </a:gridCol>
                <a:gridCol w="1193622">
                  <a:extLst>
                    <a:ext uri="{9D8B030D-6E8A-4147-A177-3AD203B41FA5}">
                      <a16:colId xmlns:a16="http://schemas.microsoft.com/office/drawing/2014/main" val="4222220425"/>
                    </a:ext>
                  </a:extLst>
                </a:gridCol>
                <a:gridCol w="1193622">
                  <a:extLst>
                    <a:ext uri="{9D8B030D-6E8A-4147-A177-3AD203B41FA5}">
                      <a16:colId xmlns:a16="http://schemas.microsoft.com/office/drawing/2014/main" val="3076587048"/>
                    </a:ext>
                  </a:extLst>
                </a:gridCol>
                <a:gridCol w="1193622">
                  <a:extLst>
                    <a:ext uri="{9D8B030D-6E8A-4147-A177-3AD203B41FA5}">
                      <a16:colId xmlns:a16="http://schemas.microsoft.com/office/drawing/2014/main" val="26753071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46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2190174"/>
                  </a:ext>
                </a:extLst>
              </a:tr>
            </a:tbl>
          </a:graphicData>
        </a:graphic>
      </p:graphicFrame>
      <p:graphicFrame>
        <p:nvGraphicFramePr>
          <p:cNvPr id="3" name="Tabla 4">
            <a:extLst>
              <a:ext uri="{FF2B5EF4-FFF2-40B4-BE49-F238E27FC236}">
                <a16:creationId xmlns:a16="http://schemas.microsoft.com/office/drawing/2014/main" id="{35767ECB-192B-F096-80B1-5ACC539B570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47820913"/>
              </p:ext>
            </p:extLst>
          </p:nvPr>
        </p:nvGraphicFramePr>
        <p:xfrm>
          <a:off x="4753902" y="6074232"/>
          <a:ext cx="5968110" cy="74168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193622">
                  <a:extLst>
                    <a:ext uri="{9D8B030D-6E8A-4147-A177-3AD203B41FA5}">
                      <a16:colId xmlns:a16="http://schemas.microsoft.com/office/drawing/2014/main" val="1578473711"/>
                    </a:ext>
                  </a:extLst>
                </a:gridCol>
                <a:gridCol w="1193622">
                  <a:extLst>
                    <a:ext uri="{9D8B030D-6E8A-4147-A177-3AD203B41FA5}">
                      <a16:colId xmlns:a16="http://schemas.microsoft.com/office/drawing/2014/main" val="630515931"/>
                    </a:ext>
                  </a:extLst>
                </a:gridCol>
                <a:gridCol w="1193622">
                  <a:extLst>
                    <a:ext uri="{9D8B030D-6E8A-4147-A177-3AD203B41FA5}">
                      <a16:colId xmlns:a16="http://schemas.microsoft.com/office/drawing/2014/main" val="4222220425"/>
                    </a:ext>
                  </a:extLst>
                </a:gridCol>
                <a:gridCol w="1193622">
                  <a:extLst>
                    <a:ext uri="{9D8B030D-6E8A-4147-A177-3AD203B41FA5}">
                      <a16:colId xmlns:a16="http://schemas.microsoft.com/office/drawing/2014/main" val="3076587048"/>
                    </a:ext>
                  </a:extLst>
                </a:gridCol>
                <a:gridCol w="1193622">
                  <a:extLst>
                    <a:ext uri="{9D8B030D-6E8A-4147-A177-3AD203B41FA5}">
                      <a16:colId xmlns:a16="http://schemas.microsoft.com/office/drawing/2014/main" val="26753071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46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uno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tres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Cuatro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cinco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21901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43922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946D77-BBD7-AE55-9741-30353CAAD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6313" y="0"/>
            <a:ext cx="9905998" cy="647700"/>
          </a:xfrm>
        </p:spPr>
        <p:txBody>
          <a:bodyPr/>
          <a:lstStyle/>
          <a:p>
            <a:r>
              <a:rPr lang="es-ES" dirty="0" err="1"/>
              <a:t>Arrays</a:t>
            </a:r>
            <a:r>
              <a:rPr lang="es-ES" dirty="0"/>
              <a:t> multidimensionales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1B5C50F-117F-BFE3-01DE-148A97CB7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450" y="647700"/>
            <a:ext cx="11010900" cy="6108700"/>
          </a:xfrm>
        </p:spPr>
        <p:txBody>
          <a:bodyPr>
            <a:normAutofit fontScale="92500" lnSpcReduction="20000"/>
          </a:bodyPr>
          <a:lstStyle/>
          <a:p>
            <a:pPr marL="457200" lvl="0" indent="-3683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es" sz="3000" dirty="0"/>
              <a:t>Se puede trabajar con arrays de más de una dimensión, al estilo de las matrices matemáticas.</a:t>
            </a:r>
          </a:p>
          <a:p>
            <a:pPr marL="457200" lvl="0" indent="-3683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es" sz="3000" b="1" dirty="0"/>
              <a:t>Declaración:</a:t>
            </a:r>
          </a:p>
          <a:p>
            <a:pPr marL="914400" lvl="1" indent="-368300" rtl="0">
              <a:spcBef>
                <a:spcPts val="0"/>
              </a:spcBef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s" sz="3000" dirty="0"/>
              <a:t>int[][] m1 (matriz bidimensional de enteros)</a:t>
            </a:r>
          </a:p>
          <a:p>
            <a:pPr marL="914400" lvl="1" indent="-368300" rtl="0">
              <a:spcBef>
                <a:spcPts val="0"/>
              </a:spcBef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s" sz="3000" dirty="0"/>
              <a:t>int[][][] m2 (matriz tridimensional de enteros).</a:t>
            </a:r>
          </a:p>
          <a:p>
            <a:pPr marL="914400" lvl="1" indent="-368300" rtl="0">
              <a:spcBef>
                <a:spcPts val="0"/>
              </a:spcBef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s" sz="3000" dirty="0"/>
              <a:t>String[][]....[]  m3 (matriz n-dimensional de String)</a:t>
            </a:r>
          </a:p>
          <a:p>
            <a:pPr marL="457200" lvl="0" indent="-3683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es" sz="3000" b="1" dirty="0"/>
              <a:t>Inicialización</a:t>
            </a:r>
          </a:p>
          <a:p>
            <a:pPr marL="914400" lvl="1" indent="-368300" rtl="0">
              <a:spcBef>
                <a:spcPts val="0"/>
              </a:spcBef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s" sz="3000" dirty="0"/>
              <a:t>m1=new int[4][2]; m2=new int[6][5][3];m3=new String[4][3].....[3];</a:t>
            </a:r>
          </a:p>
          <a:p>
            <a:pPr marL="457200" lvl="0" indent="-3683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es" sz="3000" b="1" dirty="0"/>
              <a:t>Asignación</a:t>
            </a:r>
          </a:p>
          <a:p>
            <a:pPr marL="914400" lvl="1" indent="-368300" rtl="0">
              <a:spcBef>
                <a:spcPts val="0"/>
              </a:spcBef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s" sz="3000" dirty="0"/>
              <a:t>m1[0][1]=100;m2[1][0][3]=200;m3[1][2]....[2]="Hola";</a:t>
            </a:r>
          </a:p>
          <a:p>
            <a:pPr marL="457200" lvl="0" indent="-3683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es" sz="3000" b="1" dirty="0"/>
              <a:t>Todo en uno</a:t>
            </a:r>
          </a:p>
          <a:p>
            <a:pPr marL="914400" lvl="1" indent="-368300" rtl="0">
              <a:spcBef>
                <a:spcPts val="0"/>
              </a:spcBef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s" sz="3000" dirty="0"/>
              <a:t>m4 = { {1,2}, {-1,-2,-3}, {100} }</a:t>
            </a:r>
          </a:p>
          <a:p>
            <a:pPr marL="457200" lvl="0" indent="-368300" rtl="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es" sz="3000" b="1" dirty="0"/>
              <a:t>Longitud de cada dimensión.</a:t>
            </a:r>
          </a:p>
          <a:p>
            <a:pPr marL="914400" lvl="1" indent="-368300">
              <a:spcBef>
                <a:spcPts val="0"/>
              </a:spcBef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s" sz="3000" dirty="0"/>
              <a:t>m1.length; /*4*/;m2[0].length /*5*/;m2[0][0].length /*3*/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960566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28;p36">
            <a:extLst>
              <a:ext uri="{FF2B5EF4-FFF2-40B4-BE49-F238E27FC236}">
                <a16:creationId xmlns:a16="http://schemas.microsoft.com/office/drawing/2014/main" id="{977D27A2-7D43-4DCF-E1C9-FD1F5E92566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058863" y="293688"/>
            <a:ext cx="9906000" cy="6375048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s" sz="1100" dirty="0"/>
              <a:t> </a:t>
            </a:r>
            <a:r>
              <a:rPr lang="es" dirty="0"/>
              <a:t>Una matriz bidimensional puede tener varias filas, y en cada fila no tiene por qué haber el mismo número de elementos o columnas. Por ejemplo, podemos declarar e inicializar la siguiente matriz bidimensional</a:t>
            </a:r>
            <a:endParaRPr dirty="0"/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s" sz="1800" dirty="0">
                <a:latin typeface="Courier New"/>
                <a:ea typeface="Courier New"/>
                <a:cs typeface="Courier New"/>
                <a:sym typeface="Courier New"/>
              </a:rPr>
              <a:t>double[][] matriz={{1,2,3,4},{5,6},{7,8,9,10,11,12},{13}};</a:t>
            </a:r>
            <a:r>
              <a:rPr lang="es" dirty="0"/>
              <a:t>	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br>
              <a:rPr lang="es" dirty="0"/>
            </a:br>
            <a:r>
              <a:rPr lang="es" dirty="0"/>
              <a:t> 	La primera fila tiene cuatro elementos {1,2,3,4}</a:t>
            </a:r>
            <a:br>
              <a:rPr lang="es" dirty="0"/>
            </a:br>
            <a:r>
              <a:rPr lang="es" dirty="0"/>
              <a:t> 	La segunda fila tiene dos elementos {5,6}</a:t>
            </a:r>
            <a:br>
              <a:rPr lang="es" dirty="0"/>
            </a:br>
            <a:r>
              <a:rPr lang="es" dirty="0"/>
              <a:t> 	La tercera fila tiene seis elementos {7,8,9,10,11,12}</a:t>
            </a:r>
            <a:br>
              <a:rPr lang="es" dirty="0"/>
            </a:br>
            <a:r>
              <a:rPr lang="es" dirty="0"/>
              <a:t> 	La cuarta fila tiene un elemento {13}</a:t>
            </a:r>
            <a:endParaRPr dirty="0"/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r>
              <a:rPr lang="es" dirty="0"/>
              <a:t>matriz.length nos proporciona el número de filas (cuatro), y matriz[i].length, nos proporciona el número de elementos en cada fila.</a:t>
            </a:r>
            <a:endParaRPr dirty="0"/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None/>
            </a:pPr>
            <a:endParaRPr dirty="0"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0945507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227;p36">
            <a:extLst>
              <a:ext uri="{FF2B5EF4-FFF2-40B4-BE49-F238E27FC236}">
                <a16:creationId xmlns:a16="http://schemas.microsoft.com/office/drawing/2014/main" id="{ABEB6012-A25E-ADD3-BBB6-BABD3FDF19FE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138529" y="0"/>
            <a:ext cx="5887872" cy="6953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306203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234;p37">
            <a:extLst>
              <a:ext uri="{FF2B5EF4-FFF2-40B4-BE49-F238E27FC236}">
                <a16:creationId xmlns:a16="http://schemas.microsoft.com/office/drawing/2014/main" id="{85A395EE-2767-8BFD-F718-A9741B052CAA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081900" y="323850"/>
            <a:ext cx="7538350" cy="65341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712943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Circuito</Template>
  <TotalTime>1743</TotalTime>
  <Words>990</Words>
  <Application>Microsoft Office PowerPoint</Application>
  <PresentationFormat>Panorámica</PresentationFormat>
  <Paragraphs>171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8" baseType="lpstr">
      <vt:lpstr>Arial</vt:lpstr>
      <vt:lpstr>Calibri</vt:lpstr>
      <vt:lpstr>Calibri Light</vt:lpstr>
      <vt:lpstr>Consolas</vt:lpstr>
      <vt:lpstr>Courier New</vt:lpstr>
      <vt:lpstr>Roboto</vt:lpstr>
      <vt:lpstr>Source Sans Pro</vt:lpstr>
      <vt:lpstr>Wingdings</vt:lpstr>
      <vt:lpstr>Wingdings 3</vt:lpstr>
      <vt:lpstr>Circuito</vt:lpstr>
      <vt:lpstr>Arrays</vt:lpstr>
      <vt:lpstr>Definición de Array</vt:lpstr>
      <vt:lpstr>Arrays en java</vt:lpstr>
      <vt:lpstr>Variables índice</vt:lpstr>
      <vt:lpstr>Ejemplo</vt:lpstr>
      <vt:lpstr>Array index out of bounds</vt:lpstr>
      <vt:lpstr>length</vt:lpstr>
      <vt:lpstr>Recorrer un Array</vt:lpstr>
      <vt:lpstr>Recorrer un array: estructura foreach</vt:lpstr>
      <vt:lpstr>Escribir el contenido de un array</vt:lpstr>
      <vt:lpstr>Copia de un array</vt:lpstr>
      <vt:lpstr>Presentación de PowerPoint</vt:lpstr>
      <vt:lpstr>Copia de un array</vt:lpstr>
      <vt:lpstr>Presentación de PowerPoint</vt:lpstr>
      <vt:lpstr>Arrays multidimensionales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la programación</dc:title>
  <dc:creator>SChiesa</dc:creator>
  <cp:lastModifiedBy>Admin</cp:lastModifiedBy>
  <cp:revision>33</cp:revision>
  <dcterms:created xsi:type="dcterms:W3CDTF">2022-09-10T09:06:03Z</dcterms:created>
  <dcterms:modified xsi:type="dcterms:W3CDTF">2022-10-14T10:37:29Z</dcterms:modified>
</cp:coreProperties>
</file>